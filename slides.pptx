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Business Perspective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Business Perspective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Guiding Umrah Travelers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Finding the Right Hotel at the Right Time</a:t>
            </a:r>
          </a:p>
          <a:p>
            <a:pPr lvl="0" indent="0" marL="0">
              <a:buNone/>
            </a:pPr>
            <a:r>
              <a:rPr/>
              <a:t> The Mission</a:t>
            </a:r>
          </a:p>
          <a:p>
            <a:pPr lvl="0" indent="0" marL="0">
              <a:buNone/>
            </a:pPr>
            <a:r>
              <a:rPr/>
              <a:t>We act as a specialized travel agency for Muslim travelers, focusing on the spiritual journey of Umrah to Makkah. Our goal is to simplify the complex accommodation landscape.</a:t>
            </a:r>
          </a:p>
          <a:p>
            <a:pPr lvl="0" indent="0" marL="0">
              <a:buNone/>
            </a:pPr>
            <a:r>
              <a:rPr/>
              <a:t> The Strategy</a:t>
            </a:r>
          </a:p>
          <a:p>
            <a:pPr lvl="0" indent="0" marL="0">
              <a:buNone/>
            </a:pPr>
            <a:r>
              <a:rPr/>
              <a:t>We move beyond static "today's price" offers. By providing visibility on price trends and availability across different time windows, we empower travelers to choose the optimal travel dates.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Price &amp; Availability Visibility</a:t>
            </a:r>
          </a:p>
          <a:p>
            <a:pPr lvl="0" indent="0" marL="0">
              <a:buNone/>
            </a:pPr>
            <a:r>
              <a:rPr/>
              <a:t>Smart Window Selection</a:t>
            </a:r>
          </a:p>
          <a:p>
            <a:pPr lvl="0" indent="0" marL="0">
              <a:buNone/>
            </a:pPr>
            <a:r>
              <a:rPr/>
              <a:t>Umrah Hotel Booking Data Pipeline • Slide 1</a:t>
            </a:r>
          </a:p>
          <a:p>
            <a:pPr lvl="0" indent="0" marL="0">
              <a:buNone/>
            </a:pPr>
            <a:r>
              <a:rPr/>
              <a:t>The Challenge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Volatile Prices &amp; Planning Gaps</a:t>
            </a:r>
          </a:p>
          <a:p>
            <a:pPr lvl="0" indent="0" marL="0">
              <a:buNone/>
            </a:pPr>
            <a:r>
              <a:rPr/>
              <a:t>Makkah's hospitality market is unpredictable, creating a lose-lose situation for uninformed travelers and agencies.</a:t>
            </a:r>
          </a:p>
          <a:p>
            <a:pPr lvl="0" indent="0" marL="0">
              <a:buNone/>
            </a:pPr>
            <a:r>
              <a:rPr/>
              <a:t>Price Variance: +200%</a:t>
            </a:r>
          </a:p>
          <a:p>
            <a:pPr lvl="0" indent="0" marL="0">
              <a:buNone/>
            </a:pP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Extreme Price Fluctuations</a:t>
            </a:r>
          </a:p>
          <a:p>
            <a:pPr lvl="0" indent="0" marL="0">
              <a:buNone/>
            </a:pPr>
            <a:r>
              <a:rPr/>
              <a:t>Hotel prices in Makkah change drastically every day based on Islamic calendar events and demand. What costs $100 today might cost $500 next week.</a:t>
            </a:r>
          </a:p>
          <a:p>
            <a:pPr lvl="0" indent="0" marL="0">
              <a:buNone/>
            </a:pP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Customer Planning Struggles</a:t>
            </a:r>
          </a:p>
          <a:p>
            <a:pPr lvl="0" indent="0" marL="0">
              <a:buNone/>
            </a:pPr>
            <a:r>
              <a:rPr/>
              <a:t>Without visibility, travelers either miss the best booking windows or end up overpaying significantly. Advance planning becomes a gamble rather than a strategy.</a:t>
            </a:r>
          </a:p>
          <a:p>
            <a:pPr lvl="0" indent="0" marL="0">
              <a:buNone/>
            </a:pP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Agency Profitability Risk</a:t>
            </a:r>
          </a:p>
          <a:p>
            <a:pPr lvl="0" indent="0" marL="0">
              <a:buNone/>
            </a:pPr>
            <a:r>
              <a:rPr/>
              <a:t>As a travel agency, blind spots in data mean we fail to optimize package pricing. We risk lower margins or unsold inventory by not anticipating market shifts.</a:t>
            </a:r>
          </a:p>
          <a:p>
            <a:pPr lvl="0" indent="0" marL="0">
              <a:buNone/>
            </a:pPr>
            <a:r>
              <a:rPr/>
              <a:t>Umrah Hotel Booking Data Pipeline • Slide 2</a:t>
            </a:r>
          </a:p>
          <a:p>
            <a:pPr lvl="0" indent="0" marL="0">
              <a:buNone/>
            </a:pPr>
            <a:r>
              <a:rPr/>
              <a:t>Technical Approach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Daily Data Pipeline &amp; Decision Dashboard</a:t>
            </a:r>
          </a:p>
          <a:p>
            <a:pPr lvl="0" indent="0" marL="0">
              <a:buNone/>
            </a:pPr>
            <a:r>
              <a:rPr/>
              <a:t>01</a:t>
            </a:r>
          </a:p>
          <a:p>
            <a:pPr lvl="0" indent="0" marL="0">
              <a:buNone/>
            </a:pP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Fetch &amp; Ingest</a:t>
            </a:r>
          </a:p>
          <a:p>
            <a:pPr lvl="0" indent="0" marL="0">
              <a:buNone/>
            </a:pPr>
            <a:r>
              <a:rPr/>
              <a:t>Automated daily scraping of hotel websites for raw price and room data.</a:t>
            </a:r>
          </a:p>
          <a:p>
            <a:pPr lvl="0" indent="0" marL="0">
              <a:buNone/>
            </a:pPr>
            <a:r>
              <a:rPr/>
              <a:t> Daily scheduled runs</a:t>
            </a:r>
          </a:p>
          <a:p>
            <a:pPr lvl="0" indent="0" marL="0">
              <a:buNone/>
            </a:pPr>
            <a:r>
              <a:rPr/>
              <a:t> Capture 3-5 star tiers</a:t>
            </a:r>
          </a:p>
          <a:p>
            <a:pPr lvl="0" indent="0" marL="0">
              <a:buNone/>
            </a:pPr>
            <a:r>
              <a:rPr/>
              <a:t> Raw data storage</a:t>
            </a:r>
          </a:p>
          <a:p>
            <a:pPr lvl="0" indent="0" marL="0">
              <a:buNone/>
            </a:pPr>
            <a:r>
              <a:rPr/>
              <a:t>02</a:t>
            </a:r>
          </a:p>
          <a:p>
            <a:pPr lvl="0" indent="0" marL="0">
              <a:buNone/>
            </a:pP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Transform &amp; Store</a:t>
            </a:r>
          </a:p>
          <a:p>
            <a:pPr lvl="0" indent="0" marL="0">
              <a:buNone/>
            </a:pPr>
            <a:r>
              <a:rPr/>
              <a:t>Cleanse data anomalies, structure schemas, and organize into a reliable data warehouse.</a:t>
            </a:r>
          </a:p>
          <a:p>
            <a:pPr lvl="0" indent="0" marL="0">
              <a:buNone/>
            </a:pPr>
            <a:r>
              <a:rPr/>
              <a:t> Data cleaning</a:t>
            </a:r>
          </a:p>
          <a:p>
            <a:pPr lvl="0" indent="0" marL="0">
              <a:buNone/>
            </a:pPr>
            <a:r>
              <a:rPr/>
              <a:t> Schema validation</a:t>
            </a:r>
          </a:p>
          <a:p>
            <a:pPr lvl="0" indent="0" marL="0">
              <a:buNone/>
            </a:pPr>
            <a:r>
              <a:rPr/>
              <a:t> Historical indexing</a:t>
            </a:r>
          </a:p>
          <a:p>
            <a:pPr lvl="0" indent="0" marL="0">
              <a:buNone/>
            </a:pPr>
            <a:r>
              <a:rPr/>
              <a:t>03</a:t>
            </a:r>
          </a:p>
          <a:p>
            <a:pPr lvl="0" indent="0" marL="0">
              <a:buNone/>
            </a:pP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Decision Dashboard</a:t>
            </a:r>
          </a:p>
          <a:p>
            <a:pPr lvl="0" indent="0" marL="0">
              <a:buNone/>
            </a:pPr>
            <a:r>
              <a:rPr/>
              <a:t>Interactive visualization for comparing prices and identifying optimal booking windows.</a:t>
            </a:r>
          </a:p>
          <a:p>
            <a:pPr lvl="0" indent="0" marL="0">
              <a:buNone/>
            </a:pPr>
            <a:r>
              <a:rPr/>
              <a:t> Price vs. Star Rating</a:t>
            </a:r>
          </a:p>
          <a:p>
            <a:pPr lvl="0" indent="0" marL="0">
              <a:buNone/>
            </a:pPr>
            <a:r>
              <a:rPr/>
              <a:t> Booking Horizon Analysis</a:t>
            </a:r>
          </a:p>
          <a:p>
            <a:pPr lvl="0" indent="0" marL="0">
              <a:buNone/>
            </a:pPr>
            <a:r>
              <a:rPr/>
              <a:t> Availability Trends</a:t>
            </a:r>
          </a:p>
          <a:p>
            <a:pPr lvl="0" indent="0" marL="0">
              <a:buNone/>
            </a:pPr>
            <a:r>
              <a:rPr/>
              <a:t>Key Outcome</a:t>
            </a:r>
          </a:p>
          <a:p>
            <a:pPr lvl="0" indent="0" marL="0">
              <a:buNone/>
            </a:pPr>
            <a:r>
              <a:rPr/>
              <a:t>Timely visibility that reduces missed offers and empowers users to plan cost-effective spiritual journeys.</a:t>
            </a:r>
          </a:p>
          <a:p>
            <a:pPr lvl="0" indent="0" marL="0">
              <a:buNone/>
            </a:pPr>
            <a:r>
              <a:rPr/>
              <a:t>Umrah Hotel Booking Data Pipeline • Slide 3</a:t>
            </a:r>
          </a:p>
          <a:p>
            <a:pPr lvl="0" indent="0" marL="0">
              <a:buNone/>
            </a:pPr>
            <a:r>
              <a:rPr/>
              <a:t>Value Proposition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Project Impacts &amp; Real-World Benefits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For The</a:t>
            </a:r>
          </a:p>
          <a:p>
            <a:pPr lvl="0" indent="0" marL="0">
              <a:buNone/>
            </a:pPr>
            <a:r>
              <a:rPr/>
              <a:t>Traveler</a:t>
            </a:r>
          </a:p>
          <a:p>
            <a:pPr lvl="0"/>
            <a:r>
              <a:rPr/>
              <a:t> Make informed decisions based on </a:t>
            </a:r>
            <a:r>
              <a:rPr b="1"/>
              <a:t>real historical data</a:t>
            </a:r>
          </a:p>
          <a:p>
            <a:pPr lvl="0"/>
            <a:r>
              <a:rPr/>
              <a:t> Find </a:t>
            </a:r>
            <a:r>
              <a:rPr b="1"/>
              <a:t>better timing</a:t>
            </a:r>
            <a:r>
              <a:rPr/>
              <a:t> for booking to align with budget</a:t>
            </a:r>
          </a:p>
          <a:p>
            <a:pPr lvl="0"/>
            <a:r>
              <a:rPr/>
              <a:t> </a:t>
            </a:r>
            <a:r>
              <a:rPr b="1"/>
              <a:t>Avoid overpaying</a:t>
            </a:r>
            <a:r>
              <a:rPr/>
              <a:t> by identifying price dips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For The</a:t>
            </a:r>
          </a:p>
          <a:p>
            <a:pPr lvl="0" indent="0" marL="0">
              <a:buNone/>
            </a:pPr>
            <a:r>
              <a:rPr/>
              <a:t>Travel Agency</a:t>
            </a:r>
          </a:p>
          <a:p>
            <a:pPr lvl="0"/>
            <a:r>
              <a:rPr/>
              <a:t> Reduce </a:t>
            </a:r>
            <a:r>
              <a:rPr b="1"/>
              <a:t>manual research</a:t>
            </a:r>
            <a:r>
              <a:rPr/>
              <a:t> time significantly</a:t>
            </a:r>
          </a:p>
          <a:p>
            <a:pPr lvl="0"/>
            <a:r>
              <a:rPr/>
              <a:t> Improve </a:t>
            </a:r>
            <a:r>
              <a:rPr b="1"/>
              <a:t>pricing strategy</a:t>
            </a:r>
            <a:r>
              <a:rPr/>
              <a:t> for package offers</a:t>
            </a:r>
          </a:p>
          <a:p>
            <a:pPr lvl="0"/>
            <a:r>
              <a:rPr/>
              <a:t> Deliver superior, </a:t>
            </a:r>
            <a:r>
              <a:rPr b="1"/>
              <a:t>data-driven recommendations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Sample</a:t>
            </a:r>
            <a:br/>
            <a:r>
              <a:rPr b="1"/>
              <a:t>Insights</a:t>
            </a:r>
          </a:p>
          <a:p>
            <a:pPr lvl="0" indent="0" marL="0">
              <a:buNone/>
            </a:pPr>
            <a:r>
              <a:rPr/>
              <a:t>Derived from Pipeline</a:t>
            </a:r>
          </a:p>
          <a:p>
            <a:pPr lvl="0" indent="0" marL="0">
              <a:buNone/>
            </a:pPr>
            <a:r>
              <a:rPr/>
              <a:t>4★ &lt; 3★</a:t>
            </a:r>
          </a:p>
          <a:p>
            <a:pPr lvl="0" indent="0" marL="0">
              <a:buNone/>
            </a:pPr>
            <a:r>
              <a:rPr/>
              <a:t>Unexpected Value:</a:t>
            </a:r>
          </a:p>
          <a:p>
            <a:pPr lvl="0" indent="0" marL="0">
              <a:buNone/>
            </a:pPr>
            <a:r>
              <a:rPr/>
              <a:t>4-star hotels can be cheaper than 3-stars during last-minute bookings.</a:t>
            </a:r>
          </a:p>
          <a:p>
            <a:pPr lvl="0" indent="0" marL="0">
              <a:buNone/>
            </a:pPr>
            <a:r>
              <a:rPr/>
              <a:t>20x</a:t>
            </a:r>
          </a:p>
          <a:p>
            <a:pPr lvl="0" indent="0" marL="0">
              <a:buNone/>
            </a:pPr>
            <a:r>
              <a:rPr/>
              <a:t>Peak Volatility:</a:t>
            </a:r>
          </a:p>
          <a:p>
            <a:pPr lvl="0" indent="0" marL="0">
              <a:buNone/>
            </a:pPr>
            <a:r>
              <a:rPr/>
              <a:t>Prices can surge up to 20 times higher during peak religious seasons.</a:t>
            </a:r>
          </a:p>
          <a:p>
            <a:pPr lvl="0" indent="0" marL="0">
              <a:buNone/>
            </a:pPr>
            <a:r>
              <a:rPr/>
              <a:t>Umrah Hotel Booking Data Pipeline • Slide 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Perspective</dc:title>
  <dc:creator/>
  <cp:keywords/>
  <dcterms:created xsi:type="dcterms:W3CDTF">2026-03-19T19:56:39Z</dcterms:created>
  <dcterms:modified xsi:type="dcterms:W3CDTF">2026-03-19T19:56:39Z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iewport">
    <vt:lpwstr>width=device-width, initial-scale=1.0</vt:lpwstr>
  </property>
</Properties>
</file>