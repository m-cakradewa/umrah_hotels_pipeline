
<file path=[Content_Types].xml><?xml version="1.0" encoding="utf-8"?>
<Types xmlns="http://schemas.openxmlformats.org/package/2006/content-types">
  <Default Extension="mp4" ContentType="video/unknown"/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31449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3251685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3008901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930865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4821959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6700506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4572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3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559383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489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3314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2868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5298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7878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0663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101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80505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7170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8349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0167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6051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04295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398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52901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4693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9514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509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A121CC-4208-06CB-3B97-720CF1CF79F5}" type="slidenum">
              <a:rPr lang="en-US"/>
              <a:t/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2095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665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9908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865F4E-B457-CB37-EB3F-A6B3DD308387}" type="slidenum">
              <a:rPr lang="en-US"/>
              <a:t/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3260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6793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0133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A2B705-7369-1B72-0885-0C273AE3A5A7}" type="slidenum">
              <a:rPr lang="en-US"/>
              <a:t/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3650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0197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76128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6D50B-5B4A-7ED5-F7E2-11D59D33C267}" type="slidenum">
              <a:rPr lang="en-US"/>
              <a:t/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8444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3326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2420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23E1B8-2325-D74C-B917-C0FDFB3FB7B7}" type="slidenum">
              <a:rPr lang="en-US"/>
              <a:t/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86563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20611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2225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8114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0041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0854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jpg"/><Relationship Id="rId13" Type="http://schemas.openxmlformats.org/officeDocument/2006/relationships/image" Target="../media/image42.png"/><Relationship Id="rId14" Type="http://schemas.openxmlformats.org/officeDocument/2006/relationships/image" Target="../media/image43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4.png"/><Relationship Id="rId4" Type="http://schemas.microsoft.com/office/2007/relationships/media" Target="../media/media1.mp4"/><Relationship Id="rId5" Type="http://schemas.openxmlformats.org/officeDocument/2006/relationships/video" Target="../media/media1.mp4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5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56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2536902" name="Image 0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34253194" name="Image 1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78881443" name="Image 2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19757701" name="Image 3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59232757" name="Image 4" descr="preencoded.png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1028700" y="2768600"/>
            <a:ext cx="10033000" cy="1447800"/>
          </a:xfrm>
          <a:prstGeom prst="rect">
            <a:avLst/>
          </a:prstGeom>
        </p:spPr>
      </p:pic>
      <p:sp>
        <p:nvSpPr>
          <p:cNvPr id="2139707972" name="Text 0"/>
          <p:cNvSpPr/>
          <p:nvPr/>
        </p:nvSpPr>
        <p:spPr bwMode="auto">
          <a:xfrm flipH="0" flipV="0">
            <a:off x="907036" y="2768599"/>
            <a:ext cx="10276326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6"/>
              </a:lnSpc>
              <a:buNone/>
              <a:defRPr/>
            </a:pPr>
            <a:r>
              <a:rPr lang="en-US" sz="6600" b="1" spc="-125">
                <a:solidFill>
                  <a:srgbClr val="20C0D0"/>
                </a:solidFill>
                <a:latin typeface="Yu Gothic UI Semibold"/>
                <a:ea typeface="Yu Gothic UI Semibold"/>
                <a:cs typeface="Yu Gothic UI Semibold"/>
              </a:rPr>
              <a:t>Umrah</a:t>
            </a:r>
            <a:r>
              <a:rPr lang="de-DE" sz="6600" b="1" spc="-119">
                <a:solidFill>
                  <a:srgbClr val="20C0D0"/>
                </a:solidFill>
                <a:latin typeface="Yu Gothic UI Semibold"/>
                <a:ea typeface="Yu Gothic UI Semibold"/>
                <a:cs typeface="Yu Gothic UI Semibold"/>
              </a:rPr>
              <a:t> </a:t>
            </a:r>
            <a:r>
              <a:rPr lang="de-DE" sz="6600" b="1" spc="-120">
                <a:solidFill>
                  <a:srgbClr val="20C0D0"/>
                </a:solidFill>
                <a:latin typeface="Yu Gothic UI Semibold"/>
                <a:ea typeface="Yu Gothic UI Semibold"/>
                <a:cs typeface="Yu Gothic UI Semibold"/>
              </a:rPr>
              <a:t>Travel Agency</a:t>
            </a:r>
            <a:endParaRPr sz="6600" b="1">
              <a:latin typeface="Yu Gothic UI Semibold"/>
              <a:cs typeface="Yu Gothic UI Semibold"/>
            </a:endParaRPr>
          </a:p>
        </p:txBody>
      </p:sp>
      <p:sp>
        <p:nvSpPr>
          <p:cNvPr id="1273917285" name="Text 1"/>
          <p:cNvSpPr/>
          <p:nvPr/>
        </p:nvSpPr>
        <p:spPr bwMode="auto">
          <a:xfrm>
            <a:off x="2297906" y="3839964"/>
            <a:ext cx="1331100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de-DE"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Muhammad Dimas </a:t>
            </a: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|</a:t>
            </a:r>
            <a:r>
              <a:rPr lang="de-DE"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 Data Engineering </a:t>
            </a: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|</a:t>
            </a:r>
            <a:r>
              <a:rPr lang="de-DE"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 Nov 25 – Mar 26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53050647" name="Image 0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9598989" name="Image 1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022455" y="1501825"/>
            <a:ext cx="4340275" cy="3538686"/>
          </a:xfrm>
          <a:prstGeom prst="rect">
            <a:avLst/>
          </a:prstGeom>
        </p:spPr>
      </p:pic>
      <p:sp>
        <p:nvSpPr>
          <p:cNvPr id="1950209132" name="Text 0"/>
          <p:cNvSpPr/>
          <p:nvPr/>
        </p:nvSpPr>
        <p:spPr bwMode="auto">
          <a:xfrm>
            <a:off x="742950" y="800100"/>
            <a:ext cx="13030200" cy="65157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5130"/>
              </a:lnSpc>
              <a:buNone/>
              <a:defRPr/>
            </a:pPr>
            <a:r>
              <a:rPr lang="en-US" sz="4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Business Perspective</a:t>
            </a:r>
            <a:endParaRPr lang="en-US" sz="4300"/>
          </a:p>
        </p:txBody>
      </p:sp>
      <p:sp>
        <p:nvSpPr>
          <p:cNvPr id="567774535" name="Text 1"/>
          <p:cNvSpPr/>
          <p:nvPr/>
        </p:nvSpPr>
        <p:spPr bwMode="auto">
          <a:xfrm>
            <a:off x="742950" y="1733549"/>
            <a:ext cx="5437926" cy="83106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3150"/>
              </a:lnSpc>
              <a:buNone/>
              <a:defRPr/>
            </a:pPr>
            <a:r>
              <a:rPr lang="de-DE" sz="2100" b="1">
                <a:solidFill>
                  <a:srgbClr val="E0B460"/>
                </a:solidFill>
                <a:latin typeface="Lora"/>
                <a:ea typeface="Lora"/>
                <a:cs typeface="Lora"/>
              </a:rPr>
              <a:t>„Finding the Right Hotel at the Right Time“</a:t>
            </a:r>
            <a:endParaRPr sz="2100"/>
          </a:p>
        </p:txBody>
      </p:sp>
      <p:sp>
        <p:nvSpPr>
          <p:cNvPr id="353904150" name="Text 2"/>
          <p:cNvSpPr/>
          <p:nvPr/>
        </p:nvSpPr>
        <p:spPr bwMode="auto">
          <a:xfrm>
            <a:off x="742950" y="3171825"/>
            <a:ext cx="4102085" cy="176962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242"/>
              </a:lnSpc>
              <a:buNone/>
              <a:defRPr/>
            </a:pP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We guide Muslim travelers in choosing</a:t>
            </a:r>
            <a:endParaRPr lang="en-US" sz="1750">
              <a:solidFill>
                <a:srgbClr val="FFFFFF"/>
              </a:solidFill>
              <a:latin typeface="Roboto-Regular"/>
              <a:ea typeface="Roboto-Regular"/>
              <a:cs typeface="Roboto-Regular"/>
            </a:endParaRPr>
          </a:p>
          <a:p>
            <a:pPr marL="0" indent="0">
              <a:lnSpc>
                <a:spcPts val="2241"/>
              </a:lnSpc>
              <a:buNone/>
              <a:defRPr/>
            </a:pP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the right</a:t>
            </a: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 </a:t>
            </a: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hotel for their journey to Makkah.</a:t>
            </a:r>
            <a:endParaRPr lang="en-US" sz="1750">
              <a:solidFill>
                <a:srgbClr val="FFFFFF"/>
              </a:solidFill>
              <a:latin typeface="Roboto-Regular"/>
              <a:ea typeface="Roboto-Regular"/>
              <a:cs typeface="Roboto-Regular"/>
            </a:endParaRPr>
          </a:p>
          <a:p>
            <a:pPr marL="0" indent="0">
              <a:lnSpc>
                <a:spcPts val="2241"/>
              </a:lnSpc>
              <a:buNone/>
              <a:defRPr/>
            </a:pP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Our</a:t>
            </a: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 </a:t>
            </a: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focus </a:t>
            </a: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moves </a:t>
            </a: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beyond </a:t>
            </a: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„today‘s price“:</a:t>
            </a:r>
            <a:endParaRPr lang="de-DE" sz="1750">
              <a:solidFill>
                <a:srgbClr val="FFFFFF"/>
              </a:solidFill>
              <a:latin typeface="Roboto-Regular"/>
              <a:ea typeface="Roboto-Regular"/>
              <a:cs typeface="Roboto-Regular"/>
            </a:endParaRPr>
          </a:p>
          <a:p>
            <a:pPr marL="0" indent="0">
              <a:lnSpc>
                <a:spcPts val="2241"/>
              </a:lnSpc>
              <a:buNone/>
              <a:defRPr/>
            </a:pP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we</a:t>
            </a: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 provide</a:t>
            </a: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 </a:t>
            </a: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visibility </a:t>
            </a: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on price trends and</a:t>
            </a:r>
            <a:endParaRPr lang="de-DE" sz="1750">
              <a:solidFill>
                <a:srgbClr val="FFFFFF"/>
              </a:solidFill>
              <a:latin typeface="Roboto-Regular"/>
              <a:ea typeface="Roboto-Regular"/>
              <a:cs typeface="Roboto-Regular"/>
            </a:endParaRPr>
          </a:p>
          <a:p>
            <a:pPr marL="0" indent="0">
              <a:lnSpc>
                <a:spcPts val="2241"/>
              </a:lnSpc>
              <a:buNone/>
              <a:defRPr/>
            </a:pP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availability </a:t>
            </a:r>
            <a:r>
              <a:rPr lang="en-US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across different time options,</a:t>
            </a: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 </a:t>
            </a:r>
            <a:endParaRPr lang="de-DE" sz="1750">
              <a:solidFill>
                <a:srgbClr val="FFFFFF"/>
              </a:solidFill>
              <a:latin typeface="Roboto-Regular"/>
              <a:ea typeface="Roboto-Regular"/>
              <a:cs typeface="Roboto-Regular"/>
            </a:endParaRPr>
          </a:p>
          <a:p>
            <a:pPr marL="0" indent="0">
              <a:lnSpc>
                <a:spcPts val="2241"/>
              </a:lnSpc>
              <a:buNone/>
              <a:defRPr/>
            </a:pP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empowering customers to choose the</a:t>
            </a:r>
            <a:endParaRPr lang="de-DE" sz="1750">
              <a:solidFill>
                <a:srgbClr val="FFFFFF"/>
              </a:solidFill>
              <a:latin typeface="Roboto-Regular"/>
              <a:ea typeface="Roboto-Regular"/>
              <a:cs typeface="Roboto-Regular"/>
            </a:endParaRPr>
          </a:p>
          <a:p>
            <a:pPr marL="0" indent="0">
              <a:lnSpc>
                <a:spcPts val="2241"/>
              </a:lnSpc>
              <a:buNone/>
              <a:defRPr/>
            </a:pPr>
            <a:r>
              <a:rPr lang="de-DE" sz="1750">
                <a:solidFill>
                  <a:srgbClr val="FFFFFF"/>
                </a:solidFill>
                <a:latin typeface="Roboto-Regular"/>
                <a:ea typeface="Roboto-Regular"/>
                <a:cs typeface="Roboto-Regular"/>
              </a:rPr>
              <a:t>optimal travel dates.</a:t>
            </a:r>
            <a:endParaRPr lang="de-DE" sz="1750">
              <a:solidFill>
                <a:srgbClr val="FFFFFF"/>
              </a:solidFill>
              <a:latin typeface="Roboto-Regular"/>
              <a:ea typeface="Roboto-Regular"/>
              <a:cs typeface="Roboto-Regular"/>
            </a:endParaRPr>
          </a:p>
        </p:txBody>
      </p:sp>
      <p:sp>
        <p:nvSpPr>
          <p:cNvPr id="1407172269" name="Text 3"/>
          <p:cNvSpPr/>
          <p:nvPr/>
        </p:nvSpPr>
        <p:spPr bwMode="auto">
          <a:xfrm>
            <a:off x="742950" y="5715000"/>
            <a:ext cx="21294090" cy="328613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588"/>
              </a:lnSpc>
              <a:buNone/>
              <a:defRPr/>
            </a:pPr>
            <a:r>
              <a:rPr lang="en-US" sz="1750">
                <a:solidFill>
                  <a:srgbClr val="3498DB"/>
                </a:solidFill>
                <a:latin typeface="Roboto-Regular"/>
                <a:ea typeface="Roboto-Regular"/>
                <a:cs typeface="Roboto-Regular"/>
              </a:rPr>
              <a:t>Customer-centric mission • Data-driven decisions • Transparent pricing visibility</a:t>
            </a:r>
            <a:endParaRPr lang="en-US" sz="1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58192912" name="Image 0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18671770" name="Image 1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424886" y="1865263"/>
            <a:ext cx="475357" cy="452586"/>
          </a:xfrm>
          <a:prstGeom prst="rect">
            <a:avLst/>
          </a:prstGeom>
        </p:spPr>
      </p:pic>
      <p:pic>
        <p:nvPicPr>
          <p:cNvPr id="1415699918" name="Image 2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4657279" y="2571750"/>
            <a:ext cx="2852886" cy="1885950"/>
          </a:xfrm>
          <a:prstGeom prst="rect">
            <a:avLst/>
          </a:prstGeom>
        </p:spPr>
      </p:pic>
      <p:pic>
        <p:nvPicPr>
          <p:cNvPr id="143843765" name="Image 3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07082" y="1844725"/>
            <a:ext cx="451098" cy="493663"/>
          </a:xfrm>
          <a:prstGeom prst="rect">
            <a:avLst/>
          </a:prstGeom>
        </p:spPr>
      </p:pic>
      <p:sp>
        <p:nvSpPr>
          <p:cNvPr id="243069675" name="Text 0"/>
          <p:cNvSpPr/>
          <p:nvPr/>
        </p:nvSpPr>
        <p:spPr bwMode="auto">
          <a:xfrm>
            <a:off x="2875568" y="542925"/>
            <a:ext cx="6789420" cy="61719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4860"/>
              </a:lnSpc>
              <a:buNone/>
              <a:defRPr/>
            </a:pPr>
            <a:r>
              <a:rPr lang="en-US" sz="405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The Problem</a:t>
            </a:r>
            <a:endParaRPr lang="en-US" sz="4050"/>
          </a:p>
        </p:txBody>
      </p:sp>
      <p:sp>
        <p:nvSpPr>
          <p:cNvPr id="1642075883" name="Text 1"/>
          <p:cNvSpPr/>
          <p:nvPr/>
        </p:nvSpPr>
        <p:spPr bwMode="auto">
          <a:xfrm>
            <a:off x="1323974" y="1905000"/>
            <a:ext cx="6515100" cy="37713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970"/>
              </a:lnSpc>
              <a:buNone/>
              <a:defRPr/>
            </a:pPr>
            <a:r>
              <a:rPr lang="en-US" sz="2250" b="1">
                <a:solidFill>
                  <a:srgbClr val="FBC95F"/>
                </a:solidFill>
                <a:latin typeface="Poppins"/>
                <a:ea typeface="Poppins"/>
                <a:cs typeface="Poppins"/>
              </a:rPr>
              <a:t>Customer Challenges</a:t>
            </a:r>
            <a:endParaRPr lang="en-US" sz="2250"/>
          </a:p>
        </p:txBody>
      </p:sp>
      <p:sp>
        <p:nvSpPr>
          <p:cNvPr id="1256584013" name="Text 2"/>
          <p:cNvSpPr/>
          <p:nvPr/>
        </p:nvSpPr>
        <p:spPr bwMode="auto">
          <a:xfrm>
            <a:off x="8029575" y="1905000"/>
            <a:ext cx="6858000" cy="37713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970"/>
              </a:lnSpc>
              <a:buNone/>
              <a:defRPr/>
            </a:pPr>
            <a:r>
              <a:rPr lang="en-US" sz="2250" b="1">
                <a:solidFill>
                  <a:srgbClr val="F76E22"/>
                </a:solidFill>
                <a:latin typeface="Poppins"/>
                <a:ea typeface="Poppins"/>
                <a:cs typeface="Poppins"/>
              </a:rPr>
              <a:t>Agency Business Risk</a:t>
            </a:r>
            <a:endParaRPr lang="en-US" sz="2250"/>
          </a:p>
        </p:txBody>
      </p:sp>
      <p:sp>
        <p:nvSpPr>
          <p:cNvPr id="1613224629" name="Text 3"/>
          <p:cNvSpPr/>
          <p:nvPr/>
        </p:nvSpPr>
        <p:spPr bwMode="auto">
          <a:xfrm>
            <a:off x="3514725" y="5676900"/>
            <a:ext cx="5731073" cy="603647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2376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Hotel prices can change drastically</a:t>
            </a:r>
            <a:br>
              <a:rPr lang="en-US" sz="1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overnight – creating a dual-sided crisis</a:t>
            </a:r>
            <a:endParaRPr lang="en-US" sz="1800"/>
          </a:p>
        </p:txBody>
      </p:sp>
      <p:sp>
        <p:nvSpPr>
          <p:cNvPr id="2143018501" name="Text 4"/>
          <p:cNvSpPr/>
          <p:nvPr/>
        </p:nvSpPr>
        <p:spPr bwMode="auto">
          <a:xfrm>
            <a:off x="1019174" y="2724150"/>
            <a:ext cx="3048893" cy="653653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573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Extreme Daily Price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Fluctuations</a:t>
            </a:r>
            <a:endParaRPr lang="en-US" sz="1950"/>
          </a:p>
        </p:txBody>
      </p:sp>
      <p:sp>
        <p:nvSpPr>
          <p:cNvPr id="1522294506" name="Text 5"/>
          <p:cNvSpPr/>
          <p:nvPr/>
        </p:nvSpPr>
        <p:spPr bwMode="auto">
          <a:xfrm>
            <a:off x="1019174" y="3724275"/>
            <a:ext cx="5943600" cy="326827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573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Missing Better Deals</a:t>
            </a:r>
            <a:endParaRPr lang="en-US" sz="1950"/>
          </a:p>
        </p:txBody>
      </p:sp>
      <p:sp>
        <p:nvSpPr>
          <p:cNvPr id="1071109282" name="Text 6"/>
          <p:cNvSpPr/>
          <p:nvPr/>
        </p:nvSpPr>
        <p:spPr bwMode="auto">
          <a:xfrm>
            <a:off x="1019174" y="4410075"/>
            <a:ext cx="3080296" cy="653653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573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Overpaying Without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Insights</a:t>
            </a:r>
            <a:endParaRPr lang="en-US" sz="1950"/>
          </a:p>
        </p:txBody>
      </p:sp>
      <p:sp>
        <p:nvSpPr>
          <p:cNvPr id="249605221" name="Text 7"/>
          <p:cNvSpPr/>
          <p:nvPr/>
        </p:nvSpPr>
        <p:spPr bwMode="auto">
          <a:xfrm>
            <a:off x="8391525" y="2724150"/>
            <a:ext cx="6240780" cy="29721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340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Profit Margin Erosion</a:t>
            </a:r>
            <a:endParaRPr lang="en-US" sz="1950"/>
          </a:p>
        </p:txBody>
      </p:sp>
      <p:sp>
        <p:nvSpPr>
          <p:cNvPr id="1534508299" name="Text 8"/>
          <p:cNvSpPr/>
          <p:nvPr/>
        </p:nvSpPr>
        <p:spPr bwMode="auto">
          <a:xfrm>
            <a:off x="8391525" y="3409950"/>
            <a:ext cx="2587823" cy="653653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573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Manual Research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Inefficiency</a:t>
            </a:r>
            <a:endParaRPr lang="en-US" sz="1950"/>
          </a:p>
        </p:txBody>
      </p:sp>
      <p:sp>
        <p:nvSpPr>
          <p:cNvPr id="752379943" name="Text 9"/>
          <p:cNvSpPr/>
          <p:nvPr/>
        </p:nvSpPr>
        <p:spPr bwMode="auto">
          <a:xfrm>
            <a:off x="8391525" y="4410075"/>
            <a:ext cx="2074515" cy="653653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573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Competitive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Disadvantage</a:t>
            </a:r>
            <a:endParaRPr lang="en-US" sz="1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05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108081" name="Rectangle 78626938"/>
          <p:cNvSpPr/>
          <p:nvPr/>
        </p:nvSpPr>
        <p:spPr bwMode="auto">
          <a:xfrm rot="0" flipH="0" flipV="0">
            <a:off x="7635239" y="5623560"/>
            <a:ext cx="4023360" cy="1005840"/>
          </a:xfrm>
          <a:prstGeom prst="rect">
            <a:avLst/>
          </a:prstGeom>
          <a:solidFill>
            <a:schemeClr val="bg1">
              <a:alpha val="10000"/>
            </a:schemeClr>
          </a:solidFill>
          <a:ln w="634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pic>
        <p:nvPicPr>
          <p:cNvPr id="318147998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754094" y="2725191"/>
            <a:ext cx="3608784" cy="2263080"/>
          </a:xfrm>
          <a:prstGeom prst="rect">
            <a:avLst/>
          </a:prstGeom>
        </p:spPr>
      </p:pic>
      <p:pic>
        <p:nvPicPr>
          <p:cNvPr id="755483760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21654" y="6058346"/>
            <a:ext cx="426689" cy="377130"/>
          </a:xfrm>
          <a:prstGeom prst="rect">
            <a:avLst/>
          </a:prstGeom>
        </p:spPr>
      </p:pic>
      <p:pic>
        <p:nvPicPr>
          <p:cNvPr id="334076275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621654" y="5249019"/>
            <a:ext cx="426689" cy="445740"/>
          </a:xfrm>
          <a:prstGeom prst="rect">
            <a:avLst/>
          </a:prstGeom>
        </p:spPr>
      </p:pic>
      <p:pic>
        <p:nvPicPr>
          <p:cNvPr id="10105947" name="Image 4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621654" y="4426148"/>
            <a:ext cx="438894" cy="418207"/>
          </a:xfrm>
          <a:prstGeom prst="rect">
            <a:avLst/>
          </a:prstGeom>
        </p:spPr>
      </p:pic>
      <p:sp>
        <p:nvSpPr>
          <p:cNvPr id="1366862907" name="Text 0"/>
          <p:cNvSpPr/>
          <p:nvPr/>
        </p:nvSpPr>
        <p:spPr bwMode="auto">
          <a:xfrm>
            <a:off x="2590323" y="169068"/>
            <a:ext cx="7406640" cy="61719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4860"/>
              </a:lnSpc>
              <a:buNone/>
              <a:defRPr/>
            </a:pPr>
            <a:r>
              <a:rPr lang="en-US" sz="405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Our Approach</a:t>
            </a:r>
            <a:endParaRPr lang="en-US" sz="4050"/>
          </a:p>
        </p:txBody>
      </p:sp>
      <p:sp>
        <p:nvSpPr>
          <p:cNvPr id="313789511" name="Text 1"/>
          <p:cNvSpPr/>
          <p:nvPr/>
        </p:nvSpPr>
        <p:spPr bwMode="auto">
          <a:xfrm flipH="0" flipV="0">
            <a:off x="2857500" y="720724"/>
            <a:ext cx="6715124" cy="78931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784"/>
              </a:lnSpc>
              <a:buNone/>
              <a:defRPr/>
            </a:pPr>
            <a:r>
              <a:rPr lang="en-US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We build a</a:t>
            </a:r>
            <a:r>
              <a:rPr lang="de-DE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n automated</a:t>
            </a:r>
            <a:r>
              <a:rPr lang="en-US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data pipeline that </a:t>
            </a:r>
            <a:r>
              <a:rPr lang="de-DE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fetches raw price and </a:t>
            </a:r>
            <a:r>
              <a:rPr lang="de-DE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room data </a:t>
            </a:r>
            <a:r>
              <a:rPr lang="de-DE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from hotel website(s) </a:t>
            </a:r>
            <a:r>
              <a:rPr lang="de-DE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and deliver them as </a:t>
            </a:r>
            <a:r>
              <a:rPr lang="de-DE" sz="16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actionables.</a:t>
            </a:r>
            <a:endParaRPr sz="1600" i="1">
              <a:solidFill>
                <a:srgbClr val="FFFFFF"/>
              </a:solidFill>
              <a:latin typeface="Poppins"/>
              <a:ea typeface="Poppins"/>
              <a:cs typeface="Poppins"/>
            </a:endParaRPr>
          </a:p>
        </p:txBody>
      </p:sp>
      <p:sp>
        <p:nvSpPr>
          <p:cNvPr id="344079917" name="Text 2"/>
          <p:cNvSpPr/>
          <p:nvPr/>
        </p:nvSpPr>
        <p:spPr bwMode="auto">
          <a:xfrm flipH="0" flipV="0">
            <a:off x="7878149" y="5724524"/>
            <a:ext cx="3771786" cy="8120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de-DE" sz="1900" b="1">
                <a:solidFill>
                  <a:srgbClr val="5DA2EE"/>
                </a:solidFill>
                <a:latin typeface="Inter"/>
                <a:ea typeface="Inter"/>
                <a:cs typeface="Inter"/>
              </a:rPr>
              <a:t>Key outcome:</a:t>
            </a:r>
            <a:endParaRPr lang="en-US" sz="1900" b="1">
              <a:solidFill>
                <a:srgbClr val="FFFFFF"/>
              </a:solidFill>
              <a:latin typeface="Inter"/>
              <a:ea typeface="Inter"/>
              <a:cs typeface="Inter"/>
            </a:endParaRPr>
          </a:p>
          <a:p>
            <a:pPr marL="0" indent="0" algn="l">
              <a:lnSpc>
                <a:spcPts val="2249"/>
              </a:lnSpc>
              <a:buNone/>
              <a:defRPr/>
            </a:pPr>
            <a:r>
              <a:rPr lang="en-US" sz="16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Users plan trips more</a:t>
            </a:r>
            <a:r>
              <a:rPr lang="de-DE" sz="16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16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efficiently and</a:t>
            </a:r>
            <a:endParaRPr lang="en-US" sz="1600" b="0">
              <a:solidFill>
                <a:srgbClr val="FFFFFF"/>
              </a:solidFill>
              <a:latin typeface="Inter"/>
              <a:ea typeface="Inter"/>
              <a:cs typeface="Inter"/>
            </a:endParaRPr>
          </a:p>
          <a:p>
            <a:pPr marL="0" indent="0" algn="l">
              <a:lnSpc>
                <a:spcPts val="2249"/>
              </a:lnSpc>
              <a:buNone/>
              <a:defRPr/>
            </a:pPr>
            <a:r>
              <a:rPr lang="en-US" sz="16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cost-effectively</a:t>
            </a:r>
            <a:endParaRPr sz="1600" b="0"/>
          </a:p>
        </p:txBody>
      </p:sp>
      <p:sp>
        <p:nvSpPr>
          <p:cNvPr id="2263440" name="Text 3"/>
          <p:cNvSpPr/>
          <p:nvPr/>
        </p:nvSpPr>
        <p:spPr bwMode="auto">
          <a:xfrm>
            <a:off x="657225" y="2524124"/>
            <a:ext cx="2204172" cy="6046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294893" indent="-294893">
              <a:lnSpc>
                <a:spcPct val="114999"/>
              </a:lnSpc>
              <a:buFont typeface="Arial"/>
              <a:buChar char="•"/>
              <a:defRPr/>
            </a:pPr>
            <a:r>
              <a:rPr lang="de-DE" sz="16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Daily scheduled runs</a:t>
            </a:r>
            <a:endParaRPr sz="1600">
              <a:solidFill>
                <a:schemeClr val="bg1"/>
              </a:solidFill>
              <a:latin typeface="Poppins"/>
              <a:ea typeface="Poppins"/>
              <a:cs typeface="Poppins"/>
            </a:endParaRPr>
          </a:p>
          <a:p>
            <a:pPr marL="294893" indent="-294893">
              <a:lnSpc>
                <a:spcPct val="114999"/>
              </a:lnSpc>
              <a:buFont typeface="Arial"/>
              <a:buChar char="•"/>
              <a:defRPr/>
            </a:pPr>
            <a:r>
              <a:rPr lang="de-DE" sz="16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Capture 3-5 star tiers</a:t>
            </a:r>
            <a:endParaRPr sz="1600">
              <a:solidFill>
                <a:schemeClr val="bg1"/>
              </a:solidFill>
              <a:latin typeface="Poppins"/>
              <a:ea typeface="Poppins"/>
              <a:cs typeface="Poppins"/>
            </a:endParaRPr>
          </a:p>
          <a:p>
            <a:pPr marL="294893" indent="-294893">
              <a:lnSpc>
                <a:spcPct val="114999"/>
              </a:lnSpc>
              <a:buFont typeface="Arial"/>
              <a:buChar char="•"/>
              <a:defRPr/>
            </a:pPr>
            <a:r>
              <a:rPr lang="de-DE" sz="16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Raw data storage</a:t>
            </a:r>
            <a:endParaRPr sz="1600">
              <a:solidFill>
                <a:schemeClr val="bg1"/>
              </a:solidFill>
            </a:endParaRPr>
          </a:p>
        </p:txBody>
      </p:sp>
      <p:sp>
        <p:nvSpPr>
          <p:cNvPr id="559458915" name="Text 4"/>
          <p:cNvSpPr/>
          <p:nvPr/>
        </p:nvSpPr>
        <p:spPr bwMode="auto">
          <a:xfrm>
            <a:off x="4057649" y="2524124"/>
            <a:ext cx="2746997" cy="6075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294893" indent="-294893">
              <a:lnSpc>
                <a:spcPct val="114999"/>
              </a:lnSpc>
              <a:buFont typeface="Arial"/>
              <a:buChar char="•"/>
              <a:defRPr/>
            </a:pPr>
            <a:r>
              <a:rPr lang="de-DE" sz="16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Cleanse data anomalies</a:t>
            </a:r>
            <a:endParaRPr sz="1600">
              <a:solidFill>
                <a:schemeClr val="bg1"/>
              </a:solidFill>
              <a:latin typeface="Poppins"/>
              <a:ea typeface="Poppins"/>
              <a:cs typeface="Poppins"/>
            </a:endParaRPr>
          </a:p>
          <a:p>
            <a:pPr marL="294893" indent="-294893">
              <a:lnSpc>
                <a:spcPct val="114999"/>
              </a:lnSpc>
              <a:buFont typeface="Arial"/>
              <a:buChar char="•"/>
              <a:defRPr/>
            </a:pPr>
            <a:r>
              <a:rPr lang="de-DE" sz="16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organize a data warehouse</a:t>
            </a:r>
            <a:endParaRPr sz="1600">
              <a:solidFill>
                <a:schemeClr val="bg1"/>
              </a:solidFill>
              <a:latin typeface="Poppins"/>
              <a:ea typeface="Poppins"/>
              <a:cs typeface="Poppins"/>
            </a:endParaRPr>
          </a:p>
          <a:p>
            <a:pPr marL="294893" indent="-294893">
              <a:lnSpc>
                <a:spcPct val="114999"/>
              </a:lnSpc>
              <a:buFont typeface="Arial"/>
              <a:buChar char="•"/>
              <a:defRPr/>
            </a:pPr>
            <a:r>
              <a:rPr lang="de-DE" sz="1600">
                <a:solidFill>
                  <a:schemeClr val="bg1"/>
                </a:solidFill>
                <a:latin typeface="Poppins"/>
                <a:ea typeface="Poppins"/>
                <a:cs typeface="Poppins"/>
              </a:rPr>
              <a:t>structure a layered schema</a:t>
            </a:r>
            <a:endParaRPr sz="1600">
              <a:solidFill>
                <a:schemeClr val="bg1"/>
              </a:solidFill>
            </a:endParaRPr>
          </a:p>
        </p:txBody>
      </p:sp>
      <p:sp>
        <p:nvSpPr>
          <p:cNvPr id="1928510885" name="Text 6"/>
          <p:cNvSpPr/>
          <p:nvPr/>
        </p:nvSpPr>
        <p:spPr bwMode="auto">
          <a:xfrm>
            <a:off x="1133474" y="3850481"/>
            <a:ext cx="2333817" cy="38986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3019"/>
              </a:lnSpc>
              <a:buNone/>
              <a:defRPr/>
            </a:pPr>
            <a:r>
              <a:rPr lang="de-DE" sz="1900" b="1">
                <a:solidFill>
                  <a:srgbClr val="F1C40F"/>
                </a:solidFill>
                <a:latin typeface="Poppins"/>
                <a:ea typeface="Poppins"/>
                <a:cs typeface="Poppins"/>
              </a:rPr>
              <a:t>Decision Dashboard</a:t>
            </a:r>
            <a:endParaRPr lang="en-US" sz="1900"/>
          </a:p>
        </p:txBody>
      </p:sp>
      <p:sp>
        <p:nvSpPr>
          <p:cNvPr id="1605000550" name="Text 7"/>
          <p:cNvSpPr/>
          <p:nvPr/>
        </p:nvSpPr>
        <p:spPr bwMode="auto">
          <a:xfrm>
            <a:off x="1200150" y="4431506"/>
            <a:ext cx="5563493" cy="5715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250"/>
              </a:lnSpc>
              <a:buNone/>
              <a:defRPr/>
            </a:pPr>
            <a:r>
              <a:rPr lang="en-US" sz="19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Compare average prices per night across</a:t>
            </a:r>
            <a:br>
              <a:rPr lang="en-US" sz="190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hotel classes (3★, 4★, 5★)</a:t>
            </a:r>
            <a:endParaRPr lang="en-US" sz="1900"/>
          </a:p>
        </p:txBody>
      </p:sp>
      <p:sp>
        <p:nvSpPr>
          <p:cNvPr id="613475624" name="Text 8"/>
          <p:cNvSpPr/>
          <p:nvPr/>
        </p:nvSpPr>
        <p:spPr bwMode="auto">
          <a:xfrm>
            <a:off x="1200150" y="5279231"/>
            <a:ext cx="5846415" cy="5715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250"/>
              </a:lnSpc>
              <a:buNone/>
              <a:defRPr/>
            </a:pPr>
            <a:r>
              <a:rPr lang="en-US" sz="19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Identify optimal booking horizons (weeks or</a:t>
            </a:r>
            <a:br>
              <a:rPr lang="en-US" sz="190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months in advance)</a:t>
            </a:r>
            <a:endParaRPr lang="en-US" sz="1900"/>
          </a:p>
        </p:txBody>
      </p:sp>
      <p:sp>
        <p:nvSpPr>
          <p:cNvPr id="1709794266" name="Text 9"/>
          <p:cNvSpPr/>
          <p:nvPr/>
        </p:nvSpPr>
        <p:spPr bwMode="auto">
          <a:xfrm flipH="0" flipV="0">
            <a:off x="1181099" y="6058346"/>
            <a:ext cx="5227990" cy="31908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13"/>
              </a:lnSpc>
              <a:buNone/>
              <a:defRPr/>
            </a:pPr>
            <a:r>
              <a:rPr lang="en-US" sz="19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Overview of hotel availability trends over time</a:t>
            </a:r>
            <a:endParaRPr lang="en-US" sz="1900"/>
          </a:p>
        </p:txBody>
      </p:sp>
      <p:sp>
        <p:nvSpPr>
          <p:cNvPr id="202035434" name=""/>
          <p:cNvSpPr/>
          <p:nvPr/>
        </p:nvSpPr>
        <p:spPr bwMode="auto">
          <a:xfrm rot="0" flipH="0" flipV="0">
            <a:off x="494722" y="1785576"/>
            <a:ext cx="2977717" cy="176597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839993128" name="Text 6"/>
          <p:cNvSpPr/>
          <p:nvPr/>
        </p:nvSpPr>
        <p:spPr bwMode="auto">
          <a:xfrm>
            <a:off x="929282" y="1845108"/>
            <a:ext cx="1663179" cy="3887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3018"/>
              </a:lnSpc>
              <a:buNone/>
              <a:defRPr/>
            </a:pPr>
            <a:r>
              <a:rPr lang="de-DE" sz="1900" b="1">
                <a:solidFill>
                  <a:srgbClr val="F1C40F"/>
                </a:solidFill>
                <a:latin typeface="Poppins"/>
                <a:ea typeface="Poppins"/>
                <a:cs typeface="Poppins"/>
              </a:rPr>
              <a:t>Fetch &amp; Ingest</a:t>
            </a:r>
            <a:endParaRPr lang="en-US" sz="1900"/>
          </a:p>
        </p:txBody>
      </p:sp>
      <p:sp>
        <p:nvSpPr>
          <p:cNvPr id="478669553" name="Text 6"/>
          <p:cNvSpPr/>
          <p:nvPr/>
        </p:nvSpPr>
        <p:spPr bwMode="auto">
          <a:xfrm>
            <a:off x="4289944" y="1845108"/>
            <a:ext cx="2119145" cy="3959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3018"/>
              </a:lnSpc>
              <a:buNone/>
              <a:defRPr/>
            </a:pPr>
            <a:r>
              <a:rPr lang="de-DE" sz="1900" b="1">
                <a:solidFill>
                  <a:srgbClr val="F1C40F"/>
                </a:solidFill>
                <a:latin typeface="Poppins"/>
                <a:ea typeface="Poppins"/>
                <a:cs typeface="Poppins"/>
              </a:rPr>
              <a:t>Transform &amp; Store</a:t>
            </a:r>
            <a:endParaRPr lang="en-US" sz="1900"/>
          </a:p>
        </p:txBody>
      </p:sp>
      <p:sp>
        <p:nvSpPr>
          <p:cNvPr id="1687350624" name=""/>
          <p:cNvSpPr/>
          <p:nvPr/>
        </p:nvSpPr>
        <p:spPr bwMode="auto">
          <a:xfrm rot="0" flipH="0" flipV="0">
            <a:off x="3902190" y="1785576"/>
            <a:ext cx="3144372" cy="176597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615319576" name=""/>
          <p:cNvSpPr/>
          <p:nvPr/>
        </p:nvSpPr>
        <p:spPr bwMode="auto">
          <a:xfrm rot="0" flipH="0" flipV="0">
            <a:off x="449378" y="3852618"/>
            <a:ext cx="6597186" cy="2779162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cxnSp>
        <p:nvCxnSpPr>
          <p:cNvPr id="964016760" name="Line 1822640676"/>
          <p:cNvCxnSpPr>
            <a:stCxn id="202035434" idx="3"/>
            <a:endCxn id="1687350624" idx="1"/>
          </p:cNvCxnSpPr>
          <p:nvPr/>
        </p:nvCxnSpPr>
        <p:spPr bwMode="auto">
          <a:xfrm rot="0" flipH="0" flipV="0">
            <a:off x="3474720" y="2670047"/>
            <a:ext cx="429750" cy="0"/>
          </a:xfrm>
          <a:prstGeom prst="line">
            <a:avLst/>
          </a:prstGeom>
          <a:ln w="28575" cap="flat" cmpd="sng" algn="ctr">
            <a:solidFill>
              <a:srgbClr val="5DA2EE"/>
            </a:solidFill>
            <a:prstDash val="solid"/>
            <a:miter lim="800000"/>
            <a:tailEnd type="arrow" w="med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2512970" name=""/>
          <p:cNvCxnSpPr>
            <a:stCxn id="1687350624" idx="2"/>
          </p:cNvCxnSpPr>
          <p:nvPr/>
        </p:nvCxnSpPr>
        <p:spPr bwMode="auto">
          <a:xfrm rot="5399977" flipH="0" flipV="1">
            <a:off x="5340095" y="3694176"/>
            <a:ext cx="277496" cy="0"/>
          </a:xfrm>
          <a:prstGeom prst="line">
            <a:avLst/>
          </a:prstGeom>
          <a:ln w="28575" cap="flat" cmpd="sng" algn="ctr">
            <a:solidFill>
              <a:srgbClr val="5DA2EE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6737834" name="Text 1"/>
          <p:cNvSpPr/>
          <p:nvPr/>
        </p:nvSpPr>
        <p:spPr bwMode="auto">
          <a:xfrm flipH="0" flipV="0">
            <a:off x="8240266" y="5050631"/>
            <a:ext cx="2795088" cy="22860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b" anchorCtr="0" forceAA="0" upright="0" compatLnSpc="0"/>
          <a:lstStyle/>
          <a:p>
            <a:pPr marL="0" indent="0" algn="ctr">
              <a:lnSpc>
                <a:spcPct val="100000"/>
              </a:lnSpc>
              <a:buNone/>
              <a:defRPr/>
            </a:pPr>
            <a:r>
              <a:rPr lang="de-DE" sz="8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Image shown above only serves as illustration,</a:t>
            </a:r>
            <a:endParaRPr lang="de-DE" sz="800" i="1">
              <a:solidFill>
                <a:srgbClr val="FFFFFF"/>
              </a:solidFill>
              <a:latin typeface="Poppins"/>
              <a:ea typeface="Poppins"/>
              <a:cs typeface="Poppins"/>
            </a:endParaRPr>
          </a:p>
          <a:p>
            <a:pPr marL="0" indent="0" algn="ctr">
              <a:lnSpc>
                <a:spcPct val="100000"/>
              </a:lnSpc>
              <a:buNone/>
              <a:defRPr/>
            </a:pPr>
            <a:r>
              <a:rPr lang="de-DE" sz="800" i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not the actual dashboard.</a:t>
            </a:r>
            <a:endParaRPr sz="800" i="1">
              <a:solidFill>
                <a:srgbClr val="FFFFFF"/>
              </a:solidFill>
              <a:latin typeface="Poppins"/>
              <a:ea typeface="Poppins"/>
              <a:cs typeface="Poppins"/>
            </a:endParaRPr>
          </a:p>
        </p:txBody>
      </p:sp>
      <p:sp>
        <p:nvSpPr>
          <p:cNvPr id="463469344" name=""/>
          <p:cNvSpPr/>
          <p:nvPr/>
        </p:nvSpPr>
        <p:spPr bwMode="auto">
          <a:xfrm rot="0" flipH="0" flipV="0">
            <a:off x="7626476" y="5623560"/>
            <a:ext cx="91440" cy="1005840"/>
          </a:xfrm>
          <a:prstGeom prst="rect">
            <a:avLst/>
          </a:prstGeom>
          <a:solidFill>
            <a:schemeClr val="accent1">
              <a:alpha val="49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7513735" name="Image 0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87918234" name="Image 1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1143357" y="3730675"/>
            <a:ext cx="572988" cy="534888"/>
          </a:xfrm>
          <a:prstGeom prst="rect">
            <a:avLst/>
          </a:prstGeom>
        </p:spPr>
      </p:pic>
      <p:pic>
        <p:nvPicPr>
          <p:cNvPr id="1978074832" name="Image 2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436275" y="4169569"/>
            <a:ext cx="572988" cy="479971"/>
          </a:xfrm>
          <a:prstGeom prst="rect">
            <a:avLst/>
          </a:prstGeom>
        </p:spPr>
      </p:pic>
      <p:pic>
        <p:nvPicPr>
          <p:cNvPr id="868114078" name="Image 3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10448479" y="3593455"/>
            <a:ext cx="597396" cy="438894"/>
          </a:xfrm>
          <a:prstGeom prst="rect">
            <a:avLst/>
          </a:prstGeom>
        </p:spPr>
      </p:pic>
      <p:pic>
        <p:nvPicPr>
          <p:cNvPr id="1295480249" name="Image 4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10058400" y="1131540"/>
            <a:ext cx="1609279" cy="1721346"/>
          </a:xfrm>
          <a:prstGeom prst="rect">
            <a:avLst/>
          </a:prstGeom>
        </p:spPr>
      </p:pic>
      <p:pic>
        <p:nvPicPr>
          <p:cNvPr id="1964845750" name="Image 5" descr="preencoded.png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6754267" y="4053036"/>
            <a:ext cx="451098" cy="425053"/>
          </a:xfrm>
          <a:prstGeom prst="rect">
            <a:avLst/>
          </a:prstGeom>
        </p:spPr>
      </p:pic>
      <p:pic>
        <p:nvPicPr>
          <p:cNvPr id="1864157314" name="Image 6" descr="preencoded.png"/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>
            <a:off x="6754267" y="3161407"/>
            <a:ext cx="451098" cy="438894"/>
          </a:xfrm>
          <a:prstGeom prst="rect">
            <a:avLst/>
          </a:prstGeom>
        </p:spPr>
      </p:pic>
      <p:pic>
        <p:nvPicPr>
          <p:cNvPr id="850720550" name="Image 7" descr="preencoded.png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>
            <a:off x="6754267" y="2249388"/>
            <a:ext cx="451098" cy="452586"/>
          </a:xfrm>
          <a:prstGeom prst="rect">
            <a:avLst/>
          </a:prstGeom>
        </p:spPr>
      </p:pic>
      <p:pic>
        <p:nvPicPr>
          <p:cNvPr id="613157985" name="Image 8" descr="preencoded.png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>
            <a:off x="4547592" y="4135338"/>
            <a:ext cx="572988" cy="562273"/>
          </a:xfrm>
          <a:prstGeom prst="rect">
            <a:avLst/>
          </a:prstGeom>
        </p:spPr>
      </p:pic>
      <p:pic>
        <p:nvPicPr>
          <p:cNvPr id="1665201916" name="Image 9" descr="preencoded.png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>
            <a:off x="5266879" y="3689598"/>
            <a:ext cx="548580" cy="575965"/>
          </a:xfrm>
          <a:prstGeom prst="rect">
            <a:avLst/>
          </a:prstGeom>
        </p:spPr>
      </p:pic>
      <p:pic>
        <p:nvPicPr>
          <p:cNvPr id="683323496" name="Image 10" descr="preencoded.png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>
            <a:off x="4449961" y="3518148"/>
            <a:ext cx="572988" cy="514350"/>
          </a:xfrm>
          <a:prstGeom prst="rect">
            <a:avLst/>
          </a:prstGeom>
        </p:spPr>
      </p:pic>
      <p:pic>
        <p:nvPicPr>
          <p:cNvPr id="107904654" name="Image 11" descr="preencoded.png"/>
          <p:cNvPicPr>
            <a:picLocks noChangeAspect="1"/>
          </p:cNvPicPr>
          <p:nvPr/>
        </p:nvPicPr>
        <p:blipFill>
          <a:blip r:embed="rId14"/>
          <a:stretch/>
        </p:blipFill>
        <p:spPr bwMode="auto">
          <a:xfrm>
            <a:off x="4510980" y="1200150"/>
            <a:ext cx="1316682" cy="1330375"/>
          </a:xfrm>
          <a:prstGeom prst="rect">
            <a:avLst/>
          </a:prstGeom>
        </p:spPr>
      </p:pic>
      <p:pic>
        <p:nvPicPr>
          <p:cNvPr id="855383998" name="Image 12" descr="preencoded.png"/>
          <p:cNvPicPr>
            <a:picLocks noChangeAspect="1"/>
          </p:cNvPicPr>
          <p:nvPr/>
        </p:nvPicPr>
        <p:blipFill>
          <a:blip r:embed="rId15"/>
          <a:stretch/>
        </p:blipFill>
        <p:spPr bwMode="auto">
          <a:xfrm>
            <a:off x="767953" y="4053036"/>
            <a:ext cx="463153" cy="425053"/>
          </a:xfrm>
          <a:prstGeom prst="rect">
            <a:avLst/>
          </a:prstGeom>
        </p:spPr>
      </p:pic>
      <p:pic>
        <p:nvPicPr>
          <p:cNvPr id="602289635" name="Image 13" descr="preencoded.png"/>
          <p:cNvPicPr>
            <a:picLocks noChangeAspect="1"/>
          </p:cNvPicPr>
          <p:nvPr/>
        </p:nvPicPr>
        <p:blipFill>
          <a:blip r:embed="rId16"/>
          <a:stretch/>
        </p:blipFill>
        <p:spPr bwMode="auto">
          <a:xfrm>
            <a:off x="767953" y="3161407"/>
            <a:ext cx="451098" cy="438894"/>
          </a:xfrm>
          <a:prstGeom prst="rect">
            <a:avLst/>
          </a:prstGeom>
        </p:spPr>
      </p:pic>
      <p:pic>
        <p:nvPicPr>
          <p:cNvPr id="1123498265" name="Image 14" descr="preencoded.png"/>
          <p:cNvPicPr>
            <a:picLocks noChangeAspect="1"/>
          </p:cNvPicPr>
          <p:nvPr/>
        </p:nvPicPr>
        <p:blipFill>
          <a:blip r:embed="rId17"/>
          <a:stretch/>
        </p:blipFill>
        <p:spPr bwMode="auto">
          <a:xfrm>
            <a:off x="767953" y="2269927"/>
            <a:ext cx="463153" cy="445740"/>
          </a:xfrm>
          <a:prstGeom prst="rect">
            <a:avLst/>
          </a:prstGeom>
        </p:spPr>
      </p:pic>
      <p:sp>
        <p:nvSpPr>
          <p:cNvPr id="439791458" name="Text 0"/>
          <p:cNvSpPr/>
          <p:nvPr/>
        </p:nvSpPr>
        <p:spPr bwMode="auto">
          <a:xfrm>
            <a:off x="2287860" y="409575"/>
            <a:ext cx="8001000" cy="5715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4500"/>
              </a:lnSpc>
              <a:buNone/>
              <a:defRPr/>
            </a:pPr>
            <a:r>
              <a:rPr lang="en-US" sz="375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Project Impact</a:t>
            </a:r>
            <a:endParaRPr lang="en-US" sz="3750"/>
          </a:p>
        </p:txBody>
      </p:sp>
      <p:sp>
        <p:nvSpPr>
          <p:cNvPr id="572361518" name="Text 1"/>
          <p:cNvSpPr/>
          <p:nvPr/>
        </p:nvSpPr>
        <p:spPr bwMode="auto">
          <a:xfrm>
            <a:off x="771525" y="1485900"/>
            <a:ext cx="4309110" cy="35912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828"/>
              </a:lnSpc>
              <a:buNone/>
              <a:defRPr/>
            </a:pPr>
            <a:r>
              <a:rPr lang="en-US" sz="2200" b="1">
                <a:solidFill>
                  <a:srgbClr val="F0B563"/>
                </a:solidFill>
                <a:latin typeface="Poppins"/>
                <a:ea typeface="Poppins"/>
                <a:cs typeface="Poppins"/>
              </a:rPr>
              <a:t>For Customers</a:t>
            </a:r>
            <a:endParaRPr lang="en-US" sz="2200"/>
          </a:p>
        </p:txBody>
      </p:sp>
      <p:sp>
        <p:nvSpPr>
          <p:cNvPr id="1048137496" name="Text 2"/>
          <p:cNvSpPr/>
          <p:nvPr/>
        </p:nvSpPr>
        <p:spPr bwMode="auto">
          <a:xfrm>
            <a:off x="6686550" y="1485900"/>
            <a:ext cx="5634990" cy="35912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828"/>
              </a:lnSpc>
              <a:buNone/>
              <a:defRPr/>
            </a:pPr>
            <a:r>
              <a:rPr lang="en-US" sz="2200" b="1">
                <a:solidFill>
                  <a:srgbClr val="F0B563"/>
                </a:solidFill>
                <a:latin typeface="Poppins"/>
                <a:ea typeface="Poppins"/>
                <a:cs typeface="Poppins"/>
              </a:rPr>
              <a:t>For Travel Agency</a:t>
            </a:r>
            <a:endParaRPr lang="en-US" sz="2200"/>
          </a:p>
        </p:txBody>
      </p:sp>
      <p:sp>
        <p:nvSpPr>
          <p:cNvPr id="1027763830" name="Text 3"/>
          <p:cNvSpPr/>
          <p:nvPr/>
        </p:nvSpPr>
        <p:spPr bwMode="auto">
          <a:xfrm>
            <a:off x="3809033" y="5162550"/>
            <a:ext cx="4800600" cy="34677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2730"/>
              </a:lnSpc>
              <a:buNone/>
              <a:defRPr/>
            </a:pPr>
            <a:r>
              <a:rPr lang="en-US" sz="2100" b="1">
                <a:solidFill>
                  <a:srgbClr val="F0B563"/>
                </a:solidFill>
                <a:latin typeface="Poppins"/>
                <a:ea typeface="Poppins"/>
                <a:cs typeface="Poppins"/>
              </a:rPr>
              <a:t>Sample Insights</a:t>
            </a:r>
            <a:endParaRPr lang="en-US" sz="2100"/>
          </a:p>
        </p:txBody>
      </p:sp>
      <p:sp>
        <p:nvSpPr>
          <p:cNvPr id="1302130760" name="Text 4"/>
          <p:cNvSpPr/>
          <p:nvPr/>
        </p:nvSpPr>
        <p:spPr bwMode="auto">
          <a:xfrm>
            <a:off x="1447800" y="2200275"/>
            <a:ext cx="3677543" cy="5944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340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Make informed decisions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based on real data</a:t>
            </a:r>
            <a:endParaRPr lang="en-US" sz="1950"/>
          </a:p>
        </p:txBody>
      </p:sp>
      <p:sp>
        <p:nvSpPr>
          <p:cNvPr id="1593371455" name="Text 5"/>
          <p:cNvSpPr/>
          <p:nvPr/>
        </p:nvSpPr>
        <p:spPr bwMode="auto">
          <a:xfrm>
            <a:off x="1447800" y="3067050"/>
            <a:ext cx="3300413" cy="5944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340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Find optimal timing for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booking</a:t>
            </a:r>
            <a:endParaRPr lang="en-US" sz="1950"/>
          </a:p>
        </p:txBody>
      </p:sp>
      <p:sp>
        <p:nvSpPr>
          <p:cNvPr id="591639096" name="Text 6"/>
          <p:cNvSpPr/>
          <p:nvPr/>
        </p:nvSpPr>
        <p:spPr bwMode="auto">
          <a:xfrm>
            <a:off x="1447800" y="3943350"/>
            <a:ext cx="3038475" cy="5944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340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Avoid overpaying for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accommodations</a:t>
            </a:r>
            <a:endParaRPr lang="en-US" sz="1950"/>
          </a:p>
        </p:txBody>
      </p:sp>
      <p:sp>
        <p:nvSpPr>
          <p:cNvPr id="1184535693" name="Text 7"/>
          <p:cNvSpPr/>
          <p:nvPr/>
        </p:nvSpPr>
        <p:spPr bwMode="auto">
          <a:xfrm>
            <a:off x="7362825" y="2200275"/>
            <a:ext cx="2367855" cy="5944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340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Reduce manual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research effort</a:t>
            </a:r>
            <a:endParaRPr lang="en-US" sz="1950"/>
          </a:p>
        </p:txBody>
      </p:sp>
      <p:sp>
        <p:nvSpPr>
          <p:cNvPr id="1299209536" name="Text 8"/>
          <p:cNvSpPr/>
          <p:nvPr/>
        </p:nvSpPr>
        <p:spPr bwMode="auto">
          <a:xfrm>
            <a:off x="7362825" y="3067050"/>
            <a:ext cx="3604171" cy="5944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340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Improve pricing strategy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accuracy</a:t>
            </a:r>
            <a:endParaRPr lang="en-US" sz="1950"/>
          </a:p>
        </p:txBody>
      </p:sp>
      <p:sp>
        <p:nvSpPr>
          <p:cNvPr id="175796766" name="Text 9"/>
          <p:cNvSpPr/>
          <p:nvPr/>
        </p:nvSpPr>
        <p:spPr bwMode="auto">
          <a:xfrm>
            <a:off x="7362825" y="3943350"/>
            <a:ext cx="2902148" cy="5944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>
              <a:lnSpc>
                <a:spcPts val="2340"/>
              </a:lnSpc>
              <a:buNone/>
              <a:defRPr/>
            </a:pP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Deliver data-driven</a:t>
            </a:r>
            <a:b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9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recommendations</a:t>
            </a:r>
            <a:endParaRPr lang="en-US" sz="1950"/>
          </a:p>
        </p:txBody>
      </p:sp>
      <p:sp>
        <p:nvSpPr>
          <p:cNvPr id="1941729796" name="Text 10"/>
          <p:cNvSpPr/>
          <p:nvPr/>
        </p:nvSpPr>
        <p:spPr bwMode="auto">
          <a:xfrm>
            <a:off x="2057400" y="5600700"/>
            <a:ext cx="9042053" cy="744736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2933"/>
              </a:lnSpc>
              <a:buNone/>
              <a:defRPr/>
            </a:pPr>
            <a:r>
              <a:rPr lang="en-US" sz="17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4-star hotels can be cheaper than 3-star hotels in last-minute scenarios</a:t>
            </a:r>
            <a:br>
              <a:rPr lang="en-US" sz="1750">
                <a:solidFill>
                  <a:srgbClr val="FFFFFF"/>
                </a:solidFill>
                <a:latin typeface="Poppins"/>
                <a:ea typeface="Poppins"/>
                <a:cs typeface="Poppins"/>
              </a:rPr>
            </a:br>
            <a:r>
              <a:rPr lang="en-US" sz="17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Prices can rise up to 20× higher during peak seasons</a:t>
            </a:r>
            <a:endParaRPr lang="en-US" sz="17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1441867" name=""/>
          <p:cNvSpPr/>
          <p:nvPr/>
        </p:nvSpPr>
        <p:spPr bwMode="auto">
          <a:xfrm flipH="0" flipV="0">
            <a:off x="8936382" y="4117107"/>
            <a:ext cx="2446965" cy="959186"/>
          </a:xfrm>
          <a:prstGeom prst="rect">
            <a:avLst/>
          </a:prstGeom>
          <a:solidFill>
            <a:schemeClr val="bg1"/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1752820" name=""/>
          <p:cNvSpPr/>
          <p:nvPr/>
        </p:nvSpPr>
        <p:spPr bwMode="auto">
          <a:xfrm flipH="0" flipV="0">
            <a:off x="232369" y="1731084"/>
            <a:ext cx="3911980" cy="2724530"/>
          </a:xfrm>
          <a:prstGeom prst="rect">
            <a:avLst/>
          </a:prstGeom>
          <a:solidFill>
            <a:schemeClr val="bg1"/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31857333" name=""/>
          <p:cNvSpPr/>
          <p:nvPr/>
        </p:nvSpPr>
        <p:spPr bwMode="auto">
          <a:xfrm flipH="0" flipV="0">
            <a:off x="225733" y="438149"/>
            <a:ext cx="3918615" cy="1108813"/>
          </a:xfrm>
          <a:prstGeom prst="rect">
            <a:avLst/>
          </a:prstGeom>
          <a:solidFill>
            <a:schemeClr val="bg1">
              <a:alpha val="99999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28618584" name=""/>
          <p:cNvSpPr/>
          <p:nvPr/>
        </p:nvSpPr>
        <p:spPr bwMode="auto">
          <a:xfrm flipH="0" flipV="0">
            <a:off x="8936382" y="1897856"/>
            <a:ext cx="2446966" cy="1152228"/>
          </a:xfrm>
          <a:prstGeom prst="rect">
            <a:avLst/>
          </a:prstGeom>
          <a:solidFill>
            <a:schemeClr val="bg1"/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53284262" name=""/>
          <p:cNvSpPr/>
          <p:nvPr/>
        </p:nvSpPr>
        <p:spPr bwMode="auto">
          <a:xfrm flipH="0" flipV="0">
            <a:off x="956005" y="5388176"/>
            <a:ext cx="3200400" cy="738778"/>
          </a:xfrm>
          <a:prstGeom prst="rect">
            <a:avLst/>
          </a:prstGeom>
          <a:solidFill>
            <a:schemeClr val="bg1"/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9209733" name=""/>
          <p:cNvSpPr/>
          <p:nvPr/>
        </p:nvSpPr>
        <p:spPr bwMode="auto">
          <a:xfrm flipH="0" flipV="0">
            <a:off x="4868249" y="1897856"/>
            <a:ext cx="3324223" cy="2170872"/>
          </a:xfrm>
          <a:prstGeom prst="rect">
            <a:avLst/>
          </a:prstGeom>
          <a:solidFill>
            <a:schemeClr val="bg1"/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0334994" name=""/>
          <p:cNvSpPr/>
          <p:nvPr/>
        </p:nvSpPr>
        <p:spPr bwMode="auto">
          <a:xfrm flipH="0" flipV="0">
            <a:off x="956005" y="4693739"/>
            <a:ext cx="3200400" cy="503997"/>
          </a:xfrm>
          <a:prstGeom prst="rect">
            <a:avLst/>
          </a:prstGeom>
          <a:solidFill>
            <a:schemeClr val="bg1"/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82642533" name=""/>
          <p:cNvSpPr/>
          <p:nvPr/>
        </p:nvSpPr>
        <p:spPr bwMode="auto">
          <a:xfrm flipH="0" flipV="0">
            <a:off x="4868249" y="4600575"/>
            <a:ext cx="3324223" cy="1557337"/>
          </a:xfrm>
          <a:prstGeom prst="rect">
            <a:avLst/>
          </a:prstGeom>
          <a:solidFill>
            <a:schemeClr val="bg1"/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1481300" name=""/>
          <p:cNvSpPr txBox="1"/>
          <p:nvPr/>
        </p:nvSpPr>
        <p:spPr bwMode="auto">
          <a:xfrm flipH="0" flipV="0">
            <a:off x="3690727" y="763849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868156367" name="Text 0"/>
          <p:cNvSpPr/>
          <p:nvPr/>
        </p:nvSpPr>
        <p:spPr bwMode="auto">
          <a:xfrm flipH="0" flipV="0">
            <a:off x="4582114" y="512067"/>
            <a:ext cx="6848859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5"/>
              </a:lnSpc>
              <a:buNone/>
              <a:defRPr/>
            </a:pPr>
            <a:r>
              <a:rPr lang="de-DE" sz="4800" b="0" spc="-124">
                <a:solidFill>
                  <a:srgbClr val="5DA2EE"/>
                </a:solidFill>
                <a:latin typeface="Yu Gothic UI Semibold"/>
                <a:ea typeface="Yu Gothic UI Semibold"/>
                <a:cs typeface="Yu Gothic UI Semibold"/>
              </a:rPr>
              <a:t>Architecture Overview</a:t>
            </a:r>
            <a:endParaRPr sz="4800" b="0">
              <a:solidFill>
                <a:srgbClr val="5DA2EE"/>
              </a:solidFill>
              <a:latin typeface="Yu Gothic UI Semibold"/>
              <a:cs typeface="Yu Gothic UI Semibold"/>
            </a:endParaRPr>
          </a:p>
        </p:txBody>
      </p:sp>
      <p:pic>
        <p:nvPicPr>
          <p:cNvPr id="14441645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09984" y="4342869"/>
            <a:ext cx="1181099" cy="1181099"/>
          </a:xfrm>
          <a:prstGeom prst="rect">
            <a:avLst/>
          </a:prstGeom>
        </p:spPr>
      </p:pic>
      <p:pic>
        <p:nvPicPr>
          <p:cNvPr id="8956990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9073542" y="3984657"/>
            <a:ext cx="786299" cy="786299"/>
          </a:xfrm>
          <a:prstGeom prst="rect">
            <a:avLst/>
          </a:prstGeom>
        </p:spPr>
      </p:pic>
      <p:pic>
        <p:nvPicPr>
          <p:cNvPr id="6413591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105234" y="5525336"/>
            <a:ext cx="429217" cy="429217"/>
          </a:xfrm>
          <a:prstGeom prst="rect">
            <a:avLst/>
          </a:prstGeom>
        </p:spPr>
      </p:pic>
      <p:pic>
        <p:nvPicPr>
          <p:cNvPr id="1608359025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012477" y="1996554"/>
            <a:ext cx="413758" cy="413758"/>
          </a:xfrm>
          <a:prstGeom prst="rect">
            <a:avLst/>
          </a:prstGeom>
        </p:spPr>
      </p:pic>
      <p:pic>
        <p:nvPicPr>
          <p:cNvPr id="1898158415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4864789" y="4379118"/>
            <a:ext cx="1129978" cy="938212"/>
          </a:xfrm>
          <a:prstGeom prst="rect">
            <a:avLst/>
          </a:prstGeom>
        </p:spPr>
      </p:pic>
      <p:pic>
        <p:nvPicPr>
          <p:cNvPr id="1735912331" name="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 flipH="0" flipV="0">
            <a:off x="9080831" y="1663179"/>
            <a:ext cx="931365" cy="931365"/>
          </a:xfrm>
          <a:prstGeom prst="rect">
            <a:avLst/>
          </a:prstGeom>
        </p:spPr>
      </p:pic>
      <p:pic>
        <p:nvPicPr>
          <p:cNvPr id="1353661774" name=""/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 flipH="0" flipV="0">
            <a:off x="367343" y="1668960"/>
            <a:ext cx="1099448" cy="1099448"/>
          </a:xfrm>
          <a:prstGeom prst="rect">
            <a:avLst/>
          </a:prstGeom>
        </p:spPr>
      </p:pic>
      <p:pic>
        <p:nvPicPr>
          <p:cNvPr id="673860016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275002" y="554758"/>
            <a:ext cx="1232769" cy="747132"/>
          </a:xfrm>
          <a:prstGeom prst="rect">
            <a:avLst/>
          </a:prstGeom>
        </p:spPr>
      </p:pic>
      <p:pic>
        <p:nvPicPr>
          <p:cNvPr id="1392496311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flipH="0" flipV="0">
            <a:off x="5426235" y="5171587"/>
            <a:ext cx="352912" cy="352912"/>
          </a:xfrm>
          <a:prstGeom prst="rect">
            <a:avLst/>
          </a:prstGeom>
        </p:spPr>
      </p:pic>
      <p:pic>
        <p:nvPicPr>
          <p:cNvPr id="1759177604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flipH="0" flipV="0">
            <a:off x="5429779" y="5691187"/>
            <a:ext cx="352912" cy="352912"/>
          </a:xfrm>
          <a:prstGeom prst="rect">
            <a:avLst/>
          </a:prstGeom>
        </p:spPr>
      </p:pic>
      <p:sp>
        <p:nvSpPr>
          <p:cNvPr id="48605309" name=""/>
          <p:cNvSpPr txBox="1"/>
          <p:nvPr/>
        </p:nvSpPr>
        <p:spPr bwMode="auto">
          <a:xfrm flipH="0" flipV="0">
            <a:off x="5792175" y="5171587"/>
            <a:ext cx="182675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create </a:t>
            </a:r>
            <a:r>
              <a:rPr lang="de-DE">
                <a:solidFill>
                  <a:schemeClr val="tx1">
                    <a:lumMod val="50000"/>
                    <a:lumOff val="50000"/>
                  </a:schemeClr>
                </a:solidFill>
              </a:rPr>
              <a:t>silver layer</a:t>
            </a:r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95586337" name=""/>
          <p:cNvSpPr txBox="1"/>
          <p:nvPr/>
        </p:nvSpPr>
        <p:spPr bwMode="auto">
          <a:xfrm flipH="0" flipV="0">
            <a:off x="5782691" y="5677979"/>
            <a:ext cx="1736455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create </a:t>
            </a:r>
            <a:r>
              <a:rPr lang="de-DE">
                <a:solidFill>
                  <a:srgbClr val="D4A017"/>
                </a:solidFill>
              </a:rPr>
              <a:t>gold layer</a:t>
            </a:r>
            <a:endParaRPr>
              <a:solidFill>
                <a:srgbClr val="D4A017"/>
              </a:solidFill>
            </a:endParaRPr>
          </a:p>
        </p:txBody>
      </p:sp>
      <p:sp>
        <p:nvSpPr>
          <p:cNvPr id="271551834" name=""/>
          <p:cNvSpPr txBox="1"/>
          <p:nvPr/>
        </p:nvSpPr>
        <p:spPr bwMode="auto">
          <a:xfrm flipH="0" flipV="0">
            <a:off x="2238709" y="4750359"/>
            <a:ext cx="1795162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>
                <a:solidFill>
                  <a:srgbClr val="01A81D"/>
                </a:solidFill>
              </a:rPr>
              <a:t>scrape </a:t>
            </a:r>
            <a:r>
              <a:rPr lang="de-DE">
                <a:solidFill>
                  <a:schemeClr val="tx1"/>
                </a:solidFill>
              </a:rPr>
              <a:t>hotel data</a:t>
            </a:r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2456244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flipH="0" flipV="0">
            <a:off x="5467349" y="3508408"/>
            <a:ext cx="324824" cy="324824"/>
          </a:xfrm>
          <a:prstGeom prst="rect">
            <a:avLst/>
          </a:prstGeom>
        </p:spPr>
      </p:pic>
      <p:pic>
        <p:nvPicPr>
          <p:cNvPr id="1926562789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465153" y="3121353"/>
            <a:ext cx="313994" cy="313994"/>
          </a:xfrm>
          <a:prstGeom prst="rect">
            <a:avLst/>
          </a:prstGeom>
        </p:spPr>
      </p:pic>
      <p:sp>
        <p:nvSpPr>
          <p:cNvPr id="1967816954" name=""/>
          <p:cNvSpPr txBox="1"/>
          <p:nvPr/>
        </p:nvSpPr>
        <p:spPr bwMode="auto">
          <a:xfrm flipH="0" flipV="0">
            <a:off x="5994768" y="3064964"/>
            <a:ext cx="168388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prepare </a:t>
            </a:r>
            <a:r>
              <a:rPr lang="de-DE">
                <a:solidFill>
                  <a:srgbClr val="5DA2EE"/>
                </a:solidFill>
              </a:rPr>
              <a:t>schema</a:t>
            </a:r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50242298" name=""/>
          <p:cNvSpPr txBox="1"/>
          <p:nvPr/>
        </p:nvSpPr>
        <p:spPr bwMode="auto">
          <a:xfrm flipH="0" flipV="0">
            <a:off x="5986469" y="3488234"/>
            <a:ext cx="153364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prepare </a:t>
            </a:r>
            <a:r>
              <a:rPr lang="de-DE">
                <a:solidFill>
                  <a:srgbClr val="01A81D"/>
                </a:solidFill>
              </a:rPr>
              <a:t>tables</a:t>
            </a:r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77876050" name=""/>
          <p:cNvSpPr txBox="1"/>
          <p:nvPr/>
        </p:nvSpPr>
        <p:spPr bwMode="auto">
          <a:xfrm flipH="0" flipV="0">
            <a:off x="5465153" y="1996554"/>
            <a:ext cx="124421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PostgreSQL</a:t>
            </a:r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7486922" name=""/>
          <p:cNvSpPr txBox="1"/>
          <p:nvPr/>
        </p:nvSpPr>
        <p:spPr bwMode="auto">
          <a:xfrm flipH="0" flipV="0">
            <a:off x="1581484" y="5419724"/>
            <a:ext cx="1914818" cy="722735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bring </a:t>
            </a:r>
            <a:r>
              <a:rPr lang="de-DE">
                <a:solidFill>
                  <a:srgbClr val="0277BD"/>
                </a:solidFill>
              </a:rPr>
              <a:t>hotel data</a:t>
            </a:r>
            <a:r>
              <a:rPr lang="de-DE">
                <a:solidFill>
                  <a:schemeClr val="tx1"/>
                </a:solidFill>
              </a:rPr>
              <a:t> to</a:t>
            </a:r>
            <a:endParaRPr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accent2">
                    <a:lumMod val="50000"/>
                  </a:schemeClr>
                </a:solidFill>
              </a:rPr>
              <a:t>data warehouse</a:t>
            </a:r>
            <a:endParaRPr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01658379" name=""/>
          <p:cNvPicPr>
            <a:picLocks noChangeAspect="1"/>
          </p:cNvPicPr>
          <p:nvPr/>
        </p:nvPicPr>
        <p:blipFill>
          <a:blip r:embed="rId14"/>
          <a:stretch/>
        </p:blipFill>
        <p:spPr bwMode="auto">
          <a:xfrm flipH="0" flipV="0">
            <a:off x="5426235" y="2651951"/>
            <a:ext cx="398133" cy="398133"/>
          </a:xfrm>
          <a:prstGeom prst="rect">
            <a:avLst/>
          </a:prstGeom>
        </p:spPr>
      </p:pic>
      <p:sp>
        <p:nvSpPr>
          <p:cNvPr id="968157118" name=""/>
          <p:cNvSpPr txBox="1"/>
          <p:nvPr/>
        </p:nvSpPr>
        <p:spPr bwMode="auto">
          <a:xfrm flipH="0" flipV="0">
            <a:off x="5992008" y="2683964"/>
            <a:ext cx="200211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/>
              <a:t>prepare </a:t>
            </a:r>
            <a:r>
              <a:rPr lang="de-DE">
                <a:solidFill>
                  <a:schemeClr val="accent2">
                    <a:lumMod val="50000"/>
                  </a:schemeClr>
                </a:solidFill>
              </a:rPr>
              <a:t>warehouse</a:t>
            </a:r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315496214" name=""/>
          <p:cNvCxnSpPr>
            <a:stCxn id="1153284262" idx="3"/>
            <a:endCxn id="1009209733" idx="1"/>
          </p:cNvCxnSpPr>
          <p:nvPr/>
        </p:nvCxnSpPr>
        <p:spPr bwMode="auto">
          <a:xfrm rot="0" flipH="0" flipV="1">
            <a:off x="4156405" y="2983292"/>
            <a:ext cx="711843" cy="2774273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rgbClr val="5DA2EE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832952" name=""/>
          <p:cNvCxnSpPr>
            <a:endCxn id="982642533" idx="0"/>
          </p:cNvCxnSpPr>
          <p:nvPr/>
        </p:nvCxnSpPr>
        <p:spPr bwMode="auto">
          <a:xfrm rot="5399977" flipH="0" flipV="0">
            <a:off x="6288252" y="4310839"/>
            <a:ext cx="484220" cy="0"/>
          </a:xfrm>
          <a:prstGeom prst="line">
            <a:avLst/>
          </a:prstGeom>
          <a:ln w="28575" cap="flat" cmpd="sng" algn="ctr">
            <a:solidFill>
              <a:srgbClr val="5DA2EE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0231976" name=""/>
          <p:cNvCxnSpPr>
            <a:stCxn id="1320334994" idx="2"/>
            <a:endCxn id="67486922" idx="0"/>
          </p:cNvCxnSpPr>
          <p:nvPr/>
        </p:nvCxnSpPr>
        <p:spPr bwMode="auto">
          <a:xfrm rot="5399977" flipH="0" flipV="0">
            <a:off x="2436556" y="5308731"/>
            <a:ext cx="221986" cy="0"/>
          </a:xfrm>
          <a:prstGeom prst="line">
            <a:avLst/>
          </a:prstGeom>
          <a:ln w="28575" cap="flat" cmpd="sng" algn="ctr">
            <a:solidFill>
              <a:srgbClr val="5DA2EE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1078106" name=""/>
          <p:cNvSpPr txBox="1"/>
          <p:nvPr/>
        </p:nvSpPr>
        <p:spPr bwMode="auto">
          <a:xfrm flipH="0" flipV="0">
            <a:off x="9220983" y="2283797"/>
            <a:ext cx="2088273" cy="722735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lnSpc>
                <a:spcPct val="114999"/>
              </a:lnSpc>
              <a:defRPr/>
            </a:pPr>
            <a:r>
              <a:rPr lang="de-DE"/>
              <a:t>push data from local</a:t>
            </a:r>
            <a:endParaRPr lang="de-DE"/>
          </a:p>
          <a:p>
            <a:pPr>
              <a:lnSpc>
                <a:spcPct val="114999"/>
              </a:lnSpc>
              <a:defRPr/>
            </a:pPr>
            <a:r>
              <a:rPr lang="de-DE"/>
              <a:t>to </a:t>
            </a:r>
            <a:r>
              <a:rPr lang="de-DE">
                <a:solidFill>
                  <a:srgbClr val="30D5B8"/>
                </a:solidFill>
              </a:rPr>
              <a:t>cloud database</a:t>
            </a:r>
            <a:endParaRPr>
              <a:solidFill>
                <a:srgbClr val="30D5B8"/>
              </a:solidFill>
            </a:endParaRPr>
          </a:p>
        </p:txBody>
      </p:sp>
      <p:cxnSp>
        <p:nvCxnSpPr>
          <p:cNvPr id="931935942" name=""/>
          <p:cNvCxnSpPr>
            <a:stCxn id="982642533" idx="3"/>
            <a:endCxn id="728618584" idx="1"/>
          </p:cNvCxnSpPr>
          <p:nvPr/>
        </p:nvCxnSpPr>
        <p:spPr bwMode="auto">
          <a:xfrm rot="0" flipH="0" flipV="1">
            <a:off x="8192475" y="2473970"/>
            <a:ext cx="743907" cy="2905272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rgbClr val="599AE3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4801260" name=""/>
          <p:cNvSpPr txBox="1"/>
          <p:nvPr/>
        </p:nvSpPr>
        <p:spPr bwMode="auto">
          <a:xfrm flipH="0" flipV="0">
            <a:off x="1676734" y="508759"/>
            <a:ext cx="2256601" cy="1038203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install </a:t>
            </a:r>
            <a:r>
              <a:rPr lang="de-DE">
                <a:solidFill>
                  <a:srgbClr val="2560FF"/>
                </a:solidFill>
              </a:rPr>
              <a:t>tools</a:t>
            </a:r>
            <a:r>
              <a:rPr lang="de-DE">
                <a:solidFill>
                  <a:schemeClr val="tx1"/>
                </a:solidFill>
              </a:rPr>
              <a:t> </a:t>
            </a:r>
            <a:r>
              <a:rPr lang="de-DE">
                <a:solidFill>
                  <a:srgbClr val="2560FF"/>
                </a:solidFill>
              </a:rPr>
              <a:t>&amp; libraries</a:t>
            </a:r>
            <a:endParaRPr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/>
              <a:t>build </a:t>
            </a:r>
            <a:r>
              <a:rPr lang="de-DE">
                <a:solidFill>
                  <a:srgbClr val="2560FF"/>
                </a:solidFill>
              </a:rPr>
              <a:t>environment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run </a:t>
            </a:r>
            <a:r>
              <a:rPr lang="de-DE">
                <a:solidFill>
                  <a:srgbClr val="2560FF"/>
                </a:solidFill>
              </a:rPr>
              <a:t>airflow</a:t>
            </a:r>
            <a:endParaRPr lang="de-DE">
              <a:solidFill>
                <a:srgbClr val="2560FF"/>
              </a:solidFill>
            </a:endParaRPr>
          </a:p>
        </p:txBody>
      </p:sp>
      <p:sp>
        <p:nvSpPr>
          <p:cNvPr id="603658425" name=""/>
          <p:cNvSpPr txBox="1"/>
          <p:nvPr/>
        </p:nvSpPr>
        <p:spPr bwMode="auto">
          <a:xfrm flipH="0" flipV="0">
            <a:off x="1697271" y="1788644"/>
            <a:ext cx="2353520" cy="29309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lnSpc>
                <a:spcPct val="114999"/>
              </a:lnSpc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 </a:t>
            </a:r>
            <a:r>
              <a:rPr lang="de-DE" sz="1800" b="0" i="0" u="none" strike="noStrike" cap="none" spc="0">
                <a:solidFill>
                  <a:srgbClr val="01A81D"/>
                </a:solidFill>
                <a:latin typeface="+mn-lt"/>
                <a:ea typeface="+mn-ea"/>
                <a:cs typeface="+mn-cs"/>
              </a:rPr>
              <a:t>selenium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run </a:t>
            </a:r>
            <a:r>
              <a:rPr lang="de-DE">
                <a:solidFill>
                  <a:srgbClr val="0277BD"/>
                </a:solidFill>
              </a:rPr>
              <a:t>python </a:t>
            </a:r>
            <a:r>
              <a:rPr lang="de-DE">
                <a:solidFill>
                  <a:srgbClr val="843C0B"/>
                </a:solidFill>
              </a:rPr>
              <a:t>scripts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run </a:t>
            </a:r>
            <a:r>
              <a:rPr lang="de-DE">
                <a:solidFill>
                  <a:srgbClr val="336791"/>
                </a:solidFill>
              </a:rPr>
              <a:t>SQL queries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run </a:t>
            </a:r>
            <a:r>
              <a:rPr lang="de-DE">
                <a:solidFill>
                  <a:srgbClr val="FF6848"/>
                </a:solidFill>
              </a:rPr>
              <a:t>dbt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schedule </a:t>
            </a:r>
            <a:r>
              <a:rPr lang="de-DE">
                <a:solidFill>
                  <a:srgbClr val="E33920"/>
                </a:solidFill>
              </a:rPr>
              <a:t>tasks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manage </a:t>
            </a:r>
            <a:r>
              <a:rPr lang="de-DE">
                <a:solidFill>
                  <a:srgbClr val="2560FF"/>
                </a:solidFill>
              </a:rPr>
              <a:t>dependencies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manage </a:t>
            </a:r>
            <a:r>
              <a:rPr lang="de-DE">
                <a:solidFill>
                  <a:srgbClr val="00C7D4"/>
                </a:solidFill>
              </a:rPr>
              <a:t>workflow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r>
              <a:rPr lang="de-DE">
                <a:solidFill>
                  <a:schemeClr val="tx1"/>
                </a:solidFill>
              </a:rPr>
              <a:t>monitoring &amp; alerting</a:t>
            </a:r>
            <a:endParaRPr lang="de-DE">
              <a:solidFill>
                <a:schemeClr val="tx1"/>
              </a:solidFill>
            </a:endParaRPr>
          </a:p>
          <a:p>
            <a:pPr>
              <a:lnSpc>
                <a:spcPct val="114999"/>
              </a:lnSpc>
              <a:defRPr/>
            </a:pPr>
            <a:endParaRPr lang="de-DE">
              <a:solidFill>
                <a:schemeClr val="tx1"/>
              </a:solidFill>
            </a:endParaRPr>
          </a:p>
        </p:txBody>
      </p:sp>
      <p:sp>
        <p:nvSpPr>
          <p:cNvPr id="1450353564" name=""/>
          <p:cNvSpPr/>
          <p:nvPr/>
        </p:nvSpPr>
        <p:spPr bwMode="auto">
          <a:xfrm rot="0" flipH="0" flipV="0">
            <a:off x="851451" y="4564379"/>
            <a:ext cx="274320" cy="27432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l">
              <a:defRPr/>
            </a:pPr>
            <a:r>
              <a:rPr lang="de-DE" sz="1100">
                <a:solidFill>
                  <a:schemeClr val="tx1"/>
                </a:solidFill>
              </a:rPr>
              <a:t>1</a:t>
            </a:r>
            <a:endParaRPr sz="1100">
              <a:solidFill>
                <a:schemeClr val="tx1"/>
              </a:solidFill>
            </a:endParaRPr>
          </a:p>
        </p:txBody>
      </p:sp>
      <p:sp>
        <p:nvSpPr>
          <p:cNvPr id="175879856" name=""/>
          <p:cNvSpPr/>
          <p:nvPr/>
        </p:nvSpPr>
        <p:spPr bwMode="auto">
          <a:xfrm rot="0" flipH="0" flipV="0">
            <a:off x="818845" y="5250179"/>
            <a:ext cx="274320" cy="27432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l">
              <a:defRPr/>
            </a:pPr>
            <a:r>
              <a:rPr lang="de-DE" sz="1100">
                <a:solidFill>
                  <a:schemeClr val="tx1"/>
                </a:solidFill>
              </a:rPr>
              <a:t>2</a:t>
            </a:r>
            <a:endParaRPr sz="1100">
              <a:solidFill>
                <a:schemeClr val="tx1"/>
              </a:solidFill>
            </a:endParaRPr>
          </a:p>
        </p:txBody>
      </p:sp>
      <p:sp>
        <p:nvSpPr>
          <p:cNvPr id="1611906405" name=""/>
          <p:cNvSpPr/>
          <p:nvPr/>
        </p:nvSpPr>
        <p:spPr bwMode="auto">
          <a:xfrm rot="0" flipH="0" flipV="0">
            <a:off x="4727629" y="1769924"/>
            <a:ext cx="274320" cy="27432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l">
              <a:defRPr/>
            </a:pPr>
            <a:r>
              <a:rPr lang="de-DE" sz="1100">
                <a:solidFill>
                  <a:schemeClr val="tx1"/>
                </a:solidFill>
              </a:rPr>
              <a:t>3</a:t>
            </a:r>
            <a:endParaRPr sz="1100">
              <a:solidFill>
                <a:schemeClr val="tx1"/>
              </a:solidFill>
            </a:endParaRPr>
          </a:p>
        </p:txBody>
      </p:sp>
      <p:sp>
        <p:nvSpPr>
          <p:cNvPr id="71592271" name=""/>
          <p:cNvSpPr/>
          <p:nvPr/>
        </p:nvSpPr>
        <p:spPr bwMode="auto">
          <a:xfrm rot="0" flipH="0" flipV="0">
            <a:off x="4727629" y="4455614"/>
            <a:ext cx="274320" cy="27432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l">
              <a:defRPr/>
            </a:pPr>
            <a:r>
              <a:rPr lang="de-DE" sz="1100">
                <a:solidFill>
                  <a:schemeClr val="tx1"/>
                </a:solidFill>
              </a:rPr>
              <a:t>4</a:t>
            </a:r>
            <a:endParaRPr sz="1100">
              <a:solidFill>
                <a:schemeClr val="tx1"/>
              </a:solidFill>
            </a:endParaRPr>
          </a:p>
        </p:txBody>
      </p:sp>
      <p:sp>
        <p:nvSpPr>
          <p:cNvPr id="1104999756" name=""/>
          <p:cNvSpPr/>
          <p:nvPr/>
        </p:nvSpPr>
        <p:spPr bwMode="auto">
          <a:xfrm rot="0" flipH="0" flipV="0">
            <a:off x="8799222" y="1722234"/>
            <a:ext cx="274320" cy="27432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l">
              <a:defRPr/>
            </a:pPr>
            <a:r>
              <a:rPr lang="de-DE" sz="1100">
                <a:solidFill>
                  <a:schemeClr val="tx1"/>
                </a:solidFill>
              </a:rPr>
              <a:t>5</a:t>
            </a:r>
            <a:endParaRPr sz="1100">
              <a:solidFill>
                <a:schemeClr val="tx1"/>
              </a:solidFill>
            </a:endParaRPr>
          </a:p>
        </p:txBody>
      </p:sp>
      <p:sp>
        <p:nvSpPr>
          <p:cNvPr id="607246060" name=""/>
          <p:cNvSpPr txBox="1"/>
          <p:nvPr/>
        </p:nvSpPr>
        <p:spPr bwMode="auto">
          <a:xfrm flipH="0" flipV="0">
            <a:off x="9258604" y="4628082"/>
            <a:ext cx="1850748" cy="407265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lnSpc>
                <a:spcPct val="114999"/>
              </a:lnSpc>
              <a:defRPr/>
            </a:pPr>
            <a:r>
              <a:rPr lang="de-DE"/>
              <a:t>build a </a:t>
            </a:r>
            <a:r>
              <a:rPr lang="de-DE">
                <a:solidFill>
                  <a:srgbClr val="FF4B4B"/>
                </a:solidFill>
              </a:rPr>
              <a:t>dashboard</a:t>
            </a:r>
            <a:endParaRPr lang="de-DE"/>
          </a:p>
        </p:txBody>
      </p:sp>
      <p:cxnSp>
        <p:nvCxnSpPr>
          <p:cNvPr id="146787751" name=""/>
          <p:cNvCxnSpPr>
            <a:stCxn id="728618584" idx="2"/>
            <a:endCxn id="1151441867" idx="0"/>
          </p:cNvCxnSpPr>
          <p:nvPr/>
        </p:nvCxnSpPr>
        <p:spPr bwMode="auto">
          <a:xfrm rot="5399977" flipH="0" flipV="0">
            <a:off x="9626355" y="3583595"/>
            <a:ext cx="1067022" cy="0"/>
          </a:xfrm>
          <a:prstGeom prst="line">
            <a:avLst/>
          </a:prstGeom>
          <a:ln w="28575" cap="flat" cmpd="sng" algn="ctr">
            <a:solidFill>
              <a:srgbClr val="5DA2EE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562435" name=""/>
          <p:cNvSpPr/>
          <p:nvPr/>
        </p:nvSpPr>
        <p:spPr bwMode="auto">
          <a:xfrm rot="0" flipH="0" flipV="0">
            <a:off x="320039" y="547877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4024299" name=""/>
          <p:cNvSpPr/>
          <p:nvPr/>
        </p:nvSpPr>
        <p:spPr bwMode="auto">
          <a:xfrm rot="0" flipH="0" flipV="0">
            <a:off x="320039" y="429005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4549709" name=""/>
          <p:cNvSpPr/>
          <p:nvPr/>
        </p:nvSpPr>
        <p:spPr bwMode="auto">
          <a:xfrm rot="0" flipH="0" flipV="0">
            <a:off x="338328" y="310133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1196107" name=""/>
          <p:cNvSpPr/>
          <p:nvPr/>
        </p:nvSpPr>
        <p:spPr bwMode="auto">
          <a:xfrm rot="0" flipH="0" flipV="0">
            <a:off x="338328" y="191261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37678487" name=""/>
          <p:cNvSpPr/>
          <p:nvPr/>
        </p:nvSpPr>
        <p:spPr bwMode="auto">
          <a:xfrm rot="0" flipH="0" flipV="0">
            <a:off x="338328" y="723899"/>
            <a:ext cx="2977718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99506799" name="Text 0"/>
          <p:cNvSpPr/>
          <p:nvPr/>
        </p:nvSpPr>
        <p:spPr bwMode="auto">
          <a:xfrm rot="0" flipH="0" flipV="0">
            <a:off x="548639" y="3192779"/>
            <a:ext cx="1269723" cy="2022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93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Storage</a:t>
            </a:r>
            <a:endParaRPr lang="en-US" sz="1600"/>
          </a:p>
        </p:txBody>
      </p:sp>
      <p:sp>
        <p:nvSpPr>
          <p:cNvPr id="836915363" name="Text 1"/>
          <p:cNvSpPr/>
          <p:nvPr/>
        </p:nvSpPr>
        <p:spPr bwMode="auto">
          <a:xfrm rot="0" flipH="0" flipV="0">
            <a:off x="548639" y="3421379"/>
            <a:ext cx="1049814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Database</a:t>
            </a:r>
            <a:endParaRPr lang="en-US" sz="1000"/>
          </a:p>
        </p:txBody>
      </p:sp>
      <p:sp>
        <p:nvSpPr>
          <p:cNvPr id="126571922" name="Text 2"/>
          <p:cNvSpPr/>
          <p:nvPr/>
        </p:nvSpPr>
        <p:spPr bwMode="auto">
          <a:xfrm rot="0" flipH="0" flipV="0">
            <a:off x="548639" y="3832859"/>
            <a:ext cx="2239002" cy="1480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65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PostgreSQL</a:t>
            </a:r>
            <a:r>
              <a:rPr lang="de-DE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 | NeonDB</a:t>
            </a:r>
            <a:endParaRPr lang="en-US" sz="1200"/>
          </a:p>
        </p:txBody>
      </p:sp>
      <p:sp>
        <p:nvSpPr>
          <p:cNvPr id="1171650668" name="Text 4"/>
          <p:cNvSpPr/>
          <p:nvPr/>
        </p:nvSpPr>
        <p:spPr bwMode="auto">
          <a:xfrm rot="0" flipH="0" flipV="0">
            <a:off x="548639" y="4427219"/>
            <a:ext cx="2546984" cy="1924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16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Transforma</a:t>
            </a: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tion</a:t>
            </a:r>
            <a:endParaRPr lang="en-US" sz="1600"/>
          </a:p>
        </p:txBody>
      </p:sp>
      <p:sp>
        <p:nvSpPr>
          <p:cNvPr id="694134311" name="Text 5"/>
          <p:cNvSpPr/>
          <p:nvPr/>
        </p:nvSpPr>
        <p:spPr bwMode="auto">
          <a:xfrm rot="0" flipH="0" flipV="0">
            <a:off x="548639" y="4655819"/>
            <a:ext cx="1497330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Model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ing</a:t>
            </a:r>
            <a:endParaRPr lang="en-US" sz="1000"/>
          </a:p>
        </p:txBody>
      </p:sp>
      <p:sp>
        <p:nvSpPr>
          <p:cNvPr id="254247215" name="Text 6"/>
          <p:cNvSpPr/>
          <p:nvPr/>
        </p:nvSpPr>
        <p:spPr bwMode="auto">
          <a:xfrm rot="0" flipH="0" flipV="0">
            <a:off x="548639" y="5067299"/>
            <a:ext cx="1414937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dbt</a:t>
            </a:r>
            <a:endParaRPr lang="en-US" sz="1200"/>
          </a:p>
        </p:txBody>
      </p:sp>
      <p:sp>
        <p:nvSpPr>
          <p:cNvPr id="351689170" name="Text 7"/>
          <p:cNvSpPr/>
          <p:nvPr/>
        </p:nvSpPr>
        <p:spPr bwMode="auto">
          <a:xfrm rot="0" flipH="0" flipV="0">
            <a:off x="548639" y="861059"/>
            <a:ext cx="1631891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-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Ingestion</a:t>
            </a:r>
            <a:endParaRPr lang="en-US" sz="1600"/>
          </a:p>
        </p:txBody>
      </p:sp>
      <p:sp>
        <p:nvSpPr>
          <p:cNvPr id="704263270" name="Text 8"/>
          <p:cNvSpPr/>
          <p:nvPr/>
        </p:nvSpPr>
        <p:spPr bwMode="auto">
          <a:xfrm rot="0" flipH="0" flipV="0">
            <a:off x="548639" y="1089659"/>
            <a:ext cx="1099926" cy="2235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Web</a:t>
            </a:r>
            <a:r>
              <a:rPr lang="de-DE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Scrapin</a:t>
            </a:r>
            <a:r>
              <a:rPr lang="en-US" sz="1000" spc="23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g</a:t>
            </a:r>
            <a:endParaRPr lang="en-US" sz="1000"/>
          </a:p>
        </p:txBody>
      </p:sp>
      <p:sp>
        <p:nvSpPr>
          <p:cNvPr id="887676441" name="Text 11"/>
          <p:cNvSpPr/>
          <p:nvPr/>
        </p:nvSpPr>
        <p:spPr bwMode="auto">
          <a:xfrm rot="0" flipH="0" flipV="0">
            <a:off x="548639" y="2049779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497"/>
              </a:lnSpc>
              <a:buNone/>
              <a:defRPr/>
            </a:pPr>
            <a:r>
              <a:rPr lang="en-US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Orchestrat</a:t>
            </a: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ion</a:t>
            </a:r>
            <a:endParaRPr lang="en-US" sz="1600"/>
          </a:p>
        </p:txBody>
      </p:sp>
      <p:sp>
        <p:nvSpPr>
          <p:cNvPr id="1047110536" name="Text 12"/>
          <p:cNvSpPr/>
          <p:nvPr/>
        </p:nvSpPr>
        <p:spPr bwMode="auto">
          <a:xfrm rot="0" flipH="0" flipV="0">
            <a:off x="566928" y="2278379"/>
            <a:ext cx="1438115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Task</a:t>
            </a:r>
            <a:r>
              <a:rPr lang="de-DE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Scheduling</a:t>
            </a:r>
            <a:endParaRPr lang="en-US" sz="1000"/>
          </a:p>
        </p:txBody>
      </p:sp>
      <p:sp>
        <p:nvSpPr>
          <p:cNvPr id="1320405611" name="Text 13"/>
          <p:cNvSpPr/>
          <p:nvPr/>
        </p:nvSpPr>
        <p:spPr bwMode="auto">
          <a:xfrm rot="0" flipH="0" flipV="0">
            <a:off x="548639" y="2689859"/>
            <a:ext cx="1557654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Airﬂow</a:t>
            </a:r>
            <a:endParaRPr lang="en-US" sz="1100"/>
          </a:p>
        </p:txBody>
      </p:sp>
      <p:sp>
        <p:nvSpPr>
          <p:cNvPr id="616770993" name="Text 14"/>
          <p:cNvSpPr/>
          <p:nvPr/>
        </p:nvSpPr>
        <p:spPr bwMode="auto">
          <a:xfrm rot="0" flipH="0" flipV="0">
            <a:off x="548639" y="5570219"/>
            <a:ext cx="1264796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Serving</a:t>
            </a:r>
            <a:endParaRPr lang="en-US" sz="1600"/>
          </a:p>
        </p:txBody>
      </p:sp>
      <p:sp>
        <p:nvSpPr>
          <p:cNvPr id="41936912" name="Text 15"/>
          <p:cNvSpPr/>
          <p:nvPr/>
        </p:nvSpPr>
        <p:spPr bwMode="auto">
          <a:xfrm rot="0" flipH="0" flipV="0">
            <a:off x="548639" y="5798819"/>
            <a:ext cx="1244727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UI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Dashboa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rd</a:t>
            </a:r>
            <a:endParaRPr lang="en-US" sz="1000"/>
          </a:p>
        </p:txBody>
      </p:sp>
      <p:sp>
        <p:nvSpPr>
          <p:cNvPr id="452593522" name="Text 16"/>
          <p:cNvSpPr/>
          <p:nvPr/>
        </p:nvSpPr>
        <p:spPr bwMode="auto">
          <a:xfrm rot="0" flipH="0" flipV="0">
            <a:off x="548639" y="6210299"/>
            <a:ext cx="1234440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Streamlit</a:t>
            </a:r>
            <a:endParaRPr lang="en-US" sz="1200"/>
          </a:p>
        </p:txBody>
      </p:sp>
      <p:sp>
        <p:nvSpPr>
          <p:cNvPr id="451345028" name=""/>
          <p:cNvSpPr txBox="1"/>
          <p:nvPr/>
        </p:nvSpPr>
        <p:spPr bwMode="auto">
          <a:xfrm flipH="0" flipV="0">
            <a:off x="3690727" y="573349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870724999" name="Text 0"/>
          <p:cNvSpPr/>
          <p:nvPr/>
        </p:nvSpPr>
        <p:spPr bwMode="auto">
          <a:xfrm flipH="0" flipV="0">
            <a:off x="3530946" y="106427"/>
            <a:ext cx="8451887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4"/>
              </a:lnSpc>
              <a:buNone/>
              <a:defRPr/>
            </a:pPr>
            <a:r>
              <a:rPr lang="de-DE" sz="4800" b="0" i="0" u="none" strike="noStrike" cap="none" spc="-123">
                <a:solidFill>
                  <a:srgbClr val="5DA2EE"/>
                </a:solidFill>
                <a:latin typeface="Yu Gothic UI Semibold"/>
                <a:ea typeface="Yu Gothic UI Semibold"/>
                <a:cs typeface="Yu Gothic UI Semibold"/>
              </a:rPr>
              <a:t>Architecture Overview</a:t>
            </a:r>
            <a:endParaRPr sz="4800" b="0">
              <a:solidFill>
                <a:srgbClr val="5DA2EE"/>
              </a:solidFill>
              <a:latin typeface="Yu Gothic UI Semibold"/>
              <a:cs typeface="Yu Gothic UI Semibold"/>
            </a:endParaRPr>
          </a:p>
          <a:p>
            <a:pPr>
              <a:defRPr/>
            </a:pPr>
            <a:endParaRPr/>
          </a:p>
        </p:txBody>
      </p:sp>
      <p:sp>
        <p:nvSpPr>
          <p:cNvPr id="1184446376" name="Text 13"/>
          <p:cNvSpPr/>
          <p:nvPr/>
        </p:nvSpPr>
        <p:spPr bwMode="auto">
          <a:xfrm rot="0" flipH="0" flipV="0">
            <a:off x="566928" y="1501139"/>
            <a:ext cx="2480225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de-DE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Python | Selenium | Xvfb | BS4</a:t>
            </a:r>
            <a:endParaRPr lang="en-US" sz="1100"/>
          </a:p>
        </p:txBody>
      </p:sp>
      <p:pic>
        <p:nvPicPr>
          <p:cNvPr id="1766699610" name="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/>
        </p:blipFill>
        <p:spPr bwMode="auto">
          <a:xfrm flipH="0" flipV="0">
            <a:off x="3782545" y="1391936"/>
            <a:ext cx="7994117" cy="45396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008695" name=""/>
          <p:cNvSpPr/>
          <p:nvPr/>
        </p:nvSpPr>
        <p:spPr bwMode="auto">
          <a:xfrm rot="0" flipH="0" flipV="0">
            <a:off x="320039" y="547877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8822761" name=""/>
          <p:cNvSpPr/>
          <p:nvPr/>
        </p:nvSpPr>
        <p:spPr bwMode="auto">
          <a:xfrm rot="0" flipH="0" flipV="0">
            <a:off x="320039" y="429005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3942508" name=""/>
          <p:cNvSpPr/>
          <p:nvPr/>
        </p:nvSpPr>
        <p:spPr bwMode="auto">
          <a:xfrm rot="0" flipH="0" flipV="0">
            <a:off x="338328" y="310133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48462949" name=""/>
          <p:cNvSpPr/>
          <p:nvPr/>
        </p:nvSpPr>
        <p:spPr bwMode="auto">
          <a:xfrm rot="0" flipH="0" flipV="0">
            <a:off x="338328" y="191261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319149" name=""/>
          <p:cNvSpPr/>
          <p:nvPr/>
        </p:nvSpPr>
        <p:spPr bwMode="auto">
          <a:xfrm rot="0" flipH="0" flipV="0">
            <a:off x="338328" y="723899"/>
            <a:ext cx="2977718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6217602" name="Text 0"/>
          <p:cNvSpPr/>
          <p:nvPr/>
        </p:nvSpPr>
        <p:spPr bwMode="auto">
          <a:xfrm rot="0" flipH="0" flipV="0">
            <a:off x="548639" y="3192779"/>
            <a:ext cx="1269723" cy="2022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93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Storage</a:t>
            </a:r>
            <a:endParaRPr lang="en-US" sz="1600"/>
          </a:p>
        </p:txBody>
      </p:sp>
      <p:sp>
        <p:nvSpPr>
          <p:cNvPr id="1965584973" name="Text 1"/>
          <p:cNvSpPr/>
          <p:nvPr/>
        </p:nvSpPr>
        <p:spPr bwMode="auto">
          <a:xfrm rot="0" flipH="0" flipV="0">
            <a:off x="548639" y="3421379"/>
            <a:ext cx="1049814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Database</a:t>
            </a:r>
            <a:endParaRPr lang="en-US" sz="1000"/>
          </a:p>
        </p:txBody>
      </p:sp>
      <p:sp>
        <p:nvSpPr>
          <p:cNvPr id="221582564" name="Text 2"/>
          <p:cNvSpPr/>
          <p:nvPr/>
        </p:nvSpPr>
        <p:spPr bwMode="auto">
          <a:xfrm rot="0" flipH="0" flipV="0">
            <a:off x="548639" y="3832859"/>
            <a:ext cx="2239002" cy="1480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65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PostgreSQL</a:t>
            </a:r>
            <a:r>
              <a:rPr lang="de-DE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 | NeonDB</a:t>
            </a:r>
            <a:endParaRPr lang="en-US" sz="1200"/>
          </a:p>
        </p:txBody>
      </p:sp>
      <p:sp>
        <p:nvSpPr>
          <p:cNvPr id="1638908102" name="Text 4"/>
          <p:cNvSpPr/>
          <p:nvPr/>
        </p:nvSpPr>
        <p:spPr bwMode="auto">
          <a:xfrm rot="0" flipH="0" flipV="0">
            <a:off x="548639" y="4427219"/>
            <a:ext cx="2546984" cy="1924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16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Transforma</a:t>
            </a: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tion</a:t>
            </a:r>
            <a:endParaRPr lang="en-US" sz="1600"/>
          </a:p>
        </p:txBody>
      </p:sp>
      <p:sp>
        <p:nvSpPr>
          <p:cNvPr id="1211115653" name="Text 5"/>
          <p:cNvSpPr/>
          <p:nvPr/>
        </p:nvSpPr>
        <p:spPr bwMode="auto">
          <a:xfrm rot="0" flipH="0" flipV="0">
            <a:off x="548639" y="4655819"/>
            <a:ext cx="1497330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Model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ing</a:t>
            </a:r>
            <a:endParaRPr lang="en-US" sz="1000"/>
          </a:p>
        </p:txBody>
      </p:sp>
      <p:sp>
        <p:nvSpPr>
          <p:cNvPr id="1942026057" name="Text 6"/>
          <p:cNvSpPr/>
          <p:nvPr/>
        </p:nvSpPr>
        <p:spPr bwMode="auto">
          <a:xfrm rot="0" flipH="0" flipV="0">
            <a:off x="548639" y="5067299"/>
            <a:ext cx="1414937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dbt</a:t>
            </a:r>
            <a:endParaRPr lang="en-US" sz="1200"/>
          </a:p>
        </p:txBody>
      </p:sp>
      <p:sp>
        <p:nvSpPr>
          <p:cNvPr id="418806565" name="Text 7"/>
          <p:cNvSpPr/>
          <p:nvPr/>
        </p:nvSpPr>
        <p:spPr bwMode="auto">
          <a:xfrm rot="0" flipH="0" flipV="0">
            <a:off x="548639" y="861059"/>
            <a:ext cx="1631891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-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Ingestion</a:t>
            </a:r>
            <a:endParaRPr lang="en-US" sz="1600"/>
          </a:p>
        </p:txBody>
      </p:sp>
      <p:sp>
        <p:nvSpPr>
          <p:cNvPr id="831678063" name="Text 8"/>
          <p:cNvSpPr/>
          <p:nvPr/>
        </p:nvSpPr>
        <p:spPr bwMode="auto">
          <a:xfrm rot="0" flipH="0" flipV="0">
            <a:off x="548639" y="1089659"/>
            <a:ext cx="1099926" cy="2235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Web</a:t>
            </a:r>
            <a:r>
              <a:rPr lang="de-DE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Scrapin</a:t>
            </a:r>
            <a:r>
              <a:rPr lang="en-US" sz="1000" spc="23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g</a:t>
            </a:r>
            <a:endParaRPr lang="en-US" sz="1000"/>
          </a:p>
        </p:txBody>
      </p:sp>
      <p:sp>
        <p:nvSpPr>
          <p:cNvPr id="1682636052" name="Text 11"/>
          <p:cNvSpPr/>
          <p:nvPr/>
        </p:nvSpPr>
        <p:spPr bwMode="auto">
          <a:xfrm rot="0" flipH="0" flipV="0">
            <a:off x="548639" y="2049779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497"/>
              </a:lnSpc>
              <a:buNone/>
              <a:defRPr/>
            </a:pPr>
            <a:r>
              <a:rPr lang="en-US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Orchestrat</a:t>
            </a: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ion</a:t>
            </a:r>
            <a:endParaRPr lang="en-US" sz="1600"/>
          </a:p>
        </p:txBody>
      </p:sp>
      <p:sp>
        <p:nvSpPr>
          <p:cNvPr id="2065628706" name="Text 12"/>
          <p:cNvSpPr/>
          <p:nvPr/>
        </p:nvSpPr>
        <p:spPr bwMode="auto">
          <a:xfrm rot="0" flipH="0" flipV="0">
            <a:off x="566928" y="2278379"/>
            <a:ext cx="1438115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Task</a:t>
            </a:r>
            <a:r>
              <a:rPr lang="de-DE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Scheduling</a:t>
            </a:r>
            <a:endParaRPr lang="en-US" sz="1000"/>
          </a:p>
        </p:txBody>
      </p:sp>
      <p:sp>
        <p:nvSpPr>
          <p:cNvPr id="828064126" name="Text 13"/>
          <p:cNvSpPr/>
          <p:nvPr/>
        </p:nvSpPr>
        <p:spPr bwMode="auto">
          <a:xfrm rot="0" flipH="0" flipV="0">
            <a:off x="548639" y="2689859"/>
            <a:ext cx="1557654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Airﬂow</a:t>
            </a:r>
            <a:endParaRPr lang="en-US" sz="1100"/>
          </a:p>
        </p:txBody>
      </p:sp>
      <p:sp>
        <p:nvSpPr>
          <p:cNvPr id="477462083" name="Text 14"/>
          <p:cNvSpPr/>
          <p:nvPr/>
        </p:nvSpPr>
        <p:spPr bwMode="auto">
          <a:xfrm rot="0" flipH="0" flipV="0">
            <a:off x="548639" y="5570219"/>
            <a:ext cx="1264796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Serving</a:t>
            </a:r>
            <a:endParaRPr lang="en-US" sz="1600"/>
          </a:p>
        </p:txBody>
      </p:sp>
      <p:sp>
        <p:nvSpPr>
          <p:cNvPr id="620566488" name="Text 15"/>
          <p:cNvSpPr/>
          <p:nvPr/>
        </p:nvSpPr>
        <p:spPr bwMode="auto">
          <a:xfrm rot="0" flipH="0" flipV="0">
            <a:off x="548639" y="5798819"/>
            <a:ext cx="1244727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UI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Dashboa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rd</a:t>
            </a:r>
            <a:endParaRPr lang="en-US" sz="1000"/>
          </a:p>
        </p:txBody>
      </p:sp>
      <p:sp>
        <p:nvSpPr>
          <p:cNvPr id="1449810180" name="Text 16"/>
          <p:cNvSpPr/>
          <p:nvPr/>
        </p:nvSpPr>
        <p:spPr bwMode="auto">
          <a:xfrm rot="0" flipH="0" flipV="0">
            <a:off x="548639" y="6210299"/>
            <a:ext cx="1234440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Streamlit</a:t>
            </a:r>
            <a:endParaRPr lang="en-US" sz="1200"/>
          </a:p>
        </p:txBody>
      </p:sp>
      <p:sp>
        <p:nvSpPr>
          <p:cNvPr id="1918954687" name=""/>
          <p:cNvSpPr txBox="1"/>
          <p:nvPr/>
        </p:nvSpPr>
        <p:spPr bwMode="auto">
          <a:xfrm flipH="0" flipV="0">
            <a:off x="3690727" y="573349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552549786" name="Text 0"/>
          <p:cNvSpPr/>
          <p:nvPr/>
        </p:nvSpPr>
        <p:spPr bwMode="auto">
          <a:xfrm flipH="0" flipV="0">
            <a:off x="3530946" y="106427"/>
            <a:ext cx="8451887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4"/>
              </a:lnSpc>
              <a:buNone/>
              <a:defRPr/>
            </a:pPr>
            <a:r>
              <a:rPr lang="de-DE" sz="4800" b="0" i="0" u="none" strike="noStrike" cap="none" spc="-123">
                <a:solidFill>
                  <a:srgbClr val="5DA2EE"/>
                </a:solidFill>
                <a:latin typeface="Yu Gothic UI Semibold"/>
                <a:ea typeface="Yu Gothic UI Semibold"/>
                <a:cs typeface="Yu Gothic UI Semibold"/>
              </a:rPr>
              <a:t>Architecture Overview</a:t>
            </a:r>
            <a:endParaRPr sz="4800" b="0">
              <a:solidFill>
                <a:srgbClr val="5DA2EE"/>
              </a:solidFill>
              <a:latin typeface="Yu Gothic UI Semibold"/>
              <a:cs typeface="Yu Gothic UI Semibold"/>
            </a:endParaRPr>
          </a:p>
          <a:p>
            <a:pPr>
              <a:defRPr/>
            </a:pPr>
            <a:endParaRPr/>
          </a:p>
        </p:txBody>
      </p:sp>
      <p:sp>
        <p:nvSpPr>
          <p:cNvPr id="980203863" name="Text 13"/>
          <p:cNvSpPr/>
          <p:nvPr/>
        </p:nvSpPr>
        <p:spPr bwMode="auto">
          <a:xfrm rot="0" flipH="0" flipV="0">
            <a:off x="566928" y="1501139"/>
            <a:ext cx="2480225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de-DE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Python | Selenium | Xvfb</a:t>
            </a:r>
            <a:endParaRPr lang="en-US" sz="1100"/>
          </a:p>
        </p:txBody>
      </p:sp>
      <p:sp>
        <p:nvSpPr>
          <p:cNvPr id="402694732" name="Flowchart: Alternate process 1919238323"/>
          <p:cNvSpPr/>
          <p:nvPr/>
        </p:nvSpPr>
        <p:spPr bwMode="auto">
          <a:xfrm rot="0" flipH="0" flipV="0">
            <a:off x="3686555" y="1225296"/>
            <a:ext cx="2765535" cy="5175503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59606320" name="Text 11"/>
          <p:cNvSpPr/>
          <p:nvPr/>
        </p:nvSpPr>
        <p:spPr bwMode="auto">
          <a:xfrm rot="0" flipH="0" flipV="0">
            <a:off x="3870033" y="1586896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97"/>
              </a:lnSpc>
              <a:buNone/>
              <a:defRPr/>
            </a:pPr>
            <a:r>
              <a:rPr lang="de-DE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What Airflow handles:</a:t>
            </a:r>
            <a:endParaRPr sz="1600" b="1"/>
          </a:p>
        </p:txBody>
      </p:sp>
      <p:pic>
        <p:nvPicPr>
          <p:cNvPr id="4024736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838949" y="1638620"/>
            <a:ext cx="4906350" cy="4365285"/>
          </a:xfrm>
          <a:prstGeom prst="rect">
            <a:avLst/>
          </a:prstGeom>
        </p:spPr>
      </p:pic>
      <p:sp>
        <p:nvSpPr>
          <p:cNvPr id="725396773" name="Text 2"/>
          <p:cNvSpPr/>
          <p:nvPr/>
        </p:nvSpPr>
        <p:spPr bwMode="auto">
          <a:xfrm rot="0" flipH="0" flipV="0">
            <a:off x="3932394" y="2166262"/>
            <a:ext cx="2239002" cy="1445617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/>
          <a:lstStyle/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Workflow management</a:t>
            </a:r>
            <a:endParaRPr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Task scheduling</a:t>
            </a:r>
            <a:endParaRPr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Dependency </a:t>
            </a: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management</a:t>
            </a:r>
            <a:endParaRPr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Monitoring &amp; alerting</a:t>
            </a:r>
            <a:endParaRPr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endParaRPr sz="1200" b="1"/>
          </a:p>
        </p:txBody>
      </p:sp>
      <p:sp>
        <p:nvSpPr>
          <p:cNvPr id="1880169159" name="Text 11"/>
          <p:cNvSpPr/>
          <p:nvPr/>
        </p:nvSpPr>
        <p:spPr bwMode="auto">
          <a:xfrm rot="0" flipH="0" flipV="0">
            <a:off x="3870033" y="4219416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97"/>
              </a:lnSpc>
              <a:buNone/>
              <a:defRPr/>
            </a:pPr>
            <a:r>
              <a:rPr lang="de-DE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What it runs:</a:t>
            </a:r>
            <a:endParaRPr sz="1600" b="1"/>
          </a:p>
        </p:txBody>
      </p:sp>
      <p:sp>
        <p:nvSpPr>
          <p:cNvPr id="1704925690" name="Text 2"/>
          <p:cNvSpPr/>
          <p:nvPr/>
        </p:nvSpPr>
        <p:spPr bwMode="auto">
          <a:xfrm rot="0" flipH="0" flipV="0">
            <a:off x="3870033" y="4718684"/>
            <a:ext cx="2239002" cy="1445617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/>
          <a:lstStyle/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Python scraper</a:t>
            </a:r>
            <a:endParaRPr lang="de-DE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Dbt transformation script</a:t>
            </a:r>
            <a:endParaRPr lang="en-US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3" indent="-217793" algn="l">
              <a:lnSpc>
                <a:spcPct val="150000"/>
              </a:lnSpc>
              <a:buFont typeface="Arial"/>
              <a:buChar char="–"/>
              <a:defRPr/>
            </a:pP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566358" name=""/>
          <p:cNvSpPr/>
          <p:nvPr/>
        </p:nvSpPr>
        <p:spPr bwMode="auto">
          <a:xfrm rot="0" flipH="0" flipV="0">
            <a:off x="320039" y="547877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3509029" name=""/>
          <p:cNvSpPr/>
          <p:nvPr/>
        </p:nvSpPr>
        <p:spPr bwMode="auto">
          <a:xfrm rot="0" flipH="0" flipV="0">
            <a:off x="320039" y="429005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6132036" name=""/>
          <p:cNvSpPr/>
          <p:nvPr/>
        </p:nvSpPr>
        <p:spPr bwMode="auto">
          <a:xfrm rot="0" flipH="0" flipV="0">
            <a:off x="338328" y="310133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8260120" name=""/>
          <p:cNvSpPr/>
          <p:nvPr/>
        </p:nvSpPr>
        <p:spPr bwMode="auto">
          <a:xfrm rot="0" flipH="0" flipV="0">
            <a:off x="338328" y="191261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0454248" name=""/>
          <p:cNvSpPr/>
          <p:nvPr/>
        </p:nvSpPr>
        <p:spPr bwMode="auto">
          <a:xfrm rot="0" flipH="0" flipV="0">
            <a:off x="338328" y="723899"/>
            <a:ext cx="2977718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53286506" name="Text 0"/>
          <p:cNvSpPr/>
          <p:nvPr/>
        </p:nvSpPr>
        <p:spPr bwMode="auto">
          <a:xfrm rot="0" flipH="0" flipV="0">
            <a:off x="548639" y="3192779"/>
            <a:ext cx="1269723" cy="2022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93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Storage</a:t>
            </a:r>
            <a:endParaRPr lang="en-US" sz="1600"/>
          </a:p>
        </p:txBody>
      </p:sp>
      <p:sp>
        <p:nvSpPr>
          <p:cNvPr id="370605383" name="Text 1"/>
          <p:cNvSpPr/>
          <p:nvPr/>
        </p:nvSpPr>
        <p:spPr bwMode="auto">
          <a:xfrm rot="0" flipH="0" flipV="0">
            <a:off x="548639" y="3421379"/>
            <a:ext cx="1049814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Database</a:t>
            </a:r>
            <a:endParaRPr lang="en-US" sz="1000"/>
          </a:p>
        </p:txBody>
      </p:sp>
      <p:sp>
        <p:nvSpPr>
          <p:cNvPr id="202025799" name="Text 2"/>
          <p:cNvSpPr/>
          <p:nvPr/>
        </p:nvSpPr>
        <p:spPr bwMode="auto">
          <a:xfrm rot="0" flipH="0" flipV="0">
            <a:off x="548639" y="3832859"/>
            <a:ext cx="2239002" cy="1480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65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PostgreSQL</a:t>
            </a:r>
            <a:r>
              <a:rPr lang="de-DE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 | NeonDB</a:t>
            </a:r>
            <a:endParaRPr lang="en-US" sz="1200"/>
          </a:p>
        </p:txBody>
      </p:sp>
      <p:sp>
        <p:nvSpPr>
          <p:cNvPr id="1466174396" name="Text 4"/>
          <p:cNvSpPr/>
          <p:nvPr/>
        </p:nvSpPr>
        <p:spPr bwMode="auto">
          <a:xfrm rot="0" flipH="0" flipV="0">
            <a:off x="548639" y="4427219"/>
            <a:ext cx="2546984" cy="1924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16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Transforma</a:t>
            </a: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tion</a:t>
            </a:r>
            <a:endParaRPr lang="en-US" sz="1600"/>
          </a:p>
        </p:txBody>
      </p:sp>
      <p:sp>
        <p:nvSpPr>
          <p:cNvPr id="868397313" name="Text 5"/>
          <p:cNvSpPr/>
          <p:nvPr/>
        </p:nvSpPr>
        <p:spPr bwMode="auto">
          <a:xfrm rot="0" flipH="0" flipV="0">
            <a:off x="548639" y="4655819"/>
            <a:ext cx="1497330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Model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ing</a:t>
            </a:r>
            <a:endParaRPr lang="en-US" sz="1000"/>
          </a:p>
        </p:txBody>
      </p:sp>
      <p:sp>
        <p:nvSpPr>
          <p:cNvPr id="1143838932" name="Text 6"/>
          <p:cNvSpPr/>
          <p:nvPr/>
        </p:nvSpPr>
        <p:spPr bwMode="auto">
          <a:xfrm rot="0" flipH="0" flipV="0">
            <a:off x="548639" y="5067299"/>
            <a:ext cx="1414937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dbt</a:t>
            </a:r>
            <a:endParaRPr lang="en-US" sz="1200"/>
          </a:p>
        </p:txBody>
      </p:sp>
      <p:sp>
        <p:nvSpPr>
          <p:cNvPr id="1023160038" name="Text 7"/>
          <p:cNvSpPr/>
          <p:nvPr/>
        </p:nvSpPr>
        <p:spPr bwMode="auto">
          <a:xfrm rot="0" flipH="0" flipV="0">
            <a:off x="548639" y="861059"/>
            <a:ext cx="1631891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-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Ingestion</a:t>
            </a:r>
            <a:endParaRPr lang="en-US" sz="1600"/>
          </a:p>
        </p:txBody>
      </p:sp>
      <p:sp>
        <p:nvSpPr>
          <p:cNvPr id="640274772" name="Text 8"/>
          <p:cNvSpPr/>
          <p:nvPr/>
        </p:nvSpPr>
        <p:spPr bwMode="auto">
          <a:xfrm rot="0" flipH="0" flipV="0">
            <a:off x="548639" y="1089659"/>
            <a:ext cx="1099926" cy="2235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Web</a:t>
            </a:r>
            <a:r>
              <a:rPr lang="de-DE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Scrapin</a:t>
            </a:r>
            <a:r>
              <a:rPr lang="en-US" sz="1000" spc="23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g</a:t>
            </a:r>
            <a:endParaRPr lang="en-US" sz="1000"/>
          </a:p>
        </p:txBody>
      </p:sp>
      <p:sp>
        <p:nvSpPr>
          <p:cNvPr id="995071302" name="Text 11"/>
          <p:cNvSpPr/>
          <p:nvPr/>
        </p:nvSpPr>
        <p:spPr bwMode="auto">
          <a:xfrm rot="0" flipH="0" flipV="0">
            <a:off x="548639" y="2049779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497"/>
              </a:lnSpc>
              <a:buNone/>
              <a:defRPr/>
            </a:pPr>
            <a:r>
              <a:rPr lang="en-US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Orchestrat</a:t>
            </a: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ion</a:t>
            </a:r>
            <a:endParaRPr lang="en-US" sz="1600"/>
          </a:p>
        </p:txBody>
      </p:sp>
      <p:sp>
        <p:nvSpPr>
          <p:cNvPr id="147272596" name="Text 12"/>
          <p:cNvSpPr/>
          <p:nvPr/>
        </p:nvSpPr>
        <p:spPr bwMode="auto">
          <a:xfrm rot="0" flipH="0" flipV="0">
            <a:off x="566928" y="2278379"/>
            <a:ext cx="1438115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Task</a:t>
            </a:r>
            <a:r>
              <a:rPr lang="de-DE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Scheduling</a:t>
            </a:r>
            <a:endParaRPr lang="en-US" sz="1000"/>
          </a:p>
        </p:txBody>
      </p:sp>
      <p:sp>
        <p:nvSpPr>
          <p:cNvPr id="1510073258" name="Text 13"/>
          <p:cNvSpPr/>
          <p:nvPr/>
        </p:nvSpPr>
        <p:spPr bwMode="auto">
          <a:xfrm rot="0" flipH="0" flipV="0">
            <a:off x="548639" y="2689859"/>
            <a:ext cx="1557654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Airﬂow</a:t>
            </a:r>
            <a:endParaRPr lang="en-US" sz="1100"/>
          </a:p>
        </p:txBody>
      </p:sp>
      <p:sp>
        <p:nvSpPr>
          <p:cNvPr id="99723809" name="Text 14"/>
          <p:cNvSpPr/>
          <p:nvPr/>
        </p:nvSpPr>
        <p:spPr bwMode="auto">
          <a:xfrm rot="0" flipH="0" flipV="0">
            <a:off x="548639" y="5570219"/>
            <a:ext cx="1264796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Serving</a:t>
            </a:r>
            <a:endParaRPr lang="en-US" sz="1600"/>
          </a:p>
        </p:txBody>
      </p:sp>
      <p:sp>
        <p:nvSpPr>
          <p:cNvPr id="96886186" name="Text 15"/>
          <p:cNvSpPr/>
          <p:nvPr/>
        </p:nvSpPr>
        <p:spPr bwMode="auto">
          <a:xfrm rot="0" flipH="0" flipV="0">
            <a:off x="548639" y="5798819"/>
            <a:ext cx="1244727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UI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Dashboa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rd</a:t>
            </a:r>
            <a:endParaRPr lang="en-US" sz="1000"/>
          </a:p>
        </p:txBody>
      </p:sp>
      <p:sp>
        <p:nvSpPr>
          <p:cNvPr id="650630179" name="Text 16"/>
          <p:cNvSpPr/>
          <p:nvPr/>
        </p:nvSpPr>
        <p:spPr bwMode="auto">
          <a:xfrm rot="0" flipH="0" flipV="0">
            <a:off x="548639" y="6210299"/>
            <a:ext cx="1234440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Streamlit</a:t>
            </a:r>
            <a:endParaRPr lang="en-US" sz="1200"/>
          </a:p>
        </p:txBody>
      </p:sp>
      <p:sp>
        <p:nvSpPr>
          <p:cNvPr id="802002713" name=""/>
          <p:cNvSpPr txBox="1"/>
          <p:nvPr/>
        </p:nvSpPr>
        <p:spPr bwMode="auto">
          <a:xfrm flipH="0" flipV="0">
            <a:off x="3690727" y="573349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54833093" name="Text 0"/>
          <p:cNvSpPr/>
          <p:nvPr/>
        </p:nvSpPr>
        <p:spPr bwMode="auto">
          <a:xfrm flipH="0" flipV="0">
            <a:off x="3530946" y="106427"/>
            <a:ext cx="8451887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4"/>
              </a:lnSpc>
              <a:buNone/>
              <a:defRPr/>
            </a:pPr>
            <a:r>
              <a:rPr lang="de-DE" sz="4800" b="0" i="0" u="none" strike="noStrike" cap="none" spc="-123">
                <a:solidFill>
                  <a:srgbClr val="5DA2EE"/>
                </a:solidFill>
                <a:latin typeface="Yu Gothic UI Semibold"/>
                <a:ea typeface="Yu Gothic UI Semibold"/>
                <a:cs typeface="Yu Gothic UI Semibold"/>
              </a:rPr>
              <a:t>Architecture Overview</a:t>
            </a:r>
            <a:endParaRPr sz="4800" b="0">
              <a:solidFill>
                <a:srgbClr val="5DA2EE"/>
              </a:solidFill>
              <a:latin typeface="Yu Gothic UI Semibold"/>
              <a:cs typeface="Yu Gothic UI Semibold"/>
            </a:endParaRPr>
          </a:p>
          <a:p>
            <a:pPr>
              <a:defRPr/>
            </a:pPr>
            <a:endParaRPr/>
          </a:p>
        </p:txBody>
      </p:sp>
      <p:sp>
        <p:nvSpPr>
          <p:cNvPr id="907317438" name="Text 13"/>
          <p:cNvSpPr/>
          <p:nvPr/>
        </p:nvSpPr>
        <p:spPr bwMode="auto">
          <a:xfrm rot="0" flipH="0" flipV="0">
            <a:off x="566928" y="1501139"/>
            <a:ext cx="2480225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de-DE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Python | Selenium | Xvfb</a:t>
            </a:r>
            <a:endParaRPr lang="en-US" sz="1100"/>
          </a:p>
        </p:txBody>
      </p:sp>
      <p:sp>
        <p:nvSpPr>
          <p:cNvPr id="1707390245" name="Flowchart: Alternate process 1919238323"/>
          <p:cNvSpPr/>
          <p:nvPr/>
        </p:nvSpPr>
        <p:spPr bwMode="auto">
          <a:xfrm rot="0" flipH="0" flipV="0">
            <a:off x="3686554" y="1225296"/>
            <a:ext cx="2765534" cy="5175502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0282846" name="Text 11"/>
          <p:cNvSpPr/>
          <p:nvPr/>
        </p:nvSpPr>
        <p:spPr bwMode="auto">
          <a:xfrm rot="0" flipH="0" flipV="0">
            <a:off x="3870033" y="1586896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97"/>
              </a:lnSpc>
              <a:buNone/>
              <a:defRPr/>
            </a:pPr>
            <a:r>
              <a:rPr lang="de-DE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Postgres for</a:t>
            </a:r>
            <a:endParaRPr sz="1600" b="1"/>
          </a:p>
        </p:txBody>
      </p:sp>
      <p:sp>
        <p:nvSpPr>
          <p:cNvPr id="509148767" name="Text 2"/>
          <p:cNvSpPr/>
          <p:nvPr/>
        </p:nvSpPr>
        <p:spPr bwMode="auto">
          <a:xfrm rot="0" flipH="0" flipV="0">
            <a:off x="3932394" y="2166261"/>
            <a:ext cx="2239002" cy="144561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/>
          <a:lstStyle/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Storing fetched data as bronze layer (raw)</a:t>
            </a:r>
            <a:endParaRPr lang="de-DE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Data cleaning &amp; transformation to silver layer</a:t>
            </a:r>
            <a:endParaRPr lang="de-DE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Aggregation to gold layer</a:t>
            </a:r>
            <a:endParaRPr lang="en-US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endParaRPr lang="en-US" sz="1200"/>
          </a:p>
        </p:txBody>
      </p:sp>
      <p:sp>
        <p:nvSpPr>
          <p:cNvPr id="1121661701" name="Text 11"/>
          <p:cNvSpPr/>
          <p:nvPr/>
        </p:nvSpPr>
        <p:spPr bwMode="auto">
          <a:xfrm rot="0" flipH="0" flipV="0">
            <a:off x="3870033" y="4600416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97"/>
              </a:lnSpc>
              <a:buNone/>
              <a:defRPr/>
            </a:pPr>
            <a:r>
              <a:rPr lang="de-DE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Neon DB for</a:t>
            </a:r>
            <a:endParaRPr sz="1600" b="1"/>
          </a:p>
        </p:txBody>
      </p:sp>
      <p:sp>
        <p:nvSpPr>
          <p:cNvPr id="1444197557" name="Text 2"/>
          <p:cNvSpPr/>
          <p:nvPr/>
        </p:nvSpPr>
        <p:spPr bwMode="auto">
          <a:xfrm rot="0" flipH="0" flipV="0">
            <a:off x="3870033" y="5099684"/>
            <a:ext cx="2239002" cy="144561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/>
          <a:lstStyle/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Storing postgres data in cloud</a:t>
            </a:r>
            <a:endParaRPr lang="de-DE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Free-tier; not limited by time</a:t>
            </a:r>
            <a:endParaRPr lang="en-US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endParaRPr lang="en-US" sz="1200"/>
          </a:p>
        </p:txBody>
      </p:sp>
      <p:pic>
        <p:nvPicPr>
          <p:cNvPr id="16704934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819665" y="1984372"/>
            <a:ext cx="5067919" cy="34955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0072078" name=""/>
          <p:cNvSpPr/>
          <p:nvPr/>
        </p:nvSpPr>
        <p:spPr bwMode="auto">
          <a:xfrm rot="0" flipH="0" flipV="0">
            <a:off x="320039" y="547877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4484660" name=""/>
          <p:cNvSpPr/>
          <p:nvPr/>
        </p:nvSpPr>
        <p:spPr bwMode="auto">
          <a:xfrm rot="0" flipH="0" flipV="0">
            <a:off x="320039" y="429005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6150175" name=""/>
          <p:cNvSpPr/>
          <p:nvPr/>
        </p:nvSpPr>
        <p:spPr bwMode="auto">
          <a:xfrm rot="0" flipH="0" flipV="0">
            <a:off x="338328" y="310133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95152759" name=""/>
          <p:cNvSpPr/>
          <p:nvPr/>
        </p:nvSpPr>
        <p:spPr bwMode="auto">
          <a:xfrm rot="0" flipH="0" flipV="0">
            <a:off x="338328" y="191261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2506348" name=""/>
          <p:cNvSpPr/>
          <p:nvPr/>
        </p:nvSpPr>
        <p:spPr bwMode="auto">
          <a:xfrm rot="0" flipH="0" flipV="0">
            <a:off x="338328" y="723899"/>
            <a:ext cx="2977718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5060982" name="Text 0"/>
          <p:cNvSpPr/>
          <p:nvPr/>
        </p:nvSpPr>
        <p:spPr bwMode="auto">
          <a:xfrm rot="0" flipH="0" flipV="0">
            <a:off x="548639" y="3192779"/>
            <a:ext cx="1269723" cy="2022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93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Storage</a:t>
            </a:r>
            <a:endParaRPr lang="en-US" sz="1600"/>
          </a:p>
        </p:txBody>
      </p:sp>
      <p:sp>
        <p:nvSpPr>
          <p:cNvPr id="278608227" name="Text 1"/>
          <p:cNvSpPr/>
          <p:nvPr/>
        </p:nvSpPr>
        <p:spPr bwMode="auto">
          <a:xfrm rot="0" flipH="0" flipV="0">
            <a:off x="548639" y="3421379"/>
            <a:ext cx="1049814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Database</a:t>
            </a:r>
            <a:endParaRPr lang="en-US" sz="1000"/>
          </a:p>
        </p:txBody>
      </p:sp>
      <p:sp>
        <p:nvSpPr>
          <p:cNvPr id="66954777" name="Text 2"/>
          <p:cNvSpPr/>
          <p:nvPr/>
        </p:nvSpPr>
        <p:spPr bwMode="auto">
          <a:xfrm rot="0" flipH="0" flipV="0">
            <a:off x="548639" y="3832859"/>
            <a:ext cx="2239002" cy="1480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65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PostgreSQL</a:t>
            </a:r>
            <a:r>
              <a:rPr lang="de-DE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 | NeonDB</a:t>
            </a:r>
            <a:endParaRPr lang="en-US" sz="1200"/>
          </a:p>
        </p:txBody>
      </p:sp>
      <p:sp>
        <p:nvSpPr>
          <p:cNvPr id="1593939368" name="Text 4"/>
          <p:cNvSpPr/>
          <p:nvPr/>
        </p:nvSpPr>
        <p:spPr bwMode="auto">
          <a:xfrm rot="0" flipH="0" flipV="0">
            <a:off x="548639" y="4427219"/>
            <a:ext cx="2546984" cy="1924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16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Transforma</a:t>
            </a: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tion</a:t>
            </a:r>
            <a:endParaRPr lang="en-US" sz="1600"/>
          </a:p>
        </p:txBody>
      </p:sp>
      <p:sp>
        <p:nvSpPr>
          <p:cNvPr id="1575619055" name="Text 5"/>
          <p:cNvSpPr/>
          <p:nvPr/>
        </p:nvSpPr>
        <p:spPr bwMode="auto">
          <a:xfrm rot="0" flipH="0" flipV="0">
            <a:off x="548639" y="4655819"/>
            <a:ext cx="1497330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Model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ing</a:t>
            </a:r>
            <a:endParaRPr lang="en-US" sz="1000"/>
          </a:p>
        </p:txBody>
      </p:sp>
      <p:sp>
        <p:nvSpPr>
          <p:cNvPr id="1989828806" name="Text 6"/>
          <p:cNvSpPr/>
          <p:nvPr/>
        </p:nvSpPr>
        <p:spPr bwMode="auto">
          <a:xfrm rot="0" flipH="0" flipV="0">
            <a:off x="548639" y="5067299"/>
            <a:ext cx="1414937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dbt</a:t>
            </a:r>
            <a:endParaRPr lang="en-US" sz="1200"/>
          </a:p>
        </p:txBody>
      </p:sp>
      <p:sp>
        <p:nvSpPr>
          <p:cNvPr id="369655324" name="Text 7"/>
          <p:cNvSpPr/>
          <p:nvPr/>
        </p:nvSpPr>
        <p:spPr bwMode="auto">
          <a:xfrm rot="0" flipH="0" flipV="0">
            <a:off x="548639" y="861059"/>
            <a:ext cx="1631891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-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Ingestion</a:t>
            </a:r>
            <a:endParaRPr lang="en-US" sz="1600"/>
          </a:p>
        </p:txBody>
      </p:sp>
      <p:sp>
        <p:nvSpPr>
          <p:cNvPr id="1236484246" name="Text 8"/>
          <p:cNvSpPr/>
          <p:nvPr/>
        </p:nvSpPr>
        <p:spPr bwMode="auto">
          <a:xfrm rot="0" flipH="0" flipV="0">
            <a:off x="548639" y="1089659"/>
            <a:ext cx="1099926" cy="2235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Web</a:t>
            </a:r>
            <a:r>
              <a:rPr lang="de-DE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Scrapin</a:t>
            </a:r>
            <a:r>
              <a:rPr lang="en-US" sz="1000" spc="23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g</a:t>
            </a:r>
            <a:endParaRPr lang="en-US" sz="1000"/>
          </a:p>
        </p:txBody>
      </p:sp>
      <p:sp>
        <p:nvSpPr>
          <p:cNvPr id="122233825" name="Text 11"/>
          <p:cNvSpPr/>
          <p:nvPr/>
        </p:nvSpPr>
        <p:spPr bwMode="auto">
          <a:xfrm rot="0" flipH="0" flipV="0">
            <a:off x="548639" y="2049779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497"/>
              </a:lnSpc>
              <a:buNone/>
              <a:defRPr/>
            </a:pPr>
            <a:r>
              <a:rPr lang="en-US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Orchestrat</a:t>
            </a: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ion</a:t>
            </a:r>
            <a:endParaRPr lang="en-US" sz="1600"/>
          </a:p>
        </p:txBody>
      </p:sp>
      <p:sp>
        <p:nvSpPr>
          <p:cNvPr id="300460282" name="Text 12"/>
          <p:cNvSpPr/>
          <p:nvPr/>
        </p:nvSpPr>
        <p:spPr bwMode="auto">
          <a:xfrm rot="0" flipH="0" flipV="0">
            <a:off x="566928" y="2278379"/>
            <a:ext cx="1438115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Task</a:t>
            </a:r>
            <a:r>
              <a:rPr lang="de-DE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Scheduling</a:t>
            </a:r>
            <a:endParaRPr lang="en-US" sz="1000"/>
          </a:p>
        </p:txBody>
      </p:sp>
      <p:sp>
        <p:nvSpPr>
          <p:cNvPr id="1300855730" name="Text 13"/>
          <p:cNvSpPr/>
          <p:nvPr/>
        </p:nvSpPr>
        <p:spPr bwMode="auto">
          <a:xfrm rot="0" flipH="0" flipV="0">
            <a:off x="548639" y="2689859"/>
            <a:ext cx="1557654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Airﬂow</a:t>
            </a:r>
            <a:endParaRPr lang="en-US" sz="1100"/>
          </a:p>
        </p:txBody>
      </p:sp>
      <p:sp>
        <p:nvSpPr>
          <p:cNvPr id="256228446" name="Text 14"/>
          <p:cNvSpPr/>
          <p:nvPr/>
        </p:nvSpPr>
        <p:spPr bwMode="auto">
          <a:xfrm rot="0" flipH="0" flipV="0">
            <a:off x="548639" y="5570219"/>
            <a:ext cx="1264796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Serving</a:t>
            </a:r>
            <a:endParaRPr lang="en-US" sz="1600"/>
          </a:p>
        </p:txBody>
      </p:sp>
      <p:sp>
        <p:nvSpPr>
          <p:cNvPr id="460018737" name="Text 15"/>
          <p:cNvSpPr/>
          <p:nvPr/>
        </p:nvSpPr>
        <p:spPr bwMode="auto">
          <a:xfrm rot="0" flipH="0" flipV="0">
            <a:off x="548639" y="5798819"/>
            <a:ext cx="1244727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UI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Dashboa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rd</a:t>
            </a:r>
            <a:endParaRPr lang="en-US" sz="1000"/>
          </a:p>
        </p:txBody>
      </p:sp>
      <p:sp>
        <p:nvSpPr>
          <p:cNvPr id="1916961236" name="Text 16"/>
          <p:cNvSpPr/>
          <p:nvPr/>
        </p:nvSpPr>
        <p:spPr bwMode="auto">
          <a:xfrm rot="0" flipH="0" flipV="0">
            <a:off x="548639" y="6210299"/>
            <a:ext cx="1234440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Streamlit</a:t>
            </a:r>
            <a:endParaRPr lang="en-US" sz="1200"/>
          </a:p>
        </p:txBody>
      </p:sp>
      <p:sp>
        <p:nvSpPr>
          <p:cNvPr id="1570796319" name=""/>
          <p:cNvSpPr txBox="1"/>
          <p:nvPr/>
        </p:nvSpPr>
        <p:spPr bwMode="auto">
          <a:xfrm flipH="0" flipV="0">
            <a:off x="3690727" y="573349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919235036" name="Text 0"/>
          <p:cNvSpPr/>
          <p:nvPr/>
        </p:nvSpPr>
        <p:spPr bwMode="auto">
          <a:xfrm flipH="0" flipV="0">
            <a:off x="3530946" y="106427"/>
            <a:ext cx="8451887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4"/>
              </a:lnSpc>
              <a:buNone/>
              <a:defRPr/>
            </a:pPr>
            <a:r>
              <a:rPr lang="de-DE" sz="4800" b="0" i="0" u="none" strike="noStrike" cap="none" spc="-123">
                <a:solidFill>
                  <a:srgbClr val="5DA2EE"/>
                </a:solidFill>
                <a:latin typeface="Yu Gothic UI Semibold"/>
                <a:ea typeface="Yu Gothic UI Semibold"/>
                <a:cs typeface="Yu Gothic UI Semibold"/>
              </a:rPr>
              <a:t>Architecture Overview</a:t>
            </a:r>
            <a:endParaRPr sz="4800" b="0">
              <a:solidFill>
                <a:srgbClr val="5DA2EE"/>
              </a:solidFill>
              <a:latin typeface="Yu Gothic UI Semibold"/>
              <a:cs typeface="Yu Gothic UI Semibold"/>
            </a:endParaRPr>
          </a:p>
          <a:p>
            <a:pPr>
              <a:defRPr/>
            </a:pPr>
            <a:endParaRPr/>
          </a:p>
        </p:txBody>
      </p:sp>
      <p:sp>
        <p:nvSpPr>
          <p:cNvPr id="816134800" name="Text 13"/>
          <p:cNvSpPr/>
          <p:nvPr/>
        </p:nvSpPr>
        <p:spPr bwMode="auto">
          <a:xfrm rot="0" flipH="0" flipV="0">
            <a:off x="566928" y="1501139"/>
            <a:ext cx="2480225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de-DE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Python | Selenium | Xvfb</a:t>
            </a:r>
            <a:endParaRPr lang="en-US" sz="1100"/>
          </a:p>
        </p:txBody>
      </p:sp>
      <p:sp>
        <p:nvSpPr>
          <p:cNvPr id="94776138" name="Flowchart: Alternate process 1919238323"/>
          <p:cNvSpPr/>
          <p:nvPr/>
        </p:nvSpPr>
        <p:spPr bwMode="auto">
          <a:xfrm rot="0" flipH="0" flipV="0">
            <a:off x="3686554" y="1225296"/>
            <a:ext cx="2765534" cy="5175502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31429623" name="Text 11"/>
          <p:cNvSpPr/>
          <p:nvPr/>
        </p:nvSpPr>
        <p:spPr bwMode="auto">
          <a:xfrm rot="0" flipH="0" flipV="0">
            <a:off x="3870033" y="1586896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97"/>
              </a:lnSpc>
              <a:buNone/>
              <a:defRPr/>
            </a:pPr>
            <a:r>
              <a:rPr lang="de-DE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Dbt:</a:t>
            </a:r>
            <a:endParaRPr sz="1600" b="1"/>
          </a:p>
        </p:txBody>
      </p:sp>
      <p:sp>
        <p:nvSpPr>
          <p:cNvPr id="1092630304" name="Text 2"/>
          <p:cNvSpPr/>
          <p:nvPr/>
        </p:nvSpPr>
        <p:spPr bwMode="auto">
          <a:xfrm rot="0" flipH="0" flipV="0">
            <a:off x="3932394" y="2166261"/>
            <a:ext cx="2239002" cy="144561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/>
          <a:lstStyle/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Our main transformation engine</a:t>
            </a:r>
            <a:endParaRPr lang="de-DE"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Making sure the processes are run in the correct order</a:t>
            </a:r>
            <a:r>
              <a:rPr lang="de-DE" sz="1200" b="1" spc="-4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 (first: bronze to silver, then: silver to gold)</a:t>
            </a:r>
            <a:endParaRPr sz="1200" b="1" spc="-4">
              <a:solidFill>
                <a:srgbClr val="F1F5F9"/>
              </a:solidFill>
              <a:latin typeface="Verdana"/>
              <a:ea typeface="Verdana"/>
              <a:cs typeface="Verdana"/>
            </a:endParaRPr>
          </a:p>
          <a:p>
            <a:pPr marL="217792" indent="-217792" algn="l">
              <a:lnSpc>
                <a:spcPct val="150000"/>
              </a:lnSpc>
              <a:buFont typeface="Arial"/>
              <a:buChar char="–"/>
              <a:defRPr/>
            </a:pPr>
            <a:endParaRPr sz="1200" b="1"/>
          </a:p>
        </p:txBody>
      </p:sp>
      <p:pic>
        <p:nvPicPr>
          <p:cNvPr id="22141973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733076" y="2714625"/>
            <a:ext cx="5249758" cy="15582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9024594" name=""/>
          <p:cNvSpPr/>
          <p:nvPr/>
        </p:nvSpPr>
        <p:spPr bwMode="auto">
          <a:xfrm rot="0" flipH="0" flipV="0">
            <a:off x="320039" y="547877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rgbClr val="5DA2EE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0081182" name=""/>
          <p:cNvSpPr/>
          <p:nvPr/>
        </p:nvSpPr>
        <p:spPr bwMode="auto">
          <a:xfrm rot="0" flipH="0" flipV="0">
            <a:off x="320039" y="429005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50962335" name=""/>
          <p:cNvSpPr/>
          <p:nvPr/>
        </p:nvSpPr>
        <p:spPr bwMode="auto">
          <a:xfrm rot="0" flipH="0" flipV="0">
            <a:off x="338328" y="310133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5494270" name=""/>
          <p:cNvSpPr/>
          <p:nvPr/>
        </p:nvSpPr>
        <p:spPr bwMode="auto">
          <a:xfrm rot="0" flipH="0" flipV="0">
            <a:off x="338328" y="1912619"/>
            <a:ext cx="2977717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3980074" name=""/>
          <p:cNvSpPr/>
          <p:nvPr/>
        </p:nvSpPr>
        <p:spPr bwMode="auto">
          <a:xfrm rot="0" flipH="0" flipV="0">
            <a:off x="338328" y="723899"/>
            <a:ext cx="2977718" cy="1058846"/>
          </a:xfrm>
          <a:prstGeom prst="flowChartAlternateProcess">
            <a:avLst/>
          </a:prstGeom>
          <a:solidFill>
            <a:schemeClr val="bg1">
              <a:alpha val="10000"/>
            </a:schemeClr>
          </a:solidFill>
          <a:ln w="28575" cap="flat" cmpd="sng" algn="ctr">
            <a:solidFill>
              <a:schemeClr val="tx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14355455" name="Text 0"/>
          <p:cNvSpPr/>
          <p:nvPr/>
        </p:nvSpPr>
        <p:spPr bwMode="auto">
          <a:xfrm rot="0" flipH="0" flipV="0">
            <a:off x="548639" y="3192779"/>
            <a:ext cx="1269723" cy="2022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93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Storage</a:t>
            </a:r>
            <a:endParaRPr lang="en-US" sz="1600"/>
          </a:p>
        </p:txBody>
      </p:sp>
      <p:sp>
        <p:nvSpPr>
          <p:cNvPr id="240998561" name="Text 1"/>
          <p:cNvSpPr/>
          <p:nvPr/>
        </p:nvSpPr>
        <p:spPr bwMode="auto">
          <a:xfrm rot="0" flipH="0" flipV="0">
            <a:off x="548639" y="3421379"/>
            <a:ext cx="1049814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Database</a:t>
            </a:r>
            <a:endParaRPr lang="en-US" sz="1000"/>
          </a:p>
        </p:txBody>
      </p:sp>
      <p:sp>
        <p:nvSpPr>
          <p:cNvPr id="1207880080" name="Text 2"/>
          <p:cNvSpPr/>
          <p:nvPr/>
        </p:nvSpPr>
        <p:spPr bwMode="auto">
          <a:xfrm rot="0" flipH="0" flipV="0">
            <a:off x="548639" y="3832859"/>
            <a:ext cx="2239002" cy="1480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65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PostgreSQL</a:t>
            </a:r>
            <a:r>
              <a:rPr lang="de-DE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 | NeonDB</a:t>
            </a:r>
            <a:endParaRPr lang="en-US" sz="1200"/>
          </a:p>
        </p:txBody>
      </p:sp>
      <p:sp>
        <p:nvSpPr>
          <p:cNvPr id="969675694" name="Text 4"/>
          <p:cNvSpPr/>
          <p:nvPr/>
        </p:nvSpPr>
        <p:spPr bwMode="auto">
          <a:xfrm rot="0" flipH="0" flipV="0">
            <a:off x="548639" y="4427219"/>
            <a:ext cx="2546984" cy="1924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16"/>
              </a:lnSpc>
              <a:buNone/>
              <a:defRPr/>
            </a:pP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Transforma</a:t>
            </a: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tion</a:t>
            </a:r>
            <a:endParaRPr lang="en-US" sz="1600"/>
          </a:p>
        </p:txBody>
      </p:sp>
      <p:sp>
        <p:nvSpPr>
          <p:cNvPr id="801207268" name="Text 5"/>
          <p:cNvSpPr/>
          <p:nvPr/>
        </p:nvSpPr>
        <p:spPr bwMode="auto">
          <a:xfrm rot="0" flipH="0" flipV="0">
            <a:off x="548639" y="4655819"/>
            <a:ext cx="1497330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Data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Model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ing</a:t>
            </a:r>
            <a:endParaRPr lang="en-US" sz="1000"/>
          </a:p>
        </p:txBody>
      </p:sp>
      <p:sp>
        <p:nvSpPr>
          <p:cNvPr id="618508667" name="Text 6"/>
          <p:cNvSpPr/>
          <p:nvPr/>
        </p:nvSpPr>
        <p:spPr bwMode="auto">
          <a:xfrm rot="0" flipH="0" flipV="0">
            <a:off x="548639" y="5067299"/>
            <a:ext cx="1414937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dbt</a:t>
            </a:r>
            <a:endParaRPr lang="en-US" sz="1200"/>
          </a:p>
        </p:txBody>
      </p:sp>
      <p:sp>
        <p:nvSpPr>
          <p:cNvPr id="261707817" name="Text 7"/>
          <p:cNvSpPr/>
          <p:nvPr/>
        </p:nvSpPr>
        <p:spPr bwMode="auto">
          <a:xfrm rot="0" flipH="0" flipV="0">
            <a:off x="548639" y="861059"/>
            <a:ext cx="1631891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-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Ingestion</a:t>
            </a:r>
            <a:endParaRPr lang="en-US" sz="1600"/>
          </a:p>
        </p:txBody>
      </p:sp>
      <p:sp>
        <p:nvSpPr>
          <p:cNvPr id="707825644" name="Text 8"/>
          <p:cNvSpPr/>
          <p:nvPr/>
        </p:nvSpPr>
        <p:spPr bwMode="auto">
          <a:xfrm rot="0" flipH="0" flipV="0">
            <a:off x="548639" y="1089659"/>
            <a:ext cx="1099926" cy="2235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Web</a:t>
            </a:r>
            <a:r>
              <a:rPr lang="de-DE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2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Scrapin</a:t>
            </a:r>
            <a:r>
              <a:rPr lang="en-US" sz="1000" spc="23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g</a:t>
            </a:r>
            <a:endParaRPr lang="en-US" sz="1000"/>
          </a:p>
        </p:txBody>
      </p:sp>
      <p:sp>
        <p:nvSpPr>
          <p:cNvPr id="1191580776" name="Text 11"/>
          <p:cNvSpPr/>
          <p:nvPr/>
        </p:nvSpPr>
        <p:spPr bwMode="auto">
          <a:xfrm rot="0" flipH="0" flipV="0">
            <a:off x="548639" y="2049779"/>
            <a:ext cx="2363724" cy="1901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497"/>
              </a:lnSpc>
              <a:buNone/>
              <a:defRPr/>
            </a:pPr>
            <a:r>
              <a:rPr lang="en-US" sz="1600" b="1" spc="18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Orchestrat</a:t>
            </a:r>
            <a:r>
              <a:rPr lang="en-US" sz="1600" b="1" spc="11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ion</a:t>
            </a:r>
            <a:endParaRPr lang="en-US" sz="1600"/>
          </a:p>
        </p:txBody>
      </p:sp>
      <p:sp>
        <p:nvSpPr>
          <p:cNvPr id="2053195033" name="Text 12"/>
          <p:cNvSpPr/>
          <p:nvPr/>
        </p:nvSpPr>
        <p:spPr bwMode="auto">
          <a:xfrm rot="0" flipH="0" flipV="0">
            <a:off x="566928" y="2278379"/>
            <a:ext cx="1438115" cy="130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1"/>
              </a:lnSpc>
              <a:buNone/>
              <a:defRPr/>
            </a:pP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Task</a:t>
            </a:r>
            <a:r>
              <a:rPr lang="de-DE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Scheduling</a:t>
            </a:r>
            <a:endParaRPr lang="en-US" sz="1000"/>
          </a:p>
        </p:txBody>
      </p:sp>
      <p:sp>
        <p:nvSpPr>
          <p:cNvPr id="428820303" name="Text 13"/>
          <p:cNvSpPr/>
          <p:nvPr/>
        </p:nvSpPr>
        <p:spPr bwMode="auto">
          <a:xfrm rot="0" flipH="0" flipV="0">
            <a:off x="548639" y="2689859"/>
            <a:ext cx="1557654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Airﬂow</a:t>
            </a:r>
            <a:endParaRPr lang="en-US" sz="1100"/>
          </a:p>
        </p:txBody>
      </p:sp>
      <p:sp>
        <p:nvSpPr>
          <p:cNvPr id="359313420" name="Text 14"/>
          <p:cNvSpPr/>
          <p:nvPr/>
        </p:nvSpPr>
        <p:spPr bwMode="auto">
          <a:xfrm rot="0" flipH="0" flipV="0">
            <a:off x="548639" y="5570219"/>
            <a:ext cx="1264796" cy="207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31"/>
              </a:lnSpc>
              <a:buNone/>
              <a:defRPr/>
            </a:pPr>
            <a:r>
              <a:rPr lang="en-US" sz="1600" b="1" spc="5">
                <a:solidFill>
                  <a:srgbClr val="F8FAFC"/>
                </a:solidFill>
                <a:latin typeface="Verdana"/>
                <a:ea typeface="Verdana"/>
                <a:cs typeface="Verdana"/>
              </a:rPr>
              <a:t>Serving</a:t>
            </a:r>
            <a:endParaRPr lang="en-US" sz="1600"/>
          </a:p>
        </p:txBody>
      </p:sp>
      <p:sp>
        <p:nvSpPr>
          <p:cNvPr id="2111629709" name="Text 15"/>
          <p:cNvSpPr/>
          <p:nvPr/>
        </p:nvSpPr>
        <p:spPr bwMode="auto">
          <a:xfrm rot="0" flipH="0" flipV="0">
            <a:off x="548639" y="5798819"/>
            <a:ext cx="1244727" cy="1202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947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UI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Dashboa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rd</a:t>
            </a:r>
            <a:endParaRPr lang="en-US" sz="1000"/>
          </a:p>
        </p:txBody>
      </p:sp>
      <p:sp>
        <p:nvSpPr>
          <p:cNvPr id="1890290376" name="Text 16"/>
          <p:cNvSpPr/>
          <p:nvPr/>
        </p:nvSpPr>
        <p:spPr bwMode="auto">
          <a:xfrm rot="0" flipH="0" flipV="0">
            <a:off x="548639" y="6210299"/>
            <a:ext cx="1234440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en-US" sz="12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Streamlit</a:t>
            </a:r>
            <a:endParaRPr lang="en-US" sz="1200"/>
          </a:p>
        </p:txBody>
      </p:sp>
      <p:sp>
        <p:nvSpPr>
          <p:cNvPr id="338165589" name=""/>
          <p:cNvSpPr txBox="1"/>
          <p:nvPr/>
        </p:nvSpPr>
        <p:spPr bwMode="auto">
          <a:xfrm flipH="0" flipV="0">
            <a:off x="3690727" y="573349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861478495" name="Text 0"/>
          <p:cNvSpPr/>
          <p:nvPr/>
        </p:nvSpPr>
        <p:spPr bwMode="auto">
          <a:xfrm flipH="0" flipV="0">
            <a:off x="3530946" y="106427"/>
            <a:ext cx="8451887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4"/>
              </a:lnSpc>
              <a:buNone/>
              <a:defRPr/>
            </a:pPr>
            <a:r>
              <a:rPr lang="de-DE" sz="4800" b="0" i="0" u="none" strike="noStrike" cap="none" spc="-123">
                <a:solidFill>
                  <a:srgbClr val="5DA2EE"/>
                </a:solidFill>
                <a:latin typeface="Yu Gothic UI Semibold"/>
                <a:ea typeface="Yu Gothic UI Semibold"/>
                <a:cs typeface="Yu Gothic UI Semibold"/>
              </a:rPr>
              <a:t>Architecture Overview</a:t>
            </a:r>
            <a:endParaRPr sz="4800" b="0">
              <a:solidFill>
                <a:srgbClr val="5DA2EE"/>
              </a:solidFill>
              <a:latin typeface="Yu Gothic UI Semibold"/>
              <a:cs typeface="Yu Gothic UI Semibold"/>
            </a:endParaRPr>
          </a:p>
          <a:p>
            <a:pPr>
              <a:defRPr/>
            </a:pPr>
            <a:endParaRPr/>
          </a:p>
        </p:txBody>
      </p:sp>
      <p:sp>
        <p:nvSpPr>
          <p:cNvPr id="577135216" name="Text 13"/>
          <p:cNvSpPr/>
          <p:nvPr/>
        </p:nvSpPr>
        <p:spPr bwMode="auto">
          <a:xfrm rot="0" flipH="0" flipV="0">
            <a:off x="566928" y="1501139"/>
            <a:ext cx="2480225" cy="1424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122"/>
              </a:lnSpc>
              <a:buNone/>
              <a:defRPr/>
            </a:pPr>
            <a:r>
              <a:rPr lang="de-DE" sz="1100" b="1" spc="-5">
                <a:solidFill>
                  <a:srgbClr val="F1F5F9"/>
                </a:solidFill>
                <a:latin typeface="Verdana"/>
                <a:ea typeface="Verdana"/>
                <a:cs typeface="Verdana"/>
              </a:rPr>
              <a:t>Python | Selenium | Xvfb</a:t>
            </a:r>
            <a:endParaRPr lang="en-US" sz="1100"/>
          </a:p>
        </p:txBody>
      </p:sp>
      <p:pic>
        <p:nvPicPr>
          <p:cNvPr id="18892713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578368" y="1615135"/>
            <a:ext cx="6357044" cy="48164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1186457" name="Image 4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2000" y="1384300"/>
            <a:ext cx="5143500" cy="2517775"/>
          </a:xfrm>
          <a:prstGeom prst="rect">
            <a:avLst/>
          </a:prstGeom>
        </p:spPr>
      </p:pic>
      <p:pic>
        <p:nvPicPr>
          <p:cNvPr id="2016555817" name="Image 7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286500" y="1384300"/>
            <a:ext cx="5143500" cy="1431925"/>
          </a:xfrm>
          <a:prstGeom prst="rect">
            <a:avLst/>
          </a:prstGeom>
        </p:spPr>
      </p:pic>
      <p:pic>
        <p:nvPicPr>
          <p:cNvPr id="569532613" name="Image 8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6286500" y="2816225"/>
            <a:ext cx="2571750" cy="1101725"/>
          </a:xfrm>
          <a:prstGeom prst="rect">
            <a:avLst/>
          </a:prstGeom>
        </p:spPr>
      </p:pic>
      <p:pic>
        <p:nvPicPr>
          <p:cNvPr id="1827910023" name="Image 9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8858250" y="2816225"/>
            <a:ext cx="2571750" cy="1101725"/>
          </a:xfrm>
          <a:prstGeom prst="rect">
            <a:avLst/>
          </a:prstGeom>
        </p:spPr>
      </p:pic>
      <p:pic>
        <p:nvPicPr>
          <p:cNvPr id="52524323" name="Image 12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6578600" y="1739900"/>
            <a:ext cx="304800" cy="190500"/>
          </a:xfrm>
          <a:prstGeom prst="rect">
            <a:avLst/>
          </a:prstGeom>
        </p:spPr>
      </p:pic>
      <p:pic>
        <p:nvPicPr>
          <p:cNvPr id="1467308590" name="Image 13" descr="preencoded.png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1079499" y="499738"/>
            <a:ext cx="7950200" cy="546100"/>
          </a:xfrm>
          <a:prstGeom prst="rect">
            <a:avLst/>
          </a:prstGeom>
        </p:spPr>
      </p:pic>
      <p:pic>
        <p:nvPicPr>
          <p:cNvPr id="1309809297" name="Image 14" descr="preencoded.png"/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>
            <a:off x="6578600" y="2921000"/>
            <a:ext cx="2184400" cy="711200"/>
          </a:xfrm>
          <a:prstGeom prst="rect">
            <a:avLst/>
          </a:prstGeom>
        </p:spPr>
      </p:pic>
      <p:pic>
        <p:nvPicPr>
          <p:cNvPr id="1598069679" name="Image 15" descr="preencoded.png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>
            <a:off x="8953500" y="2921000"/>
            <a:ext cx="2184400" cy="711200"/>
          </a:xfrm>
          <a:prstGeom prst="rect">
            <a:avLst/>
          </a:prstGeom>
        </p:spPr>
      </p:pic>
      <p:sp>
        <p:nvSpPr>
          <p:cNvPr id="1351928225" name="Text 0"/>
          <p:cNvSpPr/>
          <p:nvPr/>
        </p:nvSpPr>
        <p:spPr bwMode="auto">
          <a:xfrm>
            <a:off x="1081286" y="1701800"/>
            <a:ext cx="5118100" cy="2139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5"/>
              </a:lnSpc>
              <a:buNone/>
              <a:defRPr/>
            </a:pPr>
            <a:r>
              <a:rPr lang="en-US" sz="1800" b="1" spc="-11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Current</a:t>
            </a:r>
            <a:r>
              <a:rPr lang="de-DE" sz="1800" b="1" spc="-11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 </a:t>
            </a:r>
            <a:r>
              <a:rPr lang="en-US" sz="1800" b="1" spc="-11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Infrastruc</a:t>
            </a:r>
            <a:r>
              <a:rPr lang="en-US" sz="1800" b="1" spc="-18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ture</a:t>
            </a:r>
            <a:endParaRPr lang="en-US" sz="1800"/>
          </a:p>
        </p:txBody>
      </p:sp>
      <p:sp>
        <p:nvSpPr>
          <p:cNvPr id="296699624" name="Text 2"/>
          <p:cNvSpPr/>
          <p:nvPr/>
        </p:nvSpPr>
        <p:spPr bwMode="auto">
          <a:xfrm flipH="0" flipV="0">
            <a:off x="1120774" y="2100262"/>
            <a:ext cx="4528524" cy="6496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ct val="114999"/>
              </a:lnSpc>
              <a:buNone/>
              <a:defRPr/>
            </a:pPr>
            <a:r>
              <a:rPr lang="de-DE" sz="1300" b="1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Execution:</a:t>
            </a:r>
            <a:endParaRPr lang="de-DE" sz="1300" b="1">
              <a:solidFill>
                <a:srgbClr val="CBD5E1"/>
              </a:solidFill>
              <a:latin typeface="Verdana"/>
              <a:ea typeface="Verdana"/>
              <a:cs typeface="Verdana"/>
            </a:endParaRPr>
          </a:p>
          <a:p>
            <a:pPr marL="0" indent="0" algn="l">
              <a:lnSpc>
                <a:spcPts val="1278"/>
              </a:lnSpc>
              <a:buNone/>
              <a:defRPr/>
            </a:pPr>
            <a:r>
              <a:rPr lang="de-DE" sz="1300" b="0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Local environment (Docker Compose) – €0</a:t>
            </a:r>
            <a:endParaRPr lang="en-US" sz="1300"/>
          </a:p>
        </p:txBody>
      </p:sp>
      <p:sp>
        <p:nvSpPr>
          <p:cNvPr id="1810029892" name="Text 3"/>
          <p:cNvSpPr/>
          <p:nvPr/>
        </p:nvSpPr>
        <p:spPr bwMode="auto">
          <a:xfrm>
            <a:off x="6971904" y="1727199"/>
            <a:ext cx="5118100" cy="2248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71"/>
              </a:lnSpc>
              <a:buNone/>
              <a:defRPr/>
            </a:pPr>
            <a:r>
              <a:rPr lang="en-US" sz="1800" b="1" spc="-5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AWS</a:t>
            </a:r>
            <a:r>
              <a:rPr lang="de-DE" sz="1800" b="1" spc="-5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 </a:t>
            </a:r>
            <a:r>
              <a:rPr lang="en-US" sz="1800" b="1" spc="-5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Migration</a:t>
            </a:r>
            <a:r>
              <a:rPr lang="de-DE" sz="1800" b="1" spc="-5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 </a:t>
            </a:r>
            <a:r>
              <a:rPr lang="en-US" sz="1800" b="1" spc="-5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Esti</a:t>
            </a:r>
            <a:r>
              <a:rPr lang="en-US" sz="1800" b="1" spc="-11">
                <a:solidFill>
                  <a:srgbClr val="60A5FA"/>
                </a:solidFill>
                <a:latin typeface="Verdana"/>
                <a:ea typeface="Verdana"/>
                <a:cs typeface="Verdana"/>
              </a:rPr>
              <a:t>mate</a:t>
            </a:r>
            <a:endParaRPr lang="en-US" sz="1800"/>
          </a:p>
        </p:txBody>
      </p:sp>
      <p:sp>
        <p:nvSpPr>
          <p:cNvPr id="440754886" name="Text 4"/>
          <p:cNvSpPr/>
          <p:nvPr/>
        </p:nvSpPr>
        <p:spPr bwMode="auto">
          <a:xfrm>
            <a:off x="6051549" y="2231429"/>
            <a:ext cx="5118100" cy="168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26"/>
              </a:lnSpc>
              <a:buNone/>
              <a:defRPr/>
            </a:pPr>
            <a:r>
              <a:rPr lang="en-US" sz="1300" b="1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	Fargate</a:t>
            </a:r>
            <a:r>
              <a:rPr lang="en-US" sz="1300" b="1" spc="5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:</a:t>
            </a:r>
            <a:r>
              <a:rPr lang="de-DE" sz="1300" spc="5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300" spc="5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~$1.00 -</a:t>
            </a:r>
            <a:r>
              <a:rPr lang="en-US" sz="1300" spc="5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$1.50</a:t>
            </a:r>
            <a:r>
              <a:rPr lang="en-US" sz="1300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 /</a:t>
            </a:r>
            <a:r>
              <a:rPr lang="en-US" sz="1300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month</a:t>
            </a:r>
            <a:endParaRPr lang="en-US" sz="1300"/>
          </a:p>
        </p:txBody>
      </p:sp>
      <p:sp>
        <p:nvSpPr>
          <p:cNvPr id="325094311" name="Text 5"/>
          <p:cNvSpPr/>
          <p:nvPr/>
        </p:nvSpPr>
        <p:spPr bwMode="auto">
          <a:xfrm>
            <a:off x="6051549" y="2539404"/>
            <a:ext cx="5118100" cy="1750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79"/>
              </a:lnSpc>
              <a:buNone/>
              <a:defRPr/>
            </a:pPr>
            <a:r>
              <a:rPr lang="en-US" sz="1300" b="1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	EC2</a:t>
            </a:r>
            <a:r>
              <a:rPr lang="en-US" sz="1300" b="1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(Scheduled):</a:t>
            </a:r>
            <a:r>
              <a:rPr lang="de-DE" sz="1300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300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~$0.30 -</a:t>
            </a:r>
            <a:r>
              <a:rPr lang="en-US" sz="1300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$0.50 /</a:t>
            </a:r>
            <a:r>
              <a:rPr lang="en-US" sz="1300">
                <a:solidFill>
                  <a:srgbClr val="CBD5E1"/>
                </a:solidFill>
                <a:latin typeface="Lucida Sans Unicode"/>
                <a:ea typeface="Lucida Sans Unicode"/>
                <a:cs typeface="Lucida Sans Unicode"/>
              </a:rPr>
              <a:t>month</a:t>
            </a:r>
            <a:endParaRPr lang="en-US" sz="1300"/>
          </a:p>
        </p:txBody>
      </p:sp>
      <p:sp>
        <p:nvSpPr>
          <p:cNvPr id="674184457" name="Text 6"/>
          <p:cNvSpPr/>
          <p:nvPr/>
        </p:nvSpPr>
        <p:spPr bwMode="auto">
          <a:xfrm>
            <a:off x="7140574" y="3086100"/>
            <a:ext cx="1691481" cy="2220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50"/>
              </a:lnSpc>
              <a:buNone/>
              <a:defRPr/>
            </a:pPr>
            <a:r>
              <a:rPr lang="en-US" sz="1800" b="1" spc="-36">
                <a:solidFill>
                  <a:srgbClr val="34D399"/>
                </a:solidFill>
                <a:latin typeface="Verdana"/>
                <a:ea typeface="Verdana"/>
                <a:cs typeface="Verdana"/>
              </a:rPr>
              <a:t>&lt;</a:t>
            </a:r>
            <a:r>
              <a:rPr lang="de-DE" sz="1800" b="1" spc="-36">
                <a:solidFill>
                  <a:srgbClr val="34D399"/>
                </a:solidFill>
                <a:latin typeface="Verdana"/>
                <a:ea typeface="Verdana"/>
                <a:cs typeface="Verdana"/>
              </a:rPr>
              <a:t> </a:t>
            </a:r>
            <a:r>
              <a:rPr lang="de-DE" sz="1800" b="1" spc="-36">
                <a:solidFill>
                  <a:srgbClr val="34D399"/>
                </a:solidFill>
                <a:latin typeface="Verdana"/>
                <a:ea typeface="Verdana"/>
                <a:cs typeface="Verdana"/>
              </a:rPr>
              <a:t>€</a:t>
            </a:r>
            <a:r>
              <a:rPr lang="en-US" sz="1800" b="1" spc="-36">
                <a:solidFill>
                  <a:srgbClr val="34D399"/>
                </a:solidFill>
                <a:latin typeface="Verdana"/>
                <a:ea typeface="Verdana"/>
                <a:cs typeface="Verdana"/>
              </a:rPr>
              <a:t>2.00</a:t>
            </a:r>
            <a:endParaRPr lang="en-US" sz="1800"/>
          </a:p>
        </p:txBody>
      </p:sp>
      <p:sp>
        <p:nvSpPr>
          <p:cNvPr id="21966042" name="Text 7"/>
          <p:cNvSpPr/>
          <p:nvPr/>
        </p:nvSpPr>
        <p:spPr bwMode="auto">
          <a:xfrm>
            <a:off x="7055446" y="3333552"/>
            <a:ext cx="1826737" cy="13096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2"/>
              </a:lnSpc>
              <a:buNone/>
              <a:defRPr/>
            </a:pP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Total</a:t>
            </a:r>
            <a:r>
              <a:rPr lang="de-DE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1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Monthly C</a:t>
            </a:r>
            <a:r>
              <a:rPr lang="en-US" sz="1000" spc="5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ost</a:t>
            </a:r>
            <a:endParaRPr lang="en-US" sz="1000"/>
          </a:p>
        </p:txBody>
      </p:sp>
      <p:sp>
        <p:nvSpPr>
          <p:cNvPr id="1324372283" name="Text 8"/>
          <p:cNvSpPr/>
          <p:nvPr/>
        </p:nvSpPr>
        <p:spPr bwMode="auto">
          <a:xfrm>
            <a:off x="9739511" y="3086100"/>
            <a:ext cx="1594803" cy="2248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71"/>
              </a:lnSpc>
              <a:buNone/>
              <a:defRPr/>
            </a:pPr>
            <a:r>
              <a:rPr lang="en-US" sz="1800" b="1" spc="-18">
                <a:solidFill>
                  <a:srgbClr val="34D399"/>
                </a:solidFill>
                <a:latin typeface="Verdana"/>
                <a:ea typeface="Verdana"/>
                <a:cs typeface="Verdana"/>
              </a:rPr>
              <a:t>Daily</a:t>
            </a:r>
            <a:endParaRPr lang="en-US" sz="1800"/>
          </a:p>
        </p:txBody>
      </p:sp>
      <p:sp>
        <p:nvSpPr>
          <p:cNvPr id="212335219" name="Text 9"/>
          <p:cNvSpPr/>
          <p:nvPr/>
        </p:nvSpPr>
        <p:spPr bwMode="auto">
          <a:xfrm>
            <a:off x="9363670" y="3336330"/>
            <a:ext cx="1876744" cy="13096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032"/>
              </a:lnSpc>
              <a:buNone/>
              <a:defRPr/>
            </a:pP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Execution</a:t>
            </a:r>
            <a:r>
              <a:rPr lang="de-DE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 </a:t>
            </a:r>
            <a:r>
              <a:rPr lang="en-US" sz="1000" spc="18">
                <a:solidFill>
                  <a:srgbClr val="94A3B8"/>
                </a:solidFill>
                <a:latin typeface="Lucida Sans Unicode"/>
                <a:ea typeface="Lucida Sans Unicode"/>
                <a:cs typeface="Lucida Sans Unicode"/>
              </a:rPr>
              <a:t>Frequency</a:t>
            </a:r>
            <a:endParaRPr lang="en-US" sz="1000"/>
          </a:p>
        </p:txBody>
      </p:sp>
      <p:sp>
        <p:nvSpPr>
          <p:cNvPr id="261799130" name=""/>
          <p:cNvSpPr txBox="1"/>
          <p:nvPr/>
        </p:nvSpPr>
        <p:spPr bwMode="auto">
          <a:xfrm flipH="0" flipV="0">
            <a:off x="1763099" y="2457450"/>
            <a:ext cx="18363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50963992" name="Text 2"/>
          <p:cNvSpPr/>
          <p:nvPr/>
        </p:nvSpPr>
        <p:spPr bwMode="auto">
          <a:xfrm flipH="0" flipV="0">
            <a:off x="1120774" y="2920999"/>
            <a:ext cx="4528524" cy="6496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78"/>
              </a:lnSpc>
              <a:buNone/>
              <a:defRPr/>
            </a:pPr>
            <a:r>
              <a:rPr lang="de-DE" sz="1300" b="1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Storage:</a:t>
            </a:r>
            <a:endParaRPr lang="de-DE" sz="1300" b="1">
              <a:solidFill>
                <a:srgbClr val="CBD5E1"/>
              </a:solidFill>
              <a:latin typeface="Verdana"/>
              <a:ea typeface="Verdana"/>
              <a:cs typeface="Verdana"/>
            </a:endParaRPr>
          </a:p>
          <a:p>
            <a:pPr marL="0" indent="0" algn="l">
              <a:lnSpc>
                <a:spcPct val="114999"/>
              </a:lnSpc>
              <a:buNone/>
              <a:defRPr/>
            </a:pPr>
            <a:r>
              <a:rPr lang="de-DE" sz="1300" b="0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NeonDB (Free Tier) – €0</a:t>
            </a:r>
            <a:endParaRPr lang="de-DE" sz="1300" b="0">
              <a:solidFill>
                <a:srgbClr val="CBD5E1"/>
              </a:solidFill>
              <a:latin typeface="Verdana"/>
              <a:ea typeface="Verdana"/>
              <a:cs typeface="Verdana"/>
            </a:endParaRPr>
          </a:p>
          <a:p>
            <a:pPr marL="0" indent="0" algn="l">
              <a:lnSpc>
                <a:spcPts val="1278"/>
              </a:lnSpc>
              <a:buNone/>
              <a:defRPr/>
            </a:pPr>
            <a:r>
              <a:rPr lang="de-DE" sz="1300" b="0">
                <a:solidFill>
                  <a:srgbClr val="CBD5E1"/>
                </a:solidFill>
                <a:latin typeface="Verdana"/>
                <a:ea typeface="Verdana"/>
                <a:cs typeface="Verdana"/>
              </a:rPr>
              <a:t>2000 rows/day, ~500MB limit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7427904" name="Text 0"/>
          <p:cNvSpPr/>
          <p:nvPr/>
        </p:nvSpPr>
        <p:spPr bwMode="auto">
          <a:xfrm flipH="0" flipV="0">
            <a:off x="2187921" y="2947158"/>
            <a:ext cx="8451886" cy="804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5"/>
              </a:lnSpc>
              <a:buNone/>
              <a:defRPr/>
            </a:pPr>
            <a:r>
              <a:rPr lang="de-DE" sz="4800" b="0" spc="-124">
                <a:solidFill>
                  <a:srgbClr val="5DA2EE"/>
                </a:solidFill>
                <a:latin typeface="Yu Gothic UI Semibold"/>
                <a:ea typeface="Yu Gothic UI Semibold"/>
                <a:cs typeface="Yu Gothic UI Semibold"/>
              </a:rPr>
              <a:t>Thank you for participating!</a:t>
            </a:r>
            <a:endParaRPr sz="4800" b="0">
              <a:solidFill>
                <a:srgbClr val="5DA2EE"/>
              </a:solidFill>
              <a:latin typeface="Yu Gothic UI Semibold"/>
              <a:cs typeface="Yu Gothic UI Semibold"/>
            </a:endParaRPr>
          </a:p>
        </p:txBody>
      </p:sp>
      <p:sp>
        <p:nvSpPr>
          <p:cNvPr id="693845977" name="Text 0"/>
          <p:cNvSpPr/>
          <p:nvPr/>
        </p:nvSpPr>
        <p:spPr bwMode="auto">
          <a:xfrm flipH="0" flipV="0">
            <a:off x="2102195" y="3638549"/>
            <a:ext cx="8451886" cy="1917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6335"/>
              </a:lnSpc>
              <a:buNone/>
              <a:defRPr/>
            </a:pPr>
            <a:r>
              <a:rPr lang="de-DE" sz="1000" b="0" i="1" spc="-124">
                <a:solidFill>
                  <a:schemeClr val="bg1"/>
                </a:solidFill>
                <a:latin typeface="Yu Gothic UI Semibold"/>
                <a:ea typeface="Yu Gothic UI Semibold"/>
                <a:cs typeface="Yu Gothic UI Semibold"/>
              </a:rPr>
              <a:t>Please be nice with the questions, if any</a:t>
            </a:r>
            <a:endParaRPr sz="1000" b="0" i="1">
              <a:solidFill>
                <a:schemeClr val="bg1"/>
              </a:solidFill>
              <a:latin typeface="Yu Gothic UI Semibold"/>
              <a:cs typeface="Yu Gothic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3</cp:revision>
  <dcterms:created xsi:type="dcterms:W3CDTF">2026-03-19T22:29:13Z</dcterms:created>
  <dcterms:modified xsi:type="dcterms:W3CDTF">2026-03-20T14:34:55Z</dcterms:modified>
</cp:coreProperties>
</file>