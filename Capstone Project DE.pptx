
<file path=[Content_Types].xml><?xml version="1.0" encoding="utf-8"?>
<Types xmlns="http://schemas.openxmlformats.org/package/2006/content-types">
  <Default Extension="mp4" ContentType="video/unknown"/>
  <Default Extension="wmf" ContentType="image/x-wmf"/>
  <Default Extension="png" ContentType="image/png"/>
  <Default Extension="jpg" ContentType="image/jpe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3.xml" ContentType="application/vnd.openxmlformats-officedocument.presentationml.slide+xml"/>
  <Override PartName="/ppt/slides/slide6.xml" ContentType="application/vnd.openxmlformats-officedocument.presentationml.slide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Slides/notesSlide3.xml" ContentType="application/vnd.openxmlformats-officedocument.presentationml.notesSlide+xml"/>
  <Override PartName="/docProps/app.xml" ContentType="application/vnd.openxmlformats-officedocument.extended-properties+xml"/>
  <Override PartName="/ppt/slides/slide8.xml" ContentType="application/vnd.openxmlformats-officedocument.presentationml.slide+xml"/>
  <Override PartName="/ppt/slides/slide4.xml" ContentType="application/vnd.openxmlformats-officedocument.presentationml.slide+xml"/>
  <Override PartName="/docProps/core.xml" ContentType="application/vnd.openxmlformats-package.core-properti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5.xml" ContentType="application/vnd.openxmlformats-officedocument.presentationml.slide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presentation.xml" ContentType="application/vnd.openxmlformats-officedocument.presentationml.presentation.main+xml"/>
  <Override PartName="/ppt/theme/theme1.xml" ContentType="application/vnd.openxmlformats-officedocument.them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16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6858000" cy="12192000"/>
  <p:defaultTextStyle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>
        <p:guide pos="3840"/>
        <p:guide pos="216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 /><Relationship Id="rId18" Type="http://schemas.openxmlformats.org/officeDocument/2006/relationships/tableStyles" Target="tableStyles.xml" /><Relationship Id="rId19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1643319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57637683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672406737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441060065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98974468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41170577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388998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048079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569588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507423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154299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255876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424470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596184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964228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943429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921078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266158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600461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787463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155671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476124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716186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343455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25317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382444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760321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8A121CC-4208-06CB-3B97-720CF1CF79F5}" type="slidenum">
              <a:rPr lang="en-US"/>
              <a:t/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898290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789008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619922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F865F4E-B457-CB37-EB3F-A6B3DD308387}" type="slidenum">
              <a:rPr lang="en-US"/>
              <a:t/>
            </a:fld>
            <a:endParaRPr lang="en-US"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41348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969731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237197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DA2B705-7369-1B72-0885-0C273AE3A5A7}" type="slidenum">
              <a:rPr lang="en-US"/>
              <a:t/>
            </a:fld>
            <a:endParaRPr lang="en-US"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574148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432863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69317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096D50B-5B4A-7ED5-F7E2-11D59D33C267}" type="slidenum">
              <a:rPr lang="en-US"/>
              <a:t/>
            </a:fld>
            <a:endParaRPr lang="en-US"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58887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257323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706877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023E1B8-2325-D74C-B917-C0FDFB3FB7B7}" type="slidenum">
              <a:rPr lang="en-US"/>
              <a:t/>
            </a:fld>
            <a:endParaRPr lang="en-US"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00835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221545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705864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96478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324716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372191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dt="0" ftr="0" hdr="0" sldNum="0"/>
  <p:txStyles>
    <p:titleStyle>
      <a:lvl1pPr algn="ctr" defTabSz="91440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Relationship Id="rId11" Type="http://schemas.openxmlformats.org/officeDocument/2006/relationships/image" Target="../media/image25.png"/><Relationship Id="rId12" Type="http://schemas.openxmlformats.org/officeDocument/2006/relationships/image" Target="../media/image26.png"/><Relationship Id="rId13" Type="http://schemas.openxmlformats.org/officeDocument/2006/relationships/image" Target="../media/image27.png"/><Relationship Id="rId14" Type="http://schemas.openxmlformats.org/officeDocument/2006/relationships/image" Target="../media/image28.png"/><Relationship Id="rId15" Type="http://schemas.openxmlformats.org/officeDocument/2006/relationships/image" Target="../media/image29.png"/><Relationship Id="rId16" Type="http://schemas.openxmlformats.org/officeDocument/2006/relationships/image" Target="../media/image30.png"/><Relationship Id="rId17" Type="http://schemas.openxmlformats.org/officeDocument/2006/relationships/image" Target="../media/image31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Relationship Id="rId6" Type="http://schemas.openxmlformats.org/officeDocument/2006/relationships/image" Target="../media/image35.png"/><Relationship Id="rId7" Type="http://schemas.openxmlformats.org/officeDocument/2006/relationships/image" Target="../media/image36.png"/><Relationship Id="rId8" Type="http://schemas.openxmlformats.org/officeDocument/2006/relationships/image" Target="../media/image37.png"/><Relationship Id="rId9" Type="http://schemas.openxmlformats.org/officeDocument/2006/relationships/image" Target="../media/image38.png"/><Relationship Id="rId10" Type="http://schemas.openxmlformats.org/officeDocument/2006/relationships/image" Target="../media/image39.png"/><Relationship Id="rId11" Type="http://schemas.openxmlformats.org/officeDocument/2006/relationships/image" Target="../media/image40.png"/><Relationship Id="rId12" Type="http://schemas.openxmlformats.org/officeDocument/2006/relationships/image" Target="../media/image41.jpg"/><Relationship Id="rId13" Type="http://schemas.openxmlformats.org/officeDocument/2006/relationships/image" Target="../media/image42.png"/><Relationship Id="rId14" Type="http://schemas.openxmlformats.org/officeDocument/2006/relationships/image" Target="../media/image43.jp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4.png"/><Relationship Id="rId4" Type="http://schemas.microsoft.com/office/2007/relationships/media" Target="../media/media1.mp4"/><Relationship Id="rId5" Type="http://schemas.openxmlformats.org/officeDocument/2006/relationships/video" Target="../media/media1.mp4" 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5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6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7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8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9.png"/><Relationship Id="rId4" Type="http://schemas.openxmlformats.org/officeDocument/2006/relationships/image" Target="../media/image50.png"/><Relationship Id="rId5" Type="http://schemas.openxmlformats.org/officeDocument/2006/relationships/image" Target="../media/image51.png"/><Relationship Id="rId6" Type="http://schemas.openxmlformats.org/officeDocument/2006/relationships/image" Target="../media/image52.png"/><Relationship Id="rId7" Type="http://schemas.openxmlformats.org/officeDocument/2006/relationships/image" Target="../media/image53.png"/><Relationship Id="rId8" Type="http://schemas.openxmlformats.org/officeDocument/2006/relationships/image" Target="../media/image54.png"/><Relationship Id="rId9" Type="http://schemas.openxmlformats.org/officeDocument/2006/relationships/image" Target="../media/image55.png"/><Relationship Id="rId10" Type="http://schemas.openxmlformats.org/officeDocument/2006/relationships/image" Target="../media/image56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">
    <p:bg>
      <p:bgPr shadeToTitle="0">
        <a:blipFill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65513655" name="Image 0" descr="preencoded.png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273772303" name="Image 1" descr="preencoded.png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38516619" name="Image 2" descr="preencoded.png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737881390" name="Image 3" descr="preencoded.png"/>
          <p:cNvPicPr>
            <a:picLocks noChangeAspect="1"/>
          </p:cNvPicPr>
          <p:nvPr/>
        </p:nvPicPr>
        <p:blipFill>
          <a:blip r:embed="rId7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711135790" name="Image 4" descr="preencoded.png"/>
          <p:cNvPicPr>
            <a:picLocks noChangeAspect="1"/>
          </p:cNvPicPr>
          <p:nvPr/>
        </p:nvPicPr>
        <p:blipFill>
          <a:blip r:embed="rId8"/>
          <a:stretch/>
        </p:blipFill>
        <p:spPr bwMode="auto">
          <a:xfrm>
            <a:off x="1028700" y="2768600"/>
            <a:ext cx="10033000" cy="1447800"/>
          </a:xfrm>
          <a:prstGeom prst="rect">
            <a:avLst/>
          </a:prstGeom>
        </p:spPr>
      </p:pic>
      <p:sp>
        <p:nvSpPr>
          <p:cNvPr id="1671357717" name="Text 0"/>
          <p:cNvSpPr/>
          <p:nvPr/>
        </p:nvSpPr>
        <p:spPr bwMode="auto">
          <a:xfrm flipH="0" flipV="0">
            <a:off x="1462062" y="2768599"/>
            <a:ext cx="10276326" cy="8046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6336"/>
              </a:lnSpc>
              <a:buNone/>
              <a:defRPr/>
            </a:pPr>
            <a:r>
              <a:rPr lang="en-US" sz="6600" b="1" spc="-125">
                <a:solidFill>
                  <a:srgbClr val="20C0D0"/>
                </a:solidFill>
                <a:latin typeface="Yu Gothic UI Semibold"/>
                <a:ea typeface="Yu Gothic UI Semibold"/>
                <a:cs typeface="Yu Gothic UI Semibold"/>
              </a:rPr>
              <a:t>Umrah</a:t>
            </a:r>
            <a:r>
              <a:rPr lang="de-DE" sz="6600" b="1" spc="-119">
                <a:solidFill>
                  <a:srgbClr val="20C0D0"/>
                </a:solidFill>
                <a:latin typeface="Yu Gothic UI Semibold"/>
                <a:ea typeface="Yu Gothic UI Semibold"/>
                <a:cs typeface="Yu Gothic UI Semibold"/>
              </a:rPr>
              <a:t> </a:t>
            </a:r>
            <a:r>
              <a:rPr lang="en-US" sz="6600" b="1" spc="-120">
                <a:solidFill>
                  <a:srgbClr val="20C0D0"/>
                </a:solidFill>
                <a:latin typeface="Yu Gothic UI Semibold"/>
                <a:ea typeface="Yu Gothic UI Semibold"/>
                <a:cs typeface="Yu Gothic UI Semibold"/>
              </a:rPr>
              <a:t>Hotel</a:t>
            </a:r>
            <a:r>
              <a:rPr lang="de-DE" sz="6600" b="1" spc="-119">
                <a:solidFill>
                  <a:srgbClr val="20C0D0"/>
                </a:solidFill>
                <a:latin typeface="Yu Gothic UI Semibold"/>
                <a:ea typeface="Yu Gothic UI Semibold"/>
                <a:cs typeface="Yu Gothic UI Semibold"/>
              </a:rPr>
              <a:t> </a:t>
            </a:r>
            <a:r>
              <a:rPr lang="en-US" sz="6600" b="1" spc="-120">
                <a:solidFill>
                  <a:srgbClr val="20C0D0"/>
                </a:solidFill>
                <a:latin typeface="Yu Gothic UI Semibold"/>
                <a:ea typeface="Yu Gothic UI Semibold"/>
                <a:cs typeface="Yu Gothic UI Semibold"/>
              </a:rPr>
              <a:t>P</a:t>
            </a:r>
            <a:r>
              <a:rPr lang="en-US" sz="6600" b="1" spc="-125">
                <a:solidFill>
                  <a:srgbClr val="20C0D0"/>
                </a:solidFill>
                <a:latin typeface="Yu Gothic UI Semibold"/>
                <a:ea typeface="Yu Gothic UI Semibold"/>
                <a:cs typeface="Yu Gothic UI Semibold"/>
              </a:rPr>
              <a:t>rice Track</a:t>
            </a:r>
            <a:r>
              <a:rPr lang="en-US" sz="6600" b="1" spc="-125">
                <a:solidFill>
                  <a:srgbClr val="20C0D0"/>
                </a:solidFill>
                <a:latin typeface="Yu Gothic UI Semibold"/>
                <a:ea typeface="Yu Gothic UI Semibold"/>
                <a:cs typeface="Yu Gothic UI Semibold"/>
              </a:rPr>
              <a:t>e</a:t>
            </a:r>
            <a:r>
              <a:rPr lang="en-US" sz="6600" b="1" spc="42">
                <a:solidFill>
                  <a:srgbClr val="20C0D0"/>
                </a:solidFill>
                <a:latin typeface="Yu Gothic UI Semibold"/>
                <a:ea typeface="Yu Gothic UI Semibold"/>
                <a:cs typeface="Yu Gothic UI Semibold"/>
              </a:rPr>
              <a:t>r</a:t>
            </a:r>
            <a:endParaRPr sz="6600" b="1">
              <a:latin typeface="Yu Gothic UI Semibold"/>
              <a:cs typeface="Yu Gothic UI Semibold"/>
            </a:endParaRPr>
          </a:p>
        </p:txBody>
      </p:sp>
      <p:sp>
        <p:nvSpPr>
          <p:cNvPr id="1215899614" name="Text 1"/>
          <p:cNvSpPr/>
          <p:nvPr/>
        </p:nvSpPr>
        <p:spPr bwMode="auto">
          <a:xfrm>
            <a:off x="2297906" y="3839964"/>
            <a:ext cx="13311004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700"/>
              </a:lnSpc>
              <a:buNone/>
              <a:defRPr/>
            </a:pPr>
            <a:r>
              <a:rPr lang="de-DE" sz="2000">
                <a:solidFill>
                  <a:srgbClr val="FFFFFF"/>
                </a:solidFill>
                <a:latin typeface="Arial"/>
                <a:ea typeface="Arial"/>
                <a:cs typeface="Arial"/>
              </a:rPr>
              <a:t>Muhammad Dimas </a:t>
            </a:r>
            <a:r>
              <a:rPr lang="en-US" sz="2000">
                <a:solidFill>
                  <a:srgbClr val="FFFFFF"/>
                </a:solidFill>
                <a:latin typeface="Arial"/>
                <a:ea typeface="Arial"/>
                <a:cs typeface="Arial"/>
              </a:rPr>
              <a:t>|</a:t>
            </a:r>
            <a:r>
              <a:rPr lang="de-DE" sz="2000">
                <a:solidFill>
                  <a:srgbClr val="FFFFFF"/>
                </a:solidFill>
                <a:latin typeface="Arial"/>
                <a:ea typeface="Arial"/>
                <a:cs typeface="Arial"/>
              </a:rPr>
              <a:t> Data Engineering </a:t>
            </a:r>
            <a:r>
              <a:rPr lang="en-US" sz="2000">
                <a:solidFill>
                  <a:srgbClr val="FFFFFF"/>
                </a:solidFill>
                <a:latin typeface="Arial"/>
                <a:ea typeface="Arial"/>
                <a:cs typeface="Arial"/>
              </a:rPr>
              <a:t>|</a:t>
            </a:r>
            <a:r>
              <a:rPr lang="de-DE" sz="2000">
                <a:solidFill>
                  <a:srgbClr val="FFFFFF"/>
                </a:solidFill>
                <a:latin typeface="Arial"/>
                <a:ea typeface="Arial"/>
                <a:cs typeface="Arial"/>
              </a:rPr>
              <a:t> Nov 25 – Mar 26</a:t>
            </a:r>
            <a:endParaRPr lang="en-US" sz="2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79760696" name="Image 0" descr="preencoded.png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7775012" name="Image 1" descr="preencoded.png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7022455" y="1501825"/>
            <a:ext cx="4340275" cy="3538686"/>
          </a:xfrm>
          <a:prstGeom prst="rect">
            <a:avLst/>
          </a:prstGeom>
        </p:spPr>
      </p:pic>
      <p:sp>
        <p:nvSpPr>
          <p:cNvPr id="1121738849" name="Text 0"/>
          <p:cNvSpPr/>
          <p:nvPr/>
        </p:nvSpPr>
        <p:spPr bwMode="auto">
          <a:xfrm>
            <a:off x="742950" y="800100"/>
            <a:ext cx="13030200" cy="65157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5130"/>
              </a:lnSpc>
              <a:buNone/>
              <a:defRPr/>
            </a:pPr>
            <a:r>
              <a:rPr lang="en-US" sz="43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Business Perspective</a:t>
            </a:r>
            <a:endParaRPr lang="en-US" sz="4300"/>
          </a:p>
        </p:txBody>
      </p:sp>
      <p:sp>
        <p:nvSpPr>
          <p:cNvPr id="222569461" name="Text 1"/>
          <p:cNvSpPr/>
          <p:nvPr/>
        </p:nvSpPr>
        <p:spPr bwMode="auto">
          <a:xfrm>
            <a:off x="742950" y="1733549"/>
            <a:ext cx="5437926" cy="83106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3150"/>
              </a:lnSpc>
              <a:buNone/>
              <a:defRPr/>
            </a:pPr>
            <a:r>
              <a:rPr lang="de-DE" sz="2100" b="1">
                <a:solidFill>
                  <a:srgbClr val="E0B460"/>
                </a:solidFill>
                <a:latin typeface="Lora"/>
                <a:ea typeface="Lora"/>
                <a:cs typeface="Lora"/>
              </a:rPr>
              <a:t>„Finding the Right Hotel at the Right Time“</a:t>
            </a:r>
            <a:endParaRPr sz="2100"/>
          </a:p>
        </p:txBody>
      </p:sp>
      <p:sp>
        <p:nvSpPr>
          <p:cNvPr id="812406139" name="Text 2"/>
          <p:cNvSpPr/>
          <p:nvPr/>
        </p:nvSpPr>
        <p:spPr bwMode="auto">
          <a:xfrm>
            <a:off x="742950" y="3171825"/>
            <a:ext cx="4102085" cy="1769621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2242"/>
              </a:lnSpc>
              <a:buNone/>
              <a:defRPr/>
            </a:pPr>
            <a:r>
              <a:rPr lang="en-US" sz="1750">
                <a:solidFill>
                  <a:srgbClr val="FFFFFF"/>
                </a:solidFill>
                <a:latin typeface="Roboto-Regular"/>
                <a:ea typeface="Roboto-Regular"/>
                <a:cs typeface="Roboto-Regular"/>
              </a:rPr>
              <a:t>We guide Muslim travelers in choosing</a:t>
            </a:r>
            <a:endParaRPr lang="en-US" sz="1750">
              <a:solidFill>
                <a:srgbClr val="FFFFFF"/>
              </a:solidFill>
              <a:latin typeface="Roboto-Regular"/>
              <a:ea typeface="Roboto-Regular"/>
              <a:cs typeface="Roboto-Regular"/>
            </a:endParaRPr>
          </a:p>
          <a:p>
            <a:pPr marL="0" indent="0">
              <a:lnSpc>
                <a:spcPts val="2241"/>
              </a:lnSpc>
              <a:buNone/>
              <a:defRPr/>
            </a:pPr>
            <a:r>
              <a:rPr lang="en-US" sz="1750">
                <a:solidFill>
                  <a:srgbClr val="FFFFFF"/>
                </a:solidFill>
                <a:latin typeface="Roboto-Regular"/>
                <a:ea typeface="Roboto-Regular"/>
                <a:cs typeface="Roboto-Regular"/>
              </a:rPr>
              <a:t>the right</a:t>
            </a:r>
            <a:r>
              <a:rPr lang="de-DE" sz="1750">
                <a:solidFill>
                  <a:srgbClr val="FFFFFF"/>
                </a:solidFill>
                <a:latin typeface="Roboto-Regular"/>
                <a:ea typeface="Roboto-Regular"/>
                <a:cs typeface="Roboto-Regular"/>
              </a:rPr>
              <a:t> </a:t>
            </a:r>
            <a:r>
              <a:rPr lang="en-US" sz="1750">
                <a:solidFill>
                  <a:srgbClr val="FFFFFF"/>
                </a:solidFill>
                <a:latin typeface="Roboto-Regular"/>
                <a:ea typeface="Roboto-Regular"/>
                <a:cs typeface="Roboto-Regular"/>
              </a:rPr>
              <a:t>hotel for their journey to Makkah.</a:t>
            </a:r>
            <a:endParaRPr lang="en-US" sz="1750">
              <a:solidFill>
                <a:srgbClr val="FFFFFF"/>
              </a:solidFill>
              <a:latin typeface="Roboto-Regular"/>
              <a:ea typeface="Roboto-Regular"/>
              <a:cs typeface="Roboto-Regular"/>
            </a:endParaRPr>
          </a:p>
          <a:p>
            <a:pPr marL="0" indent="0">
              <a:lnSpc>
                <a:spcPts val="2241"/>
              </a:lnSpc>
              <a:buNone/>
              <a:defRPr/>
            </a:pPr>
            <a:r>
              <a:rPr lang="en-US" sz="1750">
                <a:solidFill>
                  <a:srgbClr val="FFFFFF"/>
                </a:solidFill>
                <a:latin typeface="Roboto-Regular"/>
                <a:ea typeface="Roboto-Regular"/>
                <a:cs typeface="Roboto-Regular"/>
              </a:rPr>
              <a:t>Our</a:t>
            </a:r>
            <a:r>
              <a:rPr lang="de-DE" sz="1750">
                <a:solidFill>
                  <a:srgbClr val="FFFFFF"/>
                </a:solidFill>
                <a:latin typeface="Roboto-Regular"/>
                <a:ea typeface="Roboto-Regular"/>
                <a:cs typeface="Roboto-Regular"/>
              </a:rPr>
              <a:t> </a:t>
            </a:r>
            <a:r>
              <a:rPr lang="en-US" sz="1750">
                <a:solidFill>
                  <a:srgbClr val="FFFFFF"/>
                </a:solidFill>
                <a:latin typeface="Roboto-Regular"/>
                <a:ea typeface="Roboto-Regular"/>
                <a:cs typeface="Roboto-Regular"/>
              </a:rPr>
              <a:t>focus </a:t>
            </a:r>
            <a:r>
              <a:rPr lang="de-DE" sz="1750">
                <a:solidFill>
                  <a:srgbClr val="FFFFFF"/>
                </a:solidFill>
                <a:latin typeface="Roboto-Regular"/>
                <a:ea typeface="Roboto-Regular"/>
                <a:cs typeface="Roboto-Regular"/>
              </a:rPr>
              <a:t>moves </a:t>
            </a:r>
            <a:r>
              <a:rPr lang="en-US" sz="1750">
                <a:solidFill>
                  <a:srgbClr val="FFFFFF"/>
                </a:solidFill>
                <a:latin typeface="Roboto-Regular"/>
                <a:ea typeface="Roboto-Regular"/>
                <a:cs typeface="Roboto-Regular"/>
              </a:rPr>
              <a:t>beyond </a:t>
            </a:r>
            <a:r>
              <a:rPr lang="de-DE" sz="1750">
                <a:solidFill>
                  <a:srgbClr val="FFFFFF"/>
                </a:solidFill>
                <a:latin typeface="Roboto-Regular"/>
                <a:ea typeface="Roboto-Regular"/>
                <a:cs typeface="Roboto-Regular"/>
              </a:rPr>
              <a:t>„today‘s price“:</a:t>
            </a:r>
            <a:endParaRPr lang="de-DE" sz="1750">
              <a:solidFill>
                <a:srgbClr val="FFFFFF"/>
              </a:solidFill>
              <a:latin typeface="Roboto-Regular"/>
              <a:ea typeface="Roboto-Regular"/>
              <a:cs typeface="Roboto-Regular"/>
            </a:endParaRPr>
          </a:p>
          <a:p>
            <a:pPr marL="0" indent="0">
              <a:lnSpc>
                <a:spcPts val="2241"/>
              </a:lnSpc>
              <a:buNone/>
              <a:defRPr/>
            </a:pPr>
            <a:r>
              <a:rPr lang="de-DE" sz="1750">
                <a:solidFill>
                  <a:srgbClr val="FFFFFF"/>
                </a:solidFill>
                <a:latin typeface="Roboto-Regular"/>
                <a:ea typeface="Roboto-Regular"/>
                <a:cs typeface="Roboto-Regular"/>
              </a:rPr>
              <a:t>we</a:t>
            </a:r>
            <a:r>
              <a:rPr lang="en-US" sz="1750">
                <a:solidFill>
                  <a:srgbClr val="FFFFFF"/>
                </a:solidFill>
                <a:latin typeface="Roboto-Regular"/>
                <a:ea typeface="Roboto-Regular"/>
                <a:cs typeface="Roboto-Regular"/>
              </a:rPr>
              <a:t> provide</a:t>
            </a:r>
            <a:r>
              <a:rPr lang="de-DE" sz="1750">
                <a:solidFill>
                  <a:srgbClr val="FFFFFF"/>
                </a:solidFill>
                <a:latin typeface="Roboto-Regular"/>
                <a:ea typeface="Roboto-Regular"/>
                <a:cs typeface="Roboto-Regular"/>
              </a:rPr>
              <a:t> </a:t>
            </a:r>
            <a:r>
              <a:rPr lang="en-US" sz="1750">
                <a:solidFill>
                  <a:srgbClr val="FFFFFF"/>
                </a:solidFill>
                <a:latin typeface="Roboto-Regular"/>
                <a:ea typeface="Roboto-Regular"/>
                <a:cs typeface="Roboto-Regular"/>
              </a:rPr>
              <a:t>visibility </a:t>
            </a:r>
            <a:r>
              <a:rPr lang="de-DE" sz="1750">
                <a:solidFill>
                  <a:srgbClr val="FFFFFF"/>
                </a:solidFill>
                <a:latin typeface="Roboto-Regular"/>
                <a:ea typeface="Roboto-Regular"/>
                <a:cs typeface="Roboto-Regular"/>
              </a:rPr>
              <a:t>on price trends and</a:t>
            </a:r>
            <a:endParaRPr lang="de-DE" sz="1750">
              <a:solidFill>
                <a:srgbClr val="FFFFFF"/>
              </a:solidFill>
              <a:latin typeface="Roboto-Regular"/>
              <a:ea typeface="Roboto-Regular"/>
              <a:cs typeface="Roboto-Regular"/>
            </a:endParaRPr>
          </a:p>
          <a:p>
            <a:pPr marL="0" indent="0">
              <a:lnSpc>
                <a:spcPts val="2241"/>
              </a:lnSpc>
              <a:buNone/>
              <a:defRPr/>
            </a:pPr>
            <a:r>
              <a:rPr lang="de-DE" sz="1750">
                <a:solidFill>
                  <a:srgbClr val="FFFFFF"/>
                </a:solidFill>
                <a:latin typeface="Roboto-Regular"/>
                <a:ea typeface="Roboto-Regular"/>
                <a:cs typeface="Roboto-Regular"/>
              </a:rPr>
              <a:t>availability </a:t>
            </a:r>
            <a:r>
              <a:rPr lang="en-US" sz="1750">
                <a:solidFill>
                  <a:srgbClr val="FFFFFF"/>
                </a:solidFill>
                <a:latin typeface="Roboto-Regular"/>
                <a:ea typeface="Roboto-Regular"/>
                <a:cs typeface="Roboto-Regular"/>
              </a:rPr>
              <a:t>across different time options,</a:t>
            </a:r>
            <a:r>
              <a:rPr lang="de-DE" sz="1750">
                <a:solidFill>
                  <a:srgbClr val="FFFFFF"/>
                </a:solidFill>
                <a:latin typeface="Roboto-Regular"/>
                <a:ea typeface="Roboto-Regular"/>
                <a:cs typeface="Roboto-Regular"/>
              </a:rPr>
              <a:t> </a:t>
            </a:r>
            <a:endParaRPr lang="de-DE" sz="1750">
              <a:solidFill>
                <a:srgbClr val="FFFFFF"/>
              </a:solidFill>
              <a:latin typeface="Roboto-Regular"/>
              <a:ea typeface="Roboto-Regular"/>
              <a:cs typeface="Roboto-Regular"/>
            </a:endParaRPr>
          </a:p>
          <a:p>
            <a:pPr marL="0" indent="0">
              <a:lnSpc>
                <a:spcPts val="2241"/>
              </a:lnSpc>
              <a:buNone/>
              <a:defRPr/>
            </a:pPr>
            <a:r>
              <a:rPr lang="de-DE" sz="1750">
                <a:solidFill>
                  <a:srgbClr val="FFFFFF"/>
                </a:solidFill>
                <a:latin typeface="Roboto-Regular"/>
                <a:ea typeface="Roboto-Regular"/>
                <a:cs typeface="Roboto-Regular"/>
              </a:rPr>
              <a:t>empowering customers to choose the</a:t>
            </a:r>
            <a:endParaRPr lang="de-DE" sz="1750">
              <a:solidFill>
                <a:srgbClr val="FFFFFF"/>
              </a:solidFill>
              <a:latin typeface="Roboto-Regular"/>
              <a:ea typeface="Roboto-Regular"/>
              <a:cs typeface="Roboto-Regular"/>
            </a:endParaRPr>
          </a:p>
          <a:p>
            <a:pPr marL="0" indent="0">
              <a:lnSpc>
                <a:spcPts val="2241"/>
              </a:lnSpc>
              <a:buNone/>
              <a:defRPr/>
            </a:pPr>
            <a:r>
              <a:rPr lang="de-DE" sz="1750">
                <a:solidFill>
                  <a:srgbClr val="FFFFFF"/>
                </a:solidFill>
                <a:latin typeface="Roboto-Regular"/>
                <a:ea typeface="Roboto-Regular"/>
                <a:cs typeface="Roboto-Regular"/>
              </a:rPr>
              <a:t>optimal travel dates.</a:t>
            </a:r>
            <a:endParaRPr lang="de-DE" sz="1750">
              <a:solidFill>
                <a:srgbClr val="FFFFFF"/>
              </a:solidFill>
              <a:latin typeface="Roboto-Regular"/>
              <a:ea typeface="Roboto-Regular"/>
              <a:cs typeface="Roboto-Regular"/>
            </a:endParaRPr>
          </a:p>
        </p:txBody>
      </p:sp>
      <p:sp>
        <p:nvSpPr>
          <p:cNvPr id="624228763" name="Text 3"/>
          <p:cNvSpPr/>
          <p:nvPr/>
        </p:nvSpPr>
        <p:spPr bwMode="auto">
          <a:xfrm>
            <a:off x="742950" y="5715000"/>
            <a:ext cx="21294090" cy="328613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2588"/>
              </a:lnSpc>
              <a:buNone/>
              <a:defRPr/>
            </a:pPr>
            <a:r>
              <a:rPr lang="en-US" sz="1750">
                <a:solidFill>
                  <a:srgbClr val="3498DB"/>
                </a:solidFill>
                <a:latin typeface="Roboto-Regular"/>
                <a:ea typeface="Roboto-Regular"/>
                <a:cs typeface="Roboto-Regular"/>
              </a:rPr>
              <a:t>Customer-centric mission • Data-driven decisions • Transparent pricing visibility</a:t>
            </a:r>
            <a:endParaRPr lang="en-US" sz="17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3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33266433" name="Image 0" descr="preencoded.png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113890870" name="Image 1" descr="preencoded.png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7424886" y="1865263"/>
            <a:ext cx="475357" cy="452586"/>
          </a:xfrm>
          <a:prstGeom prst="rect">
            <a:avLst/>
          </a:prstGeom>
        </p:spPr>
      </p:pic>
      <p:pic>
        <p:nvPicPr>
          <p:cNvPr id="1059052996" name="Image 2" descr="preencoded.png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4657279" y="2571750"/>
            <a:ext cx="2852886" cy="1885950"/>
          </a:xfrm>
          <a:prstGeom prst="rect">
            <a:avLst/>
          </a:prstGeom>
        </p:spPr>
      </p:pic>
      <p:pic>
        <p:nvPicPr>
          <p:cNvPr id="365719995" name="Image 3" descr="preencoded.png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>
            <a:off x="707082" y="1844725"/>
            <a:ext cx="451098" cy="493663"/>
          </a:xfrm>
          <a:prstGeom prst="rect">
            <a:avLst/>
          </a:prstGeom>
        </p:spPr>
      </p:pic>
      <p:sp>
        <p:nvSpPr>
          <p:cNvPr id="1988291004" name="Text 0"/>
          <p:cNvSpPr/>
          <p:nvPr/>
        </p:nvSpPr>
        <p:spPr bwMode="auto">
          <a:xfrm>
            <a:off x="2875568" y="542925"/>
            <a:ext cx="6789420" cy="61719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>
              <a:lnSpc>
                <a:spcPts val="4860"/>
              </a:lnSpc>
              <a:buNone/>
              <a:defRPr/>
            </a:pPr>
            <a:r>
              <a:rPr lang="en-US" sz="405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The Problem</a:t>
            </a:r>
            <a:endParaRPr lang="en-US" sz="4050"/>
          </a:p>
        </p:txBody>
      </p:sp>
      <p:sp>
        <p:nvSpPr>
          <p:cNvPr id="1782008081" name="Text 1"/>
          <p:cNvSpPr/>
          <p:nvPr/>
        </p:nvSpPr>
        <p:spPr bwMode="auto">
          <a:xfrm>
            <a:off x="1323974" y="1905000"/>
            <a:ext cx="6515100" cy="37713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2970"/>
              </a:lnSpc>
              <a:buNone/>
              <a:defRPr/>
            </a:pPr>
            <a:r>
              <a:rPr lang="en-US" sz="2250" b="1">
                <a:solidFill>
                  <a:srgbClr val="FBC95F"/>
                </a:solidFill>
                <a:latin typeface="Poppins"/>
                <a:ea typeface="Poppins"/>
                <a:cs typeface="Poppins"/>
              </a:rPr>
              <a:t>Customer Challenges</a:t>
            </a:r>
            <a:endParaRPr lang="en-US" sz="2250"/>
          </a:p>
        </p:txBody>
      </p:sp>
      <p:sp>
        <p:nvSpPr>
          <p:cNvPr id="1069543571" name="Text 2"/>
          <p:cNvSpPr/>
          <p:nvPr/>
        </p:nvSpPr>
        <p:spPr bwMode="auto">
          <a:xfrm>
            <a:off x="8029575" y="1905000"/>
            <a:ext cx="6858000" cy="37713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2970"/>
              </a:lnSpc>
              <a:buNone/>
              <a:defRPr/>
            </a:pPr>
            <a:r>
              <a:rPr lang="en-US" sz="2250" b="1">
                <a:solidFill>
                  <a:srgbClr val="F76E22"/>
                </a:solidFill>
                <a:latin typeface="Poppins"/>
                <a:ea typeface="Poppins"/>
                <a:cs typeface="Poppins"/>
              </a:rPr>
              <a:t>Agency Business Risk</a:t>
            </a:r>
            <a:endParaRPr lang="en-US" sz="2250"/>
          </a:p>
        </p:txBody>
      </p:sp>
      <p:sp>
        <p:nvSpPr>
          <p:cNvPr id="1455265139" name="Text 3"/>
          <p:cNvSpPr/>
          <p:nvPr/>
        </p:nvSpPr>
        <p:spPr bwMode="auto">
          <a:xfrm>
            <a:off x="3514725" y="5676900"/>
            <a:ext cx="5731073" cy="603647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>
              <a:lnSpc>
                <a:spcPts val="2376"/>
              </a:lnSpc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Hotel prices can change drastically</a:t>
            </a:r>
            <a:br>
              <a:rPr lang="en-US" sz="18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</a:br>
            <a:r>
              <a:rPr lang="en-US" sz="18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overnight – creating a dual-sided crisis</a:t>
            </a:r>
            <a:endParaRPr lang="en-US" sz="1800"/>
          </a:p>
        </p:txBody>
      </p:sp>
      <p:sp>
        <p:nvSpPr>
          <p:cNvPr id="1787707596" name="Text 4"/>
          <p:cNvSpPr/>
          <p:nvPr/>
        </p:nvSpPr>
        <p:spPr bwMode="auto">
          <a:xfrm>
            <a:off x="1019174" y="2724150"/>
            <a:ext cx="3048893" cy="653653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2573"/>
              </a:lnSpc>
              <a:buNone/>
              <a:defRPr/>
            </a:pPr>
            <a:r>
              <a:rPr lang="en-US" sz="195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Extreme Daily Price</a:t>
            </a:r>
            <a:br>
              <a:rPr lang="en-US" sz="1950">
                <a:solidFill>
                  <a:srgbClr val="FFFFFF"/>
                </a:solidFill>
                <a:latin typeface="Poppins"/>
                <a:ea typeface="Poppins"/>
                <a:cs typeface="Poppins"/>
              </a:rPr>
            </a:br>
            <a:r>
              <a:rPr lang="en-US" sz="195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Fluctuations</a:t>
            </a:r>
            <a:endParaRPr lang="en-US" sz="1950"/>
          </a:p>
        </p:txBody>
      </p:sp>
      <p:sp>
        <p:nvSpPr>
          <p:cNvPr id="723675681" name="Text 5"/>
          <p:cNvSpPr/>
          <p:nvPr/>
        </p:nvSpPr>
        <p:spPr bwMode="auto">
          <a:xfrm>
            <a:off x="1019174" y="3724275"/>
            <a:ext cx="5943600" cy="326827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2573"/>
              </a:lnSpc>
              <a:buNone/>
              <a:defRPr/>
            </a:pPr>
            <a:r>
              <a:rPr lang="en-US" sz="195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Missing Better Deals</a:t>
            </a:r>
            <a:endParaRPr lang="en-US" sz="1950"/>
          </a:p>
        </p:txBody>
      </p:sp>
      <p:sp>
        <p:nvSpPr>
          <p:cNvPr id="1904387333" name="Text 6"/>
          <p:cNvSpPr/>
          <p:nvPr/>
        </p:nvSpPr>
        <p:spPr bwMode="auto">
          <a:xfrm>
            <a:off x="1019174" y="4410075"/>
            <a:ext cx="3080296" cy="653653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2573"/>
              </a:lnSpc>
              <a:buNone/>
              <a:defRPr/>
            </a:pPr>
            <a:r>
              <a:rPr lang="en-US" sz="195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Overpaying Without</a:t>
            </a:r>
            <a:br>
              <a:rPr lang="en-US" sz="1950">
                <a:solidFill>
                  <a:srgbClr val="FFFFFF"/>
                </a:solidFill>
                <a:latin typeface="Poppins"/>
                <a:ea typeface="Poppins"/>
                <a:cs typeface="Poppins"/>
              </a:rPr>
            </a:br>
            <a:r>
              <a:rPr lang="en-US" sz="195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Insights</a:t>
            </a:r>
            <a:endParaRPr lang="en-US" sz="1950"/>
          </a:p>
        </p:txBody>
      </p:sp>
      <p:sp>
        <p:nvSpPr>
          <p:cNvPr id="736913999" name="Text 7"/>
          <p:cNvSpPr/>
          <p:nvPr/>
        </p:nvSpPr>
        <p:spPr bwMode="auto">
          <a:xfrm>
            <a:off x="8391525" y="2724150"/>
            <a:ext cx="6240780" cy="29721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2340"/>
              </a:lnSpc>
              <a:buNone/>
              <a:defRPr/>
            </a:pPr>
            <a:r>
              <a:rPr lang="en-US" sz="195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Profit Margin Erosion</a:t>
            </a:r>
            <a:endParaRPr lang="en-US" sz="1950"/>
          </a:p>
        </p:txBody>
      </p:sp>
      <p:sp>
        <p:nvSpPr>
          <p:cNvPr id="2112631025" name="Text 8"/>
          <p:cNvSpPr/>
          <p:nvPr/>
        </p:nvSpPr>
        <p:spPr bwMode="auto">
          <a:xfrm>
            <a:off x="8391525" y="3409950"/>
            <a:ext cx="2587823" cy="653653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2573"/>
              </a:lnSpc>
              <a:buNone/>
              <a:defRPr/>
            </a:pPr>
            <a:r>
              <a:rPr lang="en-US" sz="195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Manual Research</a:t>
            </a:r>
            <a:br>
              <a:rPr lang="en-US" sz="1950">
                <a:solidFill>
                  <a:srgbClr val="FFFFFF"/>
                </a:solidFill>
                <a:latin typeface="Poppins"/>
                <a:ea typeface="Poppins"/>
                <a:cs typeface="Poppins"/>
              </a:rPr>
            </a:br>
            <a:r>
              <a:rPr lang="en-US" sz="195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Inefficiency</a:t>
            </a:r>
            <a:endParaRPr lang="en-US" sz="1950"/>
          </a:p>
        </p:txBody>
      </p:sp>
      <p:sp>
        <p:nvSpPr>
          <p:cNvPr id="2074703997" name="Text 9"/>
          <p:cNvSpPr/>
          <p:nvPr/>
        </p:nvSpPr>
        <p:spPr bwMode="auto">
          <a:xfrm>
            <a:off x="8391525" y="4410075"/>
            <a:ext cx="2074515" cy="653653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2573"/>
              </a:lnSpc>
              <a:buNone/>
              <a:defRPr/>
            </a:pPr>
            <a:r>
              <a:rPr lang="en-US" sz="195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Competitive</a:t>
            </a:r>
            <a:br>
              <a:rPr lang="en-US" sz="1950">
                <a:solidFill>
                  <a:srgbClr val="FFFFFF"/>
                </a:solidFill>
                <a:latin typeface="Poppins"/>
                <a:ea typeface="Poppins"/>
                <a:cs typeface="Poppins"/>
              </a:rPr>
            </a:br>
            <a:r>
              <a:rPr lang="en-US" sz="195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Disadvantage</a:t>
            </a:r>
            <a:endParaRPr lang="en-US" sz="19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4">
    <p:bg>
      <p:bgPr shadeToTitle="0">
        <a:solidFill>
          <a:srgbClr val="0517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626938" name="Rectangle 78626938"/>
          <p:cNvSpPr/>
          <p:nvPr/>
        </p:nvSpPr>
        <p:spPr bwMode="auto">
          <a:xfrm rot="0" flipH="0" flipV="0">
            <a:off x="7635239" y="5623560"/>
            <a:ext cx="4023360" cy="1005840"/>
          </a:xfrm>
          <a:prstGeom prst="rect">
            <a:avLst/>
          </a:prstGeom>
          <a:solidFill>
            <a:schemeClr val="bg1">
              <a:alpha val="10000"/>
            </a:schemeClr>
          </a:solidFill>
          <a:ln w="6349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pic>
        <p:nvPicPr>
          <p:cNvPr id="857081251" name="Image 1" descr="preencoded.png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7754094" y="2725191"/>
            <a:ext cx="3608784" cy="2263080"/>
          </a:xfrm>
          <a:prstGeom prst="rect">
            <a:avLst/>
          </a:prstGeom>
        </p:spPr>
      </p:pic>
      <p:pic>
        <p:nvPicPr>
          <p:cNvPr id="1678289195" name="Image 2" descr="preencoded.png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621654" y="6058346"/>
            <a:ext cx="426689" cy="377130"/>
          </a:xfrm>
          <a:prstGeom prst="rect">
            <a:avLst/>
          </a:prstGeom>
        </p:spPr>
      </p:pic>
      <p:pic>
        <p:nvPicPr>
          <p:cNvPr id="1650241446" name="Image 3" descr="preencoded.png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621654" y="5249019"/>
            <a:ext cx="426689" cy="445740"/>
          </a:xfrm>
          <a:prstGeom prst="rect">
            <a:avLst/>
          </a:prstGeom>
        </p:spPr>
      </p:pic>
      <p:pic>
        <p:nvPicPr>
          <p:cNvPr id="1263184785" name="Image 4" descr="preencoded.png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>
            <a:off x="621654" y="4426148"/>
            <a:ext cx="438894" cy="418207"/>
          </a:xfrm>
          <a:prstGeom prst="rect">
            <a:avLst/>
          </a:prstGeom>
        </p:spPr>
      </p:pic>
      <p:sp>
        <p:nvSpPr>
          <p:cNvPr id="832523163" name="Text 0"/>
          <p:cNvSpPr/>
          <p:nvPr/>
        </p:nvSpPr>
        <p:spPr bwMode="auto">
          <a:xfrm>
            <a:off x="2590323" y="169068"/>
            <a:ext cx="7406640" cy="61719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>
              <a:lnSpc>
                <a:spcPts val="4860"/>
              </a:lnSpc>
              <a:buNone/>
              <a:defRPr/>
            </a:pPr>
            <a:r>
              <a:rPr lang="en-US" sz="405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Our Approach</a:t>
            </a:r>
            <a:endParaRPr lang="en-US" sz="4050"/>
          </a:p>
        </p:txBody>
      </p:sp>
      <p:sp>
        <p:nvSpPr>
          <p:cNvPr id="1295378814" name="Text 1"/>
          <p:cNvSpPr/>
          <p:nvPr/>
        </p:nvSpPr>
        <p:spPr bwMode="auto">
          <a:xfrm flipH="0" flipV="0">
            <a:off x="2857500" y="720724"/>
            <a:ext cx="6715124" cy="78931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784"/>
              </a:lnSpc>
              <a:buNone/>
              <a:defRPr/>
            </a:pPr>
            <a:r>
              <a:rPr lang="en-US" sz="1600" i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We build a</a:t>
            </a:r>
            <a:r>
              <a:rPr lang="de-DE" sz="1600" i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n automated</a:t>
            </a:r>
            <a:r>
              <a:rPr lang="en-US" sz="1600" i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 data pipeline that </a:t>
            </a:r>
            <a:r>
              <a:rPr lang="de-DE" sz="1600" i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fetches raw price and </a:t>
            </a:r>
            <a:r>
              <a:rPr lang="de-DE" sz="1600" i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room data </a:t>
            </a:r>
            <a:r>
              <a:rPr lang="de-DE" sz="1600" i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from hotel website(s) </a:t>
            </a:r>
            <a:r>
              <a:rPr lang="de-DE" sz="1600" i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and deliver them as </a:t>
            </a:r>
            <a:r>
              <a:rPr lang="de-DE" sz="1600" i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actionables.</a:t>
            </a:r>
            <a:endParaRPr sz="1600" i="1">
              <a:solidFill>
                <a:srgbClr val="FFFFFF"/>
              </a:solidFill>
              <a:latin typeface="Poppins"/>
              <a:ea typeface="Poppins"/>
              <a:cs typeface="Poppins"/>
            </a:endParaRPr>
          </a:p>
        </p:txBody>
      </p:sp>
      <p:sp>
        <p:nvSpPr>
          <p:cNvPr id="1187240804" name="Text 2"/>
          <p:cNvSpPr/>
          <p:nvPr/>
        </p:nvSpPr>
        <p:spPr bwMode="auto">
          <a:xfrm flipH="0" flipV="0">
            <a:off x="7878149" y="5724524"/>
            <a:ext cx="3771786" cy="81200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250"/>
              </a:lnSpc>
              <a:buNone/>
              <a:defRPr/>
            </a:pPr>
            <a:r>
              <a:rPr lang="de-DE" sz="1900" b="1">
                <a:solidFill>
                  <a:srgbClr val="5DA2EE"/>
                </a:solidFill>
                <a:latin typeface="Inter"/>
                <a:ea typeface="Inter"/>
                <a:cs typeface="Inter"/>
              </a:rPr>
              <a:t>Key outcome:</a:t>
            </a:r>
            <a:endParaRPr lang="en-US" sz="1900" b="1">
              <a:solidFill>
                <a:srgbClr val="FFFFFF"/>
              </a:solidFill>
              <a:latin typeface="Inter"/>
              <a:ea typeface="Inter"/>
              <a:cs typeface="Inter"/>
            </a:endParaRPr>
          </a:p>
          <a:p>
            <a:pPr marL="0" indent="0" algn="l">
              <a:lnSpc>
                <a:spcPts val="2249"/>
              </a:lnSpc>
              <a:buNone/>
              <a:defRPr/>
            </a:pPr>
            <a:r>
              <a:rPr lang="en-US" sz="1600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Users plan trips more</a:t>
            </a:r>
            <a:r>
              <a:rPr lang="de-DE" sz="1600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 </a:t>
            </a:r>
            <a:r>
              <a:rPr lang="en-US" sz="1600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efficiently and</a:t>
            </a:r>
            <a:endParaRPr lang="en-US" sz="1600" b="0">
              <a:solidFill>
                <a:srgbClr val="FFFFFF"/>
              </a:solidFill>
              <a:latin typeface="Inter"/>
              <a:ea typeface="Inter"/>
              <a:cs typeface="Inter"/>
            </a:endParaRPr>
          </a:p>
          <a:p>
            <a:pPr marL="0" indent="0" algn="l">
              <a:lnSpc>
                <a:spcPts val="2249"/>
              </a:lnSpc>
              <a:buNone/>
              <a:defRPr/>
            </a:pPr>
            <a:r>
              <a:rPr lang="en-US" sz="1600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cost-effectively</a:t>
            </a:r>
            <a:endParaRPr sz="1600" b="0"/>
          </a:p>
        </p:txBody>
      </p:sp>
      <p:sp>
        <p:nvSpPr>
          <p:cNvPr id="1294623727" name="Text 3"/>
          <p:cNvSpPr/>
          <p:nvPr/>
        </p:nvSpPr>
        <p:spPr bwMode="auto">
          <a:xfrm>
            <a:off x="657225" y="2524124"/>
            <a:ext cx="2204172" cy="60462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294893" indent="-294893">
              <a:lnSpc>
                <a:spcPct val="114999"/>
              </a:lnSpc>
              <a:buFont typeface="Arial"/>
              <a:buChar char="•"/>
              <a:defRPr/>
            </a:pPr>
            <a:r>
              <a:rPr lang="de-DE" sz="1600">
                <a:solidFill>
                  <a:schemeClr val="bg1"/>
                </a:solidFill>
                <a:latin typeface="Poppins"/>
                <a:ea typeface="Poppins"/>
                <a:cs typeface="Poppins"/>
              </a:rPr>
              <a:t>Daily scheduled runs</a:t>
            </a:r>
            <a:endParaRPr sz="1600">
              <a:solidFill>
                <a:schemeClr val="bg1"/>
              </a:solidFill>
              <a:latin typeface="Poppins"/>
              <a:ea typeface="Poppins"/>
              <a:cs typeface="Poppins"/>
            </a:endParaRPr>
          </a:p>
          <a:p>
            <a:pPr marL="294893" indent="-294893">
              <a:lnSpc>
                <a:spcPct val="114999"/>
              </a:lnSpc>
              <a:buFont typeface="Arial"/>
              <a:buChar char="•"/>
              <a:defRPr/>
            </a:pPr>
            <a:r>
              <a:rPr lang="de-DE" sz="1600">
                <a:solidFill>
                  <a:schemeClr val="bg1"/>
                </a:solidFill>
                <a:latin typeface="Poppins"/>
                <a:ea typeface="Poppins"/>
                <a:cs typeface="Poppins"/>
              </a:rPr>
              <a:t>Capture 3-5 star tiers</a:t>
            </a:r>
            <a:endParaRPr sz="1600">
              <a:solidFill>
                <a:schemeClr val="bg1"/>
              </a:solidFill>
              <a:latin typeface="Poppins"/>
              <a:ea typeface="Poppins"/>
              <a:cs typeface="Poppins"/>
            </a:endParaRPr>
          </a:p>
          <a:p>
            <a:pPr marL="294893" indent="-294893">
              <a:lnSpc>
                <a:spcPct val="114999"/>
              </a:lnSpc>
              <a:buFont typeface="Arial"/>
              <a:buChar char="•"/>
              <a:defRPr/>
            </a:pPr>
            <a:r>
              <a:rPr lang="de-DE" sz="1600">
                <a:solidFill>
                  <a:schemeClr val="bg1"/>
                </a:solidFill>
                <a:latin typeface="Poppins"/>
                <a:ea typeface="Poppins"/>
                <a:cs typeface="Poppins"/>
              </a:rPr>
              <a:t>Raw data storage</a:t>
            </a:r>
            <a:endParaRPr sz="1600">
              <a:solidFill>
                <a:schemeClr val="bg1"/>
              </a:solidFill>
            </a:endParaRPr>
          </a:p>
        </p:txBody>
      </p:sp>
      <p:sp>
        <p:nvSpPr>
          <p:cNvPr id="213805343" name="Text 4"/>
          <p:cNvSpPr/>
          <p:nvPr/>
        </p:nvSpPr>
        <p:spPr bwMode="auto">
          <a:xfrm>
            <a:off x="4057649" y="2524124"/>
            <a:ext cx="2746997" cy="60750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294893" indent="-294893">
              <a:lnSpc>
                <a:spcPct val="114999"/>
              </a:lnSpc>
              <a:buFont typeface="Arial"/>
              <a:buChar char="•"/>
              <a:defRPr/>
            </a:pPr>
            <a:r>
              <a:rPr lang="de-DE" sz="1600">
                <a:solidFill>
                  <a:schemeClr val="bg1"/>
                </a:solidFill>
                <a:latin typeface="Poppins"/>
                <a:ea typeface="Poppins"/>
                <a:cs typeface="Poppins"/>
              </a:rPr>
              <a:t>Cleanse data anomalies</a:t>
            </a:r>
            <a:endParaRPr sz="1600">
              <a:solidFill>
                <a:schemeClr val="bg1"/>
              </a:solidFill>
              <a:latin typeface="Poppins"/>
              <a:ea typeface="Poppins"/>
              <a:cs typeface="Poppins"/>
            </a:endParaRPr>
          </a:p>
          <a:p>
            <a:pPr marL="294893" indent="-294893">
              <a:lnSpc>
                <a:spcPct val="114999"/>
              </a:lnSpc>
              <a:buFont typeface="Arial"/>
              <a:buChar char="•"/>
              <a:defRPr/>
            </a:pPr>
            <a:r>
              <a:rPr lang="de-DE" sz="1600">
                <a:solidFill>
                  <a:schemeClr val="bg1"/>
                </a:solidFill>
                <a:latin typeface="Poppins"/>
                <a:ea typeface="Poppins"/>
                <a:cs typeface="Poppins"/>
              </a:rPr>
              <a:t>organize a data warehouse</a:t>
            </a:r>
            <a:endParaRPr sz="1600">
              <a:solidFill>
                <a:schemeClr val="bg1"/>
              </a:solidFill>
              <a:latin typeface="Poppins"/>
              <a:ea typeface="Poppins"/>
              <a:cs typeface="Poppins"/>
            </a:endParaRPr>
          </a:p>
          <a:p>
            <a:pPr marL="294893" indent="-294893">
              <a:lnSpc>
                <a:spcPct val="114999"/>
              </a:lnSpc>
              <a:buFont typeface="Arial"/>
              <a:buChar char="•"/>
              <a:defRPr/>
            </a:pPr>
            <a:r>
              <a:rPr lang="de-DE" sz="1600">
                <a:solidFill>
                  <a:schemeClr val="bg1"/>
                </a:solidFill>
                <a:latin typeface="Poppins"/>
                <a:ea typeface="Poppins"/>
                <a:cs typeface="Poppins"/>
              </a:rPr>
              <a:t>structure a layered schema</a:t>
            </a:r>
            <a:endParaRPr sz="1600">
              <a:solidFill>
                <a:schemeClr val="bg1"/>
              </a:solidFill>
            </a:endParaRPr>
          </a:p>
        </p:txBody>
      </p:sp>
      <p:sp>
        <p:nvSpPr>
          <p:cNvPr id="199798145" name="Text 6"/>
          <p:cNvSpPr/>
          <p:nvPr/>
        </p:nvSpPr>
        <p:spPr bwMode="auto">
          <a:xfrm>
            <a:off x="1133474" y="3850481"/>
            <a:ext cx="2333818" cy="38986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3019"/>
              </a:lnSpc>
              <a:buNone/>
              <a:defRPr/>
            </a:pPr>
            <a:r>
              <a:rPr lang="de-DE" sz="1900" b="1">
                <a:solidFill>
                  <a:srgbClr val="F1C40F"/>
                </a:solidFill>
                <a:latin typeface="Poppins"/>
                <a:ea typeface="Poppins"/>
                <a:cs typeface="Poppins"/>
              </a:rPr>
              <a:t>Decision Dashboard</a:t>
            </a:r>
            <a:endParaRPr lang="en-US" sz="1900"/>
          </a:p>
        </p:txBody>
      </p:sp>
      <p:sp>
        <p:nvSpPr>
          <p:cNvPr id="935149970" name="Text 7"/>
          <p:cNvSpPr/>
          <p:nvPr/>
        </p:nvSpPr>
        <p:spPr bwMode="auto">
          <a:xfrm>
            <a:off x="1200150" y="4431506"/>
            <a:ext cx="5563493" cy="57150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2250"/>
              </a:lnSpc>
              <a:buNone/>
              <a:defRPr/>
            </a:pPr>
            <a:r>
              <a:rPr lang="en-US" sz="190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Compare average prices per night across</a:t>
            </a:r>
            <a:br>
              <a:rPr lang="en-US" sz="1900">
                <a:solidFill>
                  <a:srgbClr val="FFFFFF"/>
                </a:solidFill>
                <a:latin typeface="Poppins"/>
                <a:ea typeface="Poppins"/>
                <a:cs typeface="Poppins"/>
              </a:rPr>
            </a:br>
            <a:r>
              <a:rPr lang="en-US" sz="190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hotel classes (3★, 4★, 5★)</a:t>
            </a:r>
            <a:endParaRPr lang="en-US" sz="1900"/>
          </a:p>
        </p:txBody>
      </p:sp>
      <p:sp>
        <p:nvSpPr>
          <p:cNvPr id="2077879866" name="Text 8"/>
          <p:cNvSpPr/>
          <p:nvPr/>
        </p:nvSpPr>
        <p:spPr bwMode="auto">
          <a:xfrm>
            <a:off x="1200150" y="5279231"/>
            <a:ext cx="5846415" cy="57150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2250"/>
              </a:lnSpc>
              <a:buNone/>
              <a:defRPr/>
            </a:pPr>
            <a:r>
              <a:rPr lang="en-US" sz="190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Identify optimal booking horizons (weeks or</a:t>
            </a:r>
            <a:br>
              <a:rPr lang="en-US" sz="1900">
                <a:solidFill>
                  <a:srgbClr val="FFFFFF"/>
                </a:solidFill>
                <a:latin typeface="Poppins"/>
                <a:ea typeface="Poppins"/>
                <a:cs typeface="Poppins"/>
              </a:rPr>
            </a:br>
            <a:r>
              <a:rPr lang="en-US" sz="190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months in advance)</a:t>
            </a:r>
            <a:endParaRPr lang="en-US" sz="1900"/>
          </a:p>
        </p:txBody>
      </p:sp>
      <p:sp>
        <p:nvSpPr>
          <p:cNvPr id="592879974" name="Text 9"/>
          <p:cNvSpPr/>
          <p:nvPr/>
        </p:nvSpPr>
        <p:spPr bwMode="auto">
          <a:xfrm flipH="0" flipV="0">
            <a:off x="1181099" y="6058346"/>
            <a:ext cx="5227990" cy="31908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513"/>
              </a:lnSpc>
              <a:buNone/>
              <a:defRPr/>
            </a:pPr>
            <a:r>
              <a:rPr lang="en-US" sz="190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Overview of hotel availability trends over time</a:t>
            </a:r>
            <a:endParaRPr lang="en-US" sz="1900"/>
          </a:p>
        </p:txBody>
      </p:sp>
      <p:sp>
        <p:nvSpPr>
          <p:cNvPr id="678089892" name=""/>
          <p:cNvSpPr/>
          <p:nvPr/>
        </p:nvSpPr>
        <p:spPr bwMode="auto">
          <a:xfrm rot="0" flipH="0" flipV="0">
            <a:off x="494722" y="1785576"/>
            <a:ext cx="2977717" cy="1765976"/>
          </a:xfrm>
          <a:prstGeom prst="flowChartAlternateProcess">
            <a:avLst/>
          </a:prstGeom>
          <a:solidFill>
            <a:schemeClr val="bg1">
              <a:alpha val="10000"/>
            </a:schemeClr>
          </a:solidFill>
          <a:ln w="28575" cap="flat" cmpd="sng" algn="ctr">
            <a:solidFill>
              <a:srgbClr val="5DA2EE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323411502" name="Text 6"/>
          <p:cNvSpPr/>
          <p:nvPr/>
        </p:nvSpPr>
        <p:spPr bwMode="auto">
          <a:xfrm>
            <a:off x="929282" y="1845108"/>
            <a:ext cx="1663179" cy="38878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3018"/>
              </a:lnSpc>
              <a:buNone/>
              <a:defRPr/>
            </a:pPr>
            <a:r>
              <a:rPr lang="de-DE" sz="1900" b="1">
                <a:solidFill>
                  <a:srgbClr val="F1C40F"/>
                </a:solidFill>
                <a:latin typeface="Poppins"/>
                <a:ea typeface="Poppins"/>
                <a:cs typeface="Poppins"/>
              </a:rPr>
              <a:t>Fetch &amp; Ingest</a:t>
            </a:r>
            <a:endParaRPr lang="en-US" sz="1900"/>
          </a:p>
        </p:txBody>
      </p:sp>
      <p:sp>
        <p:nvSpPr>
          <p:cNvPr id="658866006" name="Text 6"/>
          <p:cNvSpPr/>
          <p:nvPr/>
        </p:nvSpPr>
        <p:spPr bwMode="auto">
          <a:xfrm>
            <a:off x="4289944" y="1845108"/>
            <a:ext cx="2119145" cy="39598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3018"/>
              </a:lnSpc>
              <a:buNone/>
              <a:defRPr/>
            </a:pPr>
            <a:r>
              <a:rPr lang="de-DE" sz="1900" b="1">
                <a:solidFill>
                  <a:srgbClr val="F1C40F"/>
                </a:solidFill>
                <a:latin typeface="Poppins"/>
                <a:ea typeface="Poppins"/>
                <a:cs typeface="Poppins"/>
              </a:rPr>
              <a:t>Transform &amp; Store</a:t>
            </a:r>
            <a:endParaRPr lang="en-US" sz="1900"/>
          </a:p>
        </p:txBody>
      </p:sp>
      <p:sp>
        <p:nvSpPr>
          <p:cNvPr id="382368181" name=""/>
          <p:cNvSpPr/>
          <p:nvPr/>
        </p:nvSpPr>
        <p:spPr bwMode="auto">
          <a:xfrm rot="0" flipH="0" flipV="0">
            <a:off x="3902190" y="1785576"/>
            <a:ext cx="3144373" cy="1765976"/>
          </a:xfrm>
          <a:prstGeom prst="flowChartAlternateProcess">
            <a:avLst/>
          </a:prstGeom>
          <a:solidFill>
            <a:schemeClr val="bg1">
              <a:alpha val="10000"/>
            </a:schemeClr>
          </a:solidFill>
          <a:ln w="28575" cap="flat" cmpd="sng" algn="ctr">
            <a:solidFill>
              <a:srgbClr val="5DA2EE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793830196" name=""/>
          <p:cNvSpPr/>
          <p:nvPr/>
        </p:nvSpPr>
        <p:spPr bwMode="auto">
          <a:xfrm rot="0" flipH="0" flipV="0">
            <a:off x="449378" y="3852618"/>
            <a:ext cx="6597186" cy="2779162"/>
          </a:xfrm>
          <a:prstGeom prst="flowChartAlternateProcess">
            <a:avLst/>
          </a:prstGeom>
          <a:solidFill>
            <a:schemeClr val="bg1">
              <a:alpha val="10000"/>
            </a:schemeClr>
          </a:solidFill>
          <a:ln w="28575" cap="flat" cmpd="sng" algn="ctr">
            <a:solidFill>
              <a:srgbClr val="5DA2EE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cxnSp>
        <p:nvCxnSpPr>
          <p:cNvPr id="1822640676" name="Line 1822640676"/>
          <p:cNvCxnSpPr>
            <a:stCxn id="678089892" idx="3"/>
            <a:endCxn id="382368181" idx="1"/>
          </p:cNvCxnSpPr>
          <p:nvPr/>
        </p:nvCxnSpPr>
        <p:spPr bwMode="auto">
          <a:xfrm rot="0" flipH="0" flipV="0">
            <a:off x="3474720" y="2670047"/>
            <a:ext cx="429750" cy="0"/>
          </a:xfrm>
          <a:prstGeom prst="line">
            <a:avLst/>
          </a:prstGeom>
          <a:ln w="28575" cap="flat" cmpd="sng" algn="ctr">
            <a:solidFill>
              <a:srgbClr val="5DA2EE"/>
            </a:solidFill>
            <a:prstDash val="solid"/>
            <a:miter lim="800000"/>
            <a:tailEnd type="arrow" w="med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5110361" name=""/>
          <p:cNvCxnSpPr>
            <a:stCxn id="382368181" idx="2"/>
          </p:cNvCxnSpPr>
          <p:nvPr/>
        </p:nvCxnSpPr>
        <p:spPr bwMode="auto">
          <a:xfrm rot="5399978" flipH="0" flipV="1">
            <a:off x="5340095" y="3694176"/>
            <a:ext cx="277496" cy="0"/>
          </a:xfrm>
          <a:prstGeom prst="line">
            <a:avLst/>
          </a:prstGeom>
          <a:ln w="28575" cap="flat" cmpd="sng" algn="ctr">
            <a:solidFill>
              <a:srgbClr val="5DA2EE"/>
            </a:solidFill>
            <a:prstDash val="solid"/>
            <a:miter lim="800000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1144576" name="Text 1"/>
          <p:cNvSpPr/>
          <p:nvPr/>
        </p:nvSpPr>
        <p:spPr bwMode="auto">
          <a:xfrm flipH="0" flipV="0">
            <a:off x="8240266" y="5050631"/>
            <a:ext cx="2795088" cy="228600"/>
          </a:xfrm>
          <a:prstGeom prst="rect">
            <a:avLst/>
          </a:prstGeom>
          <a:noFill/>
          <a:ln/>
        </p:spPr>
        <p:txBody>
          <a:bodyPr vertOverflow="overflow" horzOverflow="overflow" vert="horz" wrap="square" lIns="0" tIns="0" rIns="0" bIns="0" numCol="1" spcCol="0" rtlCol="0" fromWordArt="0" anchor="b" anchorCtr="0" forceAA="0" upright="0" compatLnSpc="0"/>
          <a:lstStyle/>
          <a:p>
            <a:pPr marL="0" indent="0" algn="ctr">
              <a:lnSpc>
                <a:spcPct val="100000"/>
              </a:lnSpc>
              <a:buNone/>
              <a:defRPr/>
            </a:pPr>
            <a:r>
              <a:rPr lang="de-DE" sz="800" i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Image shown above only serves as illustration,</a:t>
            </a:r>
            <a:endParaRPr lang="de-DE" sz="800" i="1">
              <a:solidFill>
                <a:srgbClr val="FFFFFF"/>
              </a:solidFill>
              <a:latin typeface="Poppins"/>
              <a:ea typeface="Poppins"/>
              <a:cs typeface="Poppins"/>
            </a:endParaRPr>
          </a:p>
          <a:p>
            <a:pPr marL="0" indent="0" algn="ctr">
              <a:lnSpc>
                <a:spcPct val="100000"/>
              </a:lnSpc>
              <a:buNone/>
              <a:defRPr/>
            </a:pPr>
            <a:r>
              <a:rPr lang="de-DE" sz="800" i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not the actual dashboard.</a:t>
            </a:r>
            <a:endParaRPr sz="800" i="1">
              <a:solidFill>
                <a:srgbClr val="FFFFFF"/>
              </a:solidFill>
              <a:latin typeface="Poppins"/>
              <a:ea typeface="Poppins"/>
              <a:cs typeface="Poppins"/>
            </a:endParaRPr>
          </a:p>
        </p:txBody>
      </p:sp>
      <p:sp>
        <p:nvSpPr>
          <p:cNvPr id="592158403" name=""/>
          <p:cNvSpPr/>
          <p:nvPr/>
        </p:nvSpPr>
        <p:spPr bwMode="auto">
          <a:xfrm rot="0" flipH="0" flipV="0">
            <a:off x="7626476" y="5623560"/>
            <a:ext cx="91440" cy="1005840"/>
          </a:xfrm>
          <a:prstGeom prst="rect">
            <a:avLst/>
          </a:prstGeom>
          <a:solidFill>
            <a:schemeClr val="accent1">
              <a:alpha val="49999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5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39712262" name="Image 0" descr="preencoded.png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092615955" name="Image 1" descr="preencoded.png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11143357" y="3730675"/>
            <a:ext cx="572988" cy="534888"/>
          </a:xfrm>
          <a:prstGeom prst="rect">
            <a:avLst/>
          </a:prstGeom>
        </p:spPr>
      </p:pic>
      <p:pic>
        <p:nvPicPr>
          <p:cNvPr id="1377099703" name="Image 2" descr="preencoded.png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10436275" y="4169569"/>
            <a:ext cx="572988" cy="479971"/>
          </a:xfrm>
          <a:prstGeom prst="rect">
            <a:avLst/>
          </a:prstGeom>
        </p:spPr>
      </p:pic>
      <p:pic>
        <p:nvPicPr>
          <p:cNvPr id="2028504791" name="Image 3" descr="preencoded.png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>
            <a:off x="10448479" y="3593455"/>
            <a:ext cx="597396" cy="438894"/>
          </a:xfrm>
          <a:prstGeom prst="rect">
            <a:avLst/>
          </a:prstGeom>
        </p:spPr>
      </p:pic>
      <p:pic>
        <p:nvPicPr>
          <p:cNvPr id="1799244819" name="Image 4" descr="preencoded.png"/>
          <p:cNvPicPr>
            <a:picLocks noChangeAspect="1"/>
          </p:cNvPicPr>
          <p:nvPr/>
        </p:nvPicPr>
        <p:blipFill>
          <a:blip r:embed="rId7"/>
          <a:stretch/>
        </p:blipFill>
        <p:spPr bwMode="auto">
          <a:xfrm>
            <a:off x="10058400" y="1131540"/>
            <a:ext cx="1609279" cy="1721346"/>
          </a:xfrm>
          <a:prstGeom prst="rect">
            <a:avLst/>
          </a:prstGeom>
        </p:spPr>
      </p:pic>
      <p:pic>
        <p:nvPicPr>
          <p:cNvPr id="278837989" name="Image 5" descr="preencoded.png"/>
          <p:cNvPicPr>
            <a:picLocks noChangeAspect="1"/>
          </p:cNvPicPr>
          <p:nvPr/>
        </p:nvPicPr>
        <p:blipFill>
          <a:blip r:embed="rId8"/>
          <a:stretch/>
        </p:blipFill>
        <p:spPr bwMode="auto">
          <a:xfrm>
            <a:off x="6754267" y="4053036"/>
            <a:ext cx="451098" cy="425053"/>
          </a:xfrm>
          <a:prstGeom prst="rect">
            <a:avLst/>
          </a:prstGeom>
        </p:spPr>
      </p:pic>
      <p:pic>
        <p:nvPicPr>
          <p:cNvPr id="755262614" name="Image 6" descr="preencoded.png"/>
          <p:cNvPicPr>
            <a:picLocks noChangeAspect="1"/>
          </p:cNvPicPr>
          <p:nvPr/>
        </p:nvPicPr>
        <p:blipFill>
          <a:blip r:embed="rId9"/>
          <a:stretch/>
        </p:blipFill>
        <p:spPr bwMode="auto">
          <a:xfrm>
            <a:off x="6754267" y="3161407"/>
            <a:ext cx="451098" cy="438894"/>
          </a:xfrm>
          <a:prstGeom prst="rect">
            <a:avLst/>
          </a:prstGeom>
        </p:spPr>
      </p:pic>
      <p:pic>
        <p:nvPicPr>
          <p:cNvPr id="1281506326" name="Image 7" descr="preencoded.png"/>
          <p:cNvPicPr>
            <a:picLocks noChangeAspect="1"/>
          </p:cNvPicPr>
          <p:nvPr/>
        </p:nvPicPr>
        <p:blipFill>
          <a:blip r:embed="rId10"/>
          <a:stretch/>
        </p:blipFill>
        <p:spPr bwMode="auto">
          <a:xfrm>
            <a:off x="6754267" y="2249388"/>
            <a:ext cx="451098" cy="452586"/>
          </a:xfrm>
          <a:prstGeom prst="rect">
            <a:avLst/>
          </a:prstGeom>
        </p:spPr>
      </p:pic>
      <p:pic>
        <p:nvPicPr>
          <p:cNvPr id="478056031" name="Image 8" descr="preencoded.png"/>
          <p:cNvPicPr>
            <a:picLocks noChangeAspect="1"/>
          </p:cNvPicPr>
          <p:nvPr/>
        </p:nvPicPr>
        <p:blipFill>
          <a:blip r:embed="rId11"/>
          <a:stretch/>
        </p:blipFill>
        <p:spPr bwMode="auto">
          <a:xfrm>
            <a:off x="4547592" y="4135338"/>
            <a:ext cx="572988" cy="562273"/>
          </a:xfrm>
          <a:prstGeom prst="rect">
            <a:avLst/>
          </a:prstGeom>
        </p:spPr>
      </p:pic>
      <p:pic>
        <p:nvPicPr>
          <p:cNvPr id="2138954152" name="Image 9" descr="preencoded.png"/>
          <p:cNvPicPr>
            <a:picLocks noChangeAspect="1"/>
          </p:cNvPicPr>
          <p:nvPr/>
        </p:nvPicPr>
        <p:blipFill>
          <a:blip r:embed="rId12"/>
          <a:stretch/>
        </p:blipFill>
        <p:spPr bwMode="auto">
          <a:xfrm>
            <a:off x="5266879" y="3689598"/>
            <a:ext cx="548580" cy="575965"/>
          </a:xfrm>
          <a:prstGeom prst="rect">
            <a:avLst/>
          </a:prstGeom>
        </p:spPr>
      </p:pic>
      <p:pic>
        <p:nvPicPr>
          <p:cNvPr id="1681877629" name="Image 10" descr="preencoded.png"/>
          <p:cNvPicPr>
            <a:picLocks noChangeAspect="1"/>
          </p:cNvPicPr>
          <p:nvPr/>
        </p:nvPicPr>
        <p:blipFill>
          <a:blip r:embed="rId13"/>
          <a:stretch/>
        </p:blipFill>
        <p:spPr bwMode="auto">
          <a:xfrm>
            <a:off x="4449961" y="3518148"/>
            <a:ext cx="572988" cy="514350"/>
          </a:xfrm>
          <a:prstGeom prst="rect">
            <a:avLst/>
          </a:prstGeom>
        </p:spPr>
      </p:pic>
      <p:pic>
        <p:nvPicPr>
          <p:cNvPr id="753304941" name="Image 11" descr="preencoded.png"/>
          <p:cNvPicPr>
            <a:picLocks noChangeAspect="1"/>
          </p:cNvPicPr>
          <p:nvPr/>
        </p:nvPicPr>
        <p:blipFill>
          <a:blip r:embed="rId14"/>
          <a:stretch/>
        </p:blipFill>
        <p:spPr bwMode="auto">
          <a:xfrm>
            <a:off x="4510980" y="1200150"/>
            <a:ext cx="1316682" cy="1330375"/>
          </a:xfrm>
          <a:prstGeom prst="rect">
            <a:avLst/>
          </a:prstGeom>
        </p:spPr>
      </p:pic>
      <p:pic>
        <p:nvPicPr>
          <p:cNvPr id="1626605239" name="Image 12" descr="preencoded.png"/>
          <p:cNvPicPr>
            <a:picLocks noChangeAspect="1"/>
          </p:cNvPicPr>
          <p:nvPr/>
        </p:nvPicPr>
        <p:blipFill>
          <a:blip r:embed="rId15"/>
          <a:stretch/>
        </p:blipFill>
        <p:spPr bwMode="auto">
          <a:xfrm>
            <a:off x="767953" y="4053036"/>
            <a:ext cx="463153" cy="425053"/>
          </a:xfrm>
          <a:prstGeom prst="rect">
            <a:avLst/>
          </a:prstGeom>
        </p:spPr>
      </p:pic>
      <p:pic>
        <p:nvPicPr>
          <p:cNvPr id="91446163" name="Image 13" descr="preencoded.png"/>
          <p:cNvPicPr>
            <a:picLocks noChangeAspect="1"/>
          </p:cNvPicPr>
          <p:nvPr/>
        </p:nvPicPr>
        <p:blipFill>
          <a:blip r:embed="rId16"/>
          <a:stretch/>
        </p:blipFill>
        <p:spPr bwMode="auto">
          <a:xfrm>
            <a:off x="767953" y="3161407"/>
            <a:ext cx="451098" cy="438894"/>
          </a:xfrm>
          <a:prstGeom prst="rect">
            <a:avLst/>
          </a:prstGeom>
        </p:spPr>
      </p:pic>
      <p:pic>
        <p:nvPicPr>
          <p:cNvPr id="2067833134" name="Image 14" descr="preencoded.png"/>
          <p:cNvPicPr>
            <a:picLocks noChangeAspect="1"/>
          </p:cNvPicPr>
          <p:nvPr/>
        </p:nvPicPr>
        <p:blipFill>
          <a:blip r:embed="rId17"/>
          <a:stretch/>
        </p:blipFill>
        <p:spPr bwMode="auto">
          <a:xfrm>
            <a:off x="767953" y="2269927"/>
            <a:ext cx="463153" cy="445740"/>
          </a:xfrm>
          <a:prstGeom prst="rect">
            <a:avLst/>
          </a:prstGeom>
        </p:spPr>
      </p:pic>
      <p:sp>
        <p:nvSpPr>
          <p:cNvPr id="226533935" name="Text 0"/>
          <p:cNvSpPr/>
          <p:nvPr/>
        </p:nvSpPr>
        <p:spPr bwMode="auto">
          <a:xfrm>
            <a:off x="2287860" y="409575"/>
            <a:ext cx="8001000" cy="57150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>
              <a:lnSpc>
                <a:spcPts val="4500"/>
              </a:lnSpc>
              <a:buNone/>
              <a:defRPr/>
            </a:pPr>
            <a:r>
              <a:rPr lang="en-US" sz="375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Project Impact</a:t>
            </a:r>
            <a:endParaRPr lang="en-US" sz="3750"/>
          </a:p>
        </p:txBody>
      </p:sp>
      <p:sp>
        <p:nvSpPr>
          <p:cNvPr id="1802416616" name="Text 1"/>
          <p:cNvSpPr/>
          <p:nvPr/>
        </p:nvSpPr>
        <p:spPr bwMode="auto">
          <a:xfrm>
            <a:off x="771525" y="1485900"/>
            <a:ext cx="4309110" cy="35912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2828"/>
              </a:lnSpc>
              <a:buNone/>
              <a:defRPr/>
            </a:pPr>
            <a:r>
              <a:rPr lang="en-US" sz="2200" b="1">
                <a:solidFill>
                  <a:srgbClr val="F0B563"/>
                </a:solidFill>
                <a:latin typeface="Poppins"/>
                <a:ea typeface="Poppins"/>
                <a:cs typeface="Poppins"/>
              </a:rPr>
              <a:t>For Customers</a:t>
            </a:r>
            <a:endParaRPr lang="en-US" sz="2200"/>
          </a:p>
        </p:txBody>
      </p:sp>
      <p:sp>
        <p:nvSpPr>
          <p:cNvPr id="520671991" name="Text 2"/>
          <p:cNvSpPr/>
          <p:nvPr/>
        </p:nvSpPr>
        <p:spPr bwMode="auto">
          <a:xfrm>
            <a:off x="6686550" y="1485900"/>
            <a:ext cx="5634990" cy="35912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2828"/>
              </a:lnSpc>
              <a:buNone/>
              <a:defRPr/>
            </a:pPr>
            <a:r>
              <a:rPr lang="en-US" sz="2200" b="1">
                <a:solidFill>
                  <a:srgbClr val="F0B563"/>
                </a:solidFill>
                <a:latin typeface="Poppins"/>
                <a:ea typeface="Poppins"/>
                <a:cs typeface="Poppins"/>
              </a:rPr>
              <a:t>For Travel Agency</a:t>
            </a:r>
            <a:endParaRPr lang="en-US" sz="2200"/>
          </a:p>
        </p:txBody>
      </p:sp>
      <p:sp>
        <p:nvSpPr>
          <p:cNvPr id="825544146" name="Text 3"/>
          <p:cNvSpPr/>
          <p:nvPr/>
        </p:nvSpPr>
        <p:spPr bwMode="auto">
          <a:xfrm>
            <a:off x="3809033" y="5162550"/>
            <a:ext cx="4800600" cy="34677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>
              <a:lnSpc>
                <a:spcPts val="2730"/>
              </a:lnSpc>
              <a:buNone/>
              <a:defRPr/>
            </a:pPr>
            <a:r>
              <a:rPr lang="en-US" sz="2100" b="1">
                <a:solidFill>
                  <a:srgbClr val="F0B563"/>
                </a:solidFill>
                <a:latin typeface="Poppins"/>
                <a:ea typeface="Poppins"/>
                <a:cs typeface="Poppins"/>
              </a:rPr>
              <a:t>Sample Insights</a:t>
            </a:r>
            <a:endParaRPr lang="en-US" sz="2100"/>
          </a:p>
        </p:txBody>
      </p:sp>
      <p:sp>
        <p:nvSpPr>
          <p:cNvPr id="1847491249" name="Text 4"/>
          <p:cNvSpPr/>
          <p:nvPr/>
        </p:nvSpPr>
        <p:spPr bwMode="auto">
          <a:xfrm>
            <a:off x="1447800" y="2200275"/>
            <a:ext cx="3677543" cy="59442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2340"/>
              </a:lnSpc>
              <a:buNone/>
              <a:defRPr/>
            </a:pPr>
            <a:r>
              <a:rPr lang="en-US" sz="195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Make informed decisions</a:t>
            </a:r>
            <a:br>
              <a:rPr lang="en-US" sz="1950">
                <a:solidFill>
                  <a:srgbClr val="FFFFFF"/>
                </a:solidFill>
                <a:latin typeface="Poppins"/>
                <a:ea typeface="Poppins"/>
                <a:cs typeface="Poppins"/>
              </a:rPr>
            </a:br>
            <a:r>
              <a:rPr lang="en-US" sz="195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based on real data</a:t>
            </a:r>
            <a:endParaRPr lang="en-US" sz="1950"/>
          </a:p>
        </p:txBody>
      </p:sp>
      <p:sp>
        <p:nvSpPr>
          <p:cNvPr id="205316873" name="Text 5"/>
          <p:cNvSpPr/>
          <p:nvPr/>
        </p:nvSpPr>
        <p:spPr bwMode="auto">
          <a:xfrm>
            <a:off x="1447800" y="3067050"/>
            <a:ext cx="3300413" cy="59442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2340"/>
              </a:lnSpc>
              <a:buNone/>
              <a:defRPr/>
            </a:pPr>
            <a:r>
              <a:rPr lang="en-US" sz="195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Find optimal timing for</a:t>
            </a:r>
            <a:br>
              <a:rPr lang="en-US" sz="1950">
                <a:solidFill>
                  <a:srgbClr val="FFFFFF"/>
                </a:solidFill>
                <a:latin typeface="Poppins"/>
                <a:ea typeface="Poppins"/>
                <a:cs typeface="Poppins"/>
              </a:rPr>
            </a:br>
            <a:r>
              <a:rPr lang="en-US" sz="195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booking</a:t>
            </a:r>
            <a:endParaRPr lang="en-US" sz="1950"/>
          </a:p>
        </p:txBody>
      </p:sp>
      <p:sp>
        <p:nvSpPr>
          <p:cNvPr id="2140515615" name="Text 6"/>
          <p:cNvSpPr/>
          <p:nvPr/>
        </p:nvSpPr>
        <p:spPr bwMode="auto">
          <a:xfrm>
            <a:off x="1447800" y="3943350"/>
            <a:ext cx="3038475" cy="59442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2340"/>
              </a:lnSpc>
              <a:buNone/>
              <a:defRPr/>
            </a:pPr>
            <a:r>
              <a:rPr lang="en-US" sz="195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Avoid overpaying for</a:t>
            </a:r>
            <a:br>
              <a:rPr lang="en-US" sz="1950">
                <a:solidFill>
                  <a:srgbClr val="FFFFFF"/>
                </a:solidFill>
                <a:latin typeface="Poppins"/>
                <a:ea typeface="Poppins"/>
                <a:cs typeface="Poppins"/>
              </a:rPr>
            </a:br>
            <a:r>
              <a:rPr lang="en-US" sz="195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accommodations</a:t>
            </a:r>
            <a:endParaRPr lang="en-US" sz="1950"/>
          </a:p>
        </p:txBody>
      </p:sp>
      <p:sp>
        <p:nvSpPr>
          <p:cNvPr id="624268366" name="Text 7"/>
          <p:cNvSpPr/>
          <p:nvPr/>
        </p:nvSpPr>
        <p:spPr bwMode="auto">
          <a:xfrm>
            <a:off x="7362825" y="2200275"/>
            <a:ext cx="2367855" cy="59442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2340"/>
              </a:lnSpc>
              <a:buNone/>
              <a:defRPr/>
            </a:pPr>
            <a:r>
              <a:rPr lang="en-US" sz="195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Reduce manual</a:t>
            </a:r>
            <a:br>
              <a:rPr lang="en-US" sz="1950">
                <a:solidFill>
                  <a:srgbClr val="FFFFFF"/>
                </a:solidFill>
                <a:latin typeface="Poppins"/>
                <a:ea typeface="Poppins"/>
                <a:cs typeface="Poppins"/>
              </a:rPr>
            </a:br>
            <a:r>
              <a:rPr lang="en-US" sz="195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research effort</a:t>
            </a:r>
            <a:endParaRPr lang="en-US" sz="1950"/>
          </a:p>
        </p:txBody>
      </p:sp>
      <p:sp>
        <p:nvSpPr>
          <p:cNvPr id="1087565512" name="Text 8"/>
          <p:cNvSpPr/>
          <p:nvPr/>
        </p:nvSpPr>
        <p:spPr bwMode="auto">
          <a:xfrm>
            <a:off x="7362825" y="3067050"/>
            <a:ext cx="3604171" cy="59442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2340"/>
              </a:lnSpc>
              <a:buNone/>
              <a:defRPr/>
            </a:pPr>
            <a:r>
              <a:rPr lang="en-US" sz="195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Improve pricing strategy</a:t>
            </a:r>
            <a:br>
              <a:rPr lang="en-US" sz="1950">
                <a:solidFill>
                  <a:srgbClr val="FFFFFF"/>
                </a:solidFill>
                <a:latin typeface="Poppins"/>
                <a:ea typeface="Poppins"/>
                <a:cs typeface="Poppins"/>
              </a:rPr>
            </a:br>
            <a:r>
              <a:rPr lang="en-US" sz="195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accuracy</a:t>
            </a:r>
            <a:endParaRPr lang="en-US" sz="1950"/>
          </a:p>
        </p:txBody>
      </p:sp>
      <p:sp>
        <p:nvSpPr>
          <p:cNvPr id="564175166" name="Text 9"/>
          <p:cNvSpPr/>
          <p:nvPr/>
        </p:nvSpPr>
        <p:spPr bwMode="auto">
          <a:xfrm>
            <a:off x="7362825" y="3943350"/>
            <a:ext cx="2902148" cy="59442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2340"/>
              </a:lnSpc>
              <a:buNone/>
              <a:defRPr/>
            </a:pPr>
            <a:r>
              <a:rPr lang="en-US" sz="195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Deliver data-driven</a:t>
            </a:r>
            <a:br>
              <a:rPr lang="en-US" sz="1950">
                <a:solidFill>
                  <a:srgbClr val="FFFFFF"/>
                </a:solidFill>
                <a:latin typeface="Poppins"/>
                <a:ea typeface="Poppins"/>
                <a:cs typeface="Poppins"/>
              </a:rPr>
            </a:br>
            <a:r>
              <a:rPr lang="en-US" sz="195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recommendations</a:t>
            </a:r>
            <a:endParaRPr lang="en-US" sz="1950"/>
          </a:p>
        </p:txBody>
      </p:sp>
      <p:sp>
        <p:nvSpPr>
          <p:cNvPr id="757508015" name="Text 10"/>
          <p:cNvSpPr/>
          <p:nvPr/>
        </p:nvSpPr>
        <p:spPr bwMode="auto">
          <a:xfrm>
            <a:off x="2057400" y="5600700"/>
            <a:ext cx="9042053" cy="74473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>
              <a:lnSpc>
                <a:spcPts val="2933"/>
              </a:lnSpc>
              <a:buNone/>
              <a:defRPr/>
            </a:pPr>
            <a:r>
              <a:rPr lang="en-US" sz="175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4-star hotels can be cheaper than 3-star hotels in last-minute scenarios</a:t>
            </a:r>
            <a:br>
              <a:rPr lang="en-US" sz="1750">
                <a:solidFill>
                  <a:srgbClr val="FFFFFF"/>
                </a:solidFill>
                <a:latin typeface="Poppins"/>
                <a:ea typeface="Poppins"/>
                <a:cs typeface="Poppins"/>
              </a:rPr>
            </a:br>
            <a:r>
              <a:rPr lang="en-US" sz="175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Prices can rise up to 20× higher during peak seasons</a:t>
            </a:r>
            <a:endParaRPr lang="en-US" sz="17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6">
    <p:bg>
      <p:bgPr shadeToTitle="0">
        <a:solidFill>
          <a:srgbClr val="0F17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7668733" name=""/>
          <p:cNvSpPr/>
          <p:nvPr/>
        </p:nvSpPr>
        <p:spPr bwMode="auto">
          <a:xfrm flipH="0" flipV="0">
            <a:off x="8936382" y="4117107"/>
            <a:ext cx="2446965" cy="959186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rgbClr val="5DA2EE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4219407" name=""/>
          <p:cNvSpPr/>
          <p:nvPr/>
        </p:nvSpPr>
        <p:spPr bwMode="auto">
          <a:xfrm flipH="0" flipV="0">
            <a:off x="232369" y="1731084"/>
            <a:ext cx="3911980" cy="272453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rgbClr val="5DA2EE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22703150" name=""/>
          <p:cNvSpPr/>
          <p:nvPr/>
        </p:nvSpPr>
        <p:spPr bwMode="auto">
          <a:xfrm flipH="0" flipV="0">
            <a:off x="225733" y="438149"/>
            <a:ext cx="3918615" cy="1108813"/>
          </a:xfrm>
          <a:prstGeom prst="rect">
            <a:avLst/>
          </a:prstGeom>
          <a:solidFill>
            <a:schemeClr val="bg1">
              <a:alpha val="99999"/>
            </a:schemeClr>
          </a:solidFill>
          <a:ln w="28575" cap="flat" cmpd="sng" algn="ctr">
            <a:solidFill>
              <a:srgbClr val="5DA2EE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14062123" name=""/>
          <p:cNvSpPr/>
          <p:nvPr/>
        </p:nvSpPr>
        <p:spPr bwMode="auto">
          <a:xfrm flipH="0" flipV="0">
            <a:off x="8936382" y="1897856"/>
            <a:ext cx="2446966" cy="1152228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rgbClr val="5DA2EE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73474204" name=""/>
          <p:cNvSpPr/>
          <p:nvPr/>
        </p:nvSpPr>
        <p:spPr bwMode="auto">
          <a:xfrm flipH="0" flipV="0">
            <a:off x="956005" y="5388176"/>
            <a:ext cx="3200400" cy="738779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rgbClr val="5DA2EE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68809933" name=""/>
          <p:cNvSpPr/>
          <p:nvPr/>
        </p:nvSpPr>
        <p:spPr bwMode="auto">
          <a:xfrm flipH="0" flipV="0">
            <a:off x="4868249" y="1897856"/>
            <a:ext cx="3324224" cy="2170872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rgbClr val="5DA2EE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44431656" name=""/>
          <p:cNvSpPr/>
          <p:nvPr/>
        </p:nvSpPr>
        <p:spPr bwMode="auto">
          <a:xfrm flipH="0" flipV="0">
            <a:off x="956005" y="4693739"/>
            <a:ext cx="3200400" cy="503997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rgbClr val="5DA2EE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87349149" name=""/>
          <p:cNvSpPr/>
          <p:nvPr/>
        </p:nvSpPr>
        <p:spPr bwMode="auto">
          <a:xfrm flipH="0" flipV="0">
            <a:off x="4868249" y="4600575"/>
            <a:ext cx="3324224" cy="1557337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rgbClr val="5DA2EE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63146448" name=""/>
          <p:cNvSpPr txBox="1"/>
          <p:nvPr/>
        </p:nvSpPr>
        <p:spPr bwMode="auto">
          <a:xfrm flipH="0" flipV="0">
            <a:off x="3690727" y="763849"/>
            <a:ext cx="183636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1752811739" name="Text 0"/>
          <p:cNvSpPr/>
          <p:nvPr/>
        </p:nvSpPr>
        <p:spPr bwMode="auto">
          <a:xfrm flipH="0" flipV="0">
            <a:off x="4582114" y="512067"/>
            <a:ext cx="6848859" cy="8046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6335"/>
              </a:lnSpc>
              <a:buNone/>
              <a:defRPr/>
            </a:pPr>
            <a:r>
              <a:rPr lang="de-DE" sz="4800" b="0" spc="-124">
                <a:solidFill>
                  <a:srgbClr val="5DA2EE"/>
                </a:solidFill>
                <a:latin typeface="Yu Gothic UI Semibold"/>
                <a:ea typeface="Yu Gothic UI Semibold"/>
                <a:cs typeface="Yu Gothic UI Semibold"/>
              </a:rPr>
              <a:t>Data</a:t>
            </a:r>
            <a:r>
              <a:rPr lang="de-DE" sz="4800" b="0" spc="-124">
                <a:solidFill>
                  <a:srgbClr val="5DA2EE"/>
                </a:solidFill>
                <a:latin typeface="Yu Gothic UI Semibold"/>
                <a:ea typeface="Yu Gothic UI Semibold"/>
                <a:cs typeface="Yu Gothic UI Semibold"/>
              </a:rPr>
              <a:t> </a:t>
            </a:r>
            <a:r>
              <a:rPr lang="de-DE" sz="4800" b="0" spc="-124">
                <a:solidFill>
                  <a:srgbClr val="5DA2EE"/>
                </a:solidFill>
                <a:latin typeface="Yu Gothic UI Semibold"/>
                <a:ea typeface="Yu Gothic UI Semibold"/>
                <a:cs typeface="Yu Gothic UI Semibold"/>
              </a:rPr>
              <a:t>Pipeline </a:t>
            </a:r>
            <a:r>
              <a:rPr lang="de-DE" sz="4800" b="0" spc="-124">
                <a:solidFill>
                  <a:srgbClr val="5DA2EE"/>
                </a:solidFill>
                <a:latin typeface="Yu Gothic UI Semibold"/>
                <a:ea typeface="Yu Gothic UI Semibold"/>
                <a:cs typeface="Yu Gothic UI Semibold"/>
              </a:rPr>
              <a:t>Architecture</a:t>
            </a:r>
            <a:endParaRPr sz="4800" b="0">
              <a:solidFill>
                <a:srgbClr val="5DA2EE"/>
              </a:solidFill>
              <a:latin typeface="Yu Gothic UI Semibold"/>
              <a:cs typeface="Yu Gothic UI Semibold"/>
            </a:endParaRPr>
          </a:p>
        </p:txBody>
      </p:sp>
      <p:pic>
        <p:nvPicPr>
          <p:cNvPr id="117913462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09984" y="4342869"/>
            <a:ext cx="1181099" cy="1181099"/>
          </a:xfrm>
          <a:prstGeom prst="rect">
            <a:avLst/>
          </a:prstGeom>
        </p:spPr>
      </p:pic>
      <p:pic>
        <p:nvPicPr>
          <p:cNvPr id="1210415087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9073542" y="3984657"/>
            <a:ext cx="786299" cy="786299"/>
          </a:xfrm>
          <a:prstGeom prst="rect">
            <a:avLst/>
          </a:prstGeom>
        </p:spPr>
      </p:pic>
      <p:pic>
        <p:nvPicPr>
          <p:cNvPr id="1386883355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1105234" y="5525336"/>
            <a:ext cx="429217" cy="429217"/>
          </a:xfrm>
          <a:prstGeom prst="rect">
            <a:avLst/>
          </a:prstGeom>
        </p:spPr>
      </p:pic>
      <p:pic>
        <p:nvPicPr>
          <p:cNvPr id="1264242379" name="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 flipH="0" flipV="0">
            <a:off x="5012477" y="1996554"/>
            <a:ext cx="413758" cy="413758"/>
          </a:xfrm>
          <a:prstGeom prst="rect">
            <a:avLst/>
          </a:prstGeom>
        </p:spPr>
      </p:pic>
      <p:pic>
        <p:nvPicPr>
          <p:cNvPr id="1170463928" name=""/>
          <p:cNvPicPr>
            <a:picLocks noChangeAspect="1"/>
          </p:cNvPicPr>
          <p:nvPr/>
        </p:nvPicPr>
        <p:blipFill>
          <a:blip r:embed="rId7"/>
          <a:stretch/>
        </p:blipFill>
        <p:spPr bwMode="auto">
          <a:xfrm flipH="0" flipV="0">
            <a:off x="4864789" y="4379118"/>
            <a:ext cx="1129978" cy="938212"/>
          </a:xfrm>
          <a:prstGeom prst="rect">
            <a:avLst/>
          </a:prstGeom>
        </p:spPr>
      </p:pic>
      <p:pic>
        <p:nvPicPr>
          <p:cNvPr id="1338144386" name=""/>
          <p:cNvPicPr>
            <a:picLocks noChangeAspect="1"/>
          </p:cNvPicPr>
          <p:nvPr/>
        </p:nvPicPr>
        <p:blipFill>
          <a:blip r:embed="rId8"/>
          <a:stretch/>
        </p:blipFill>
        <p:spPr bwMode="auto">
          <a:xfrm flipH="0" flipV="0">
            <a:off x="9080831" y="1663179"/>
            <a:ext cx="931365" cy="931365"/>
          </a:xfrm>
          <a:prstGeom prst="rect">
            <a:avLst/>
          </a:prstGeom>
        </p:spPr>
      </p:pic>
      <p:pic>
        <p:nvPicPr>
          <p:cNvPr id="1528315810" name=""/>
          <p:cNvPicPr>
            <a:picLocks noChangeAspect="1"/>
          </p:cNvPicPr>
          <p:nvPr/>
        </p:nvPicPr>
        <p:blipFill>
          <a:blip r:embed="rId9"/>
          <a:stretch/>
        </p:blipFill>
        <p:spPr bwMode="auto">
          <a:xfrm flipH="0" flipV="0">
            <a:off x="367343" y="1668960"/>
            <a:ext cx="1099448" cy="1099448"/>
          </a:xfrm>
          <a:prstGeom prst="rect">
            <a:avLst/>
          </a:prstGeom>
        </p:spPr>
      </p:pic>
      <p:pic>
        <p:nvPicPr>
          <p:cNvPr id="750543216" name=""/>
          <p:cNvPicPr>
            <a:picLocks noChangeAspect="1"/>
          </p:cNvPicPr>
          <p:nvPr/>
        </p:nvPicPr>
        <p:blipFill>
          <a:blip r:embed="rId10"/>
          <a:stretch/>
        </p:blipFill>
        <p:spPr bwMode="auto">
          <a:xfrm flipH="0" flipV="0">
            <a:off x="275002" y="554758"/>
            <a:ext cx="1232769" cy="747132"/>
          </a:xfrm>
          <a:prstGeom prst="rect">
            <a:avLst/>
          </a:prstGeom>
        </p:spPr>
      </p:pic>
      <p:pic>
        <p:nvPicPr>
          <p:cNvPr id="172875765" name=""/>
          <p:cNvPicPr>
            <a:picLocks noChangeAspect="1"/>
          </p:cNvPicPr>
          <p:nvPr/>
        </p:nvPicPr>
        <p:blipFill>
          <a:blip r:embed="rId11"/>
          <a:stretch/>
        </p:blipFill>
        <p:spPr bwMode="auto">
          <a:xfrm flipH="0" flipV="0">
            <a:off x="5426235" y="5171587"/>
            <a:ext cx="352912" cy="352912"/>
          </a:xfrm>
          <a:prstGeom prst="rect">
            <a:avLst/>
          </a:prstGeom>
        </p:spPr>
      </p:pic>
      <p:pic>
        <p:nvPicPr>
          <p:cNvPr id="1257288936" name=""/>
          <p:cNvPicPr>
            <a:picLocks noChangeAspect="1"/>
          </p:cNvPicPr>
          <p:nvPr/>
        </p:nvPicPr>
        <p:blipFill>
          <a:blip r:embed="rId11"/>
          <a:stretch/>
        </p:blipFill>
        <p:spPr bwMode="auto">
          <a:xfrm flipH="0" flipV="0">
            <a:off x="5429779" y="5691187"/>
            <a:ext cx="352912" cy="352912"/>
          </a:xfrm>
          <a:prstGeom prst="rect">
            <a:avLst/>
          </a:prstGeom>
        </p:spPr>
      </p:pic>
      <p:sp>
        <p:nvSpPr>
          <p:cNvPr id="1131019898" name=""/>
          <p:cNvSpPr txBox="1"/>
          <p:nvPr/>
        </p:nvSpPr>
        <p:spPr bwMode="auto">
          <a:xfrm flipH="0" flipV="0">
            <a:off x="5792175" y="5171587"/>
            <a:ext cx="1826756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de-DE"/>
              <a:t>create </a:t>
            </a:r>
            <a:r>
              <a:rPr lang="de-DE">
                <a:solidFill>
                  <a:schemeClr val="tx1">
                    <a:lumMod val="50000"/>
                    <a:lumOff val="50000"/>
                  </a:schemeClr>
                </a:solidFill>
              </a:rPr>
              <a:t>silver layer</a:t>
            </a:r>
            <a:endParaRPr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49509446" name=""/>
          <p:cNvSpPr txBox="1"/>
          <p:nvPr/>
        </p:nvSpPr>
        <p:spPr bwMode="auto">
          <a:xfrm flipH="0" flipV="0">
            <a:off x="5782691" y="5677979"/>
            <a:ext cx="1736455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de-DE"/>
              <a:t>create </a:t>
            </a:r>
            <a:r>
              <a:rPr lang="de-DE">
                <a:solidFill>
                  <a:srgbClr val="D4A017"/>
                </a:solidFill>
              </a:rPr>
              <a:t>gold layer</a:t>
            </a:r>
            <a:endParaRPr>
              <a:solidFill>
                <a:srgbClr val="D4A017"/>
              </a:solidFill>
            </a:endParaRPr>
          </a:p>
        </p:txBody>
      </p:sp>
      <p:sp>
        <p:nvSpPr>
          <p:cNvPr id="1619014798" name=""/>
          <p:cNvSpPr txBox="1"/>
          <p:nvPr/>
        </p:nvSpPr>
        <p:spPr bwMode="auto">
          <a:xfrm flipH="0" flipV="0">
            <a:off x="2238709" y="4750359"/>
            <a:ext cx="1795162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de-DE">
                <a:solidFill>
                  <a:srgbClr val="01A81D"/>
                </a:solidFill>
              </a:rPr>
              <a:t>scrape </a:t>
            </a:r>
            <a:r>
              <a:rPr lang="de-DE">
                <a:solidFill>
                  <a:schemeClr val="tx1"/>
                </a:solidFill>
              </a:rPr>
              <a:t>hotel data</a:t>
            </a:r>
            <a:endParaRPr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948982284" name=""/>
          <p:cNvPicPr>
            <a:picLocks noChangeAspect="1"/>
          </p:cNvPicPr>
          <p:nvPr/>
        </p:nvPicPr>
        <p:blipFill>
          <a:blip r:embed="rId12"/>
          <a:stretch/>
        </p:blipFill>
        <p:spPr bwMode="auto">
          <a:xfrm flipH="0" flipV="0">
            <a:off x="5467349" y="3508408"/>
            <a:ext cx="324824" cy="324824"/>
          </a:xfrm>
          <a:prstGeom prst="rect">
            <a:avLst/>
          </a:prstGeom>
        </p:spPr>
      </p:pic>
      <p:pic>
        <p:nvPicPr>
          <p:cNvPr id="1223477849" name=""/>
          <p:cNvPicPr>
            <a:picLocks noChangeAspect="1"/>
          </p:cNvPicPr>
          <p:nvPr/>
        </p:nvPicPr>
        <p:blipFill>
          <a:blip r:embed="rId13"/>
          <a:stretch/>
        </p:blipFill>
        <p:spPr bwMode="auto">
          <a:xfrm flipH="0" flipV="0">
            <a:off x="5465153" y="3121353"/>
            <a:ext cx="313994" cy="313994"/>
          </a:xfrm>
          <a:prstGeom prst="rect">
            <a:avLst/>
          </a:prstGeom>
        </p:spPr>
      </p:pic>
      <p:sp>
        <p:nvSpPr>
          <p:cNvPr id="2008550350" name=""/>
          <p:cNvSpPr txBox="1"/>
          <p:nvPr/>
        </p:nvSpPr>
        <p:spPr bwMode="auto">
          <a:xfrm flipH="0" flipV="0">
            <a:off x="5994768" y="3064964"/>
            <a:ext cx="1683881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de-DE"/>
              <a:t>prepare </a:t>
            </a:r>
            <a:r>
              <a:rPr lang="de-DE">
                <a:solidFill>
                  <a:srgbClr val="5DA2EE"/>
                </a:solidFill>
              </a:rPr>
              <a:t>schema</a:t>
            </a:r>
            <a:endParaRPr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16740949" name=""/>
          <p:cNvSpPr txBox="1"/>
          <p:nvPr/>
        </p:nvSpPr>
        <p:spPr bwMode="auto">
          <a:xfrm flipH="0" flipV="0">
            <a:off x="5986469" y="3488234"/>
            <a:ext cx="1533641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de-DE"/>
              <a:t>prepare </a:t>
            </a:r>
            <a:r>
              <a:rPr lang="de-DE">
                <a:solidFill>
                  <a:srgbClr val="01A81D"/>
                </a:solidFill>
              </a:rPr>
              <a:t>tables</a:t>
            </a:r>
            <a:endParaRPr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537633744" name=""/>
          <p:cNvSpPr txBox="1"/>
          <p:nvPr/>
        </p:nvSpPr>
        <p:spPr bwMode="auto">
          <a:xfrm flipH="0" flipV="0">
            <a:off x="5465153" y="1996554"/>
            <a:ext cx="1244211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de-DE"/>
              <a:t>PostgreSQL</a:t>
            </a:r>
            <a:endParaRPr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52801074" name=""/>
          <p:cNvSpPr txBox="1"/>
          <p:nvPr/>
        </p:nvSpPr>
        <p:spPr bwMode="auto">
          <a:xfrm flipH="0" flipV="0">
            <a:off x="1581484" y="5419724"/>
            <a:ext cx="1914818" cy="722735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lnSpc>
                <a:spcPct val="114999"/>
              </a:lnSpc>
              <a:defRPr/>
            </a:pPr>
            <a:r>
              <a:rPr lang="de-DE">
                <a:solidFill>
                  <a:schemeClr val="tx1"/>
                </a:solidFill>
              </a:rPr>
              <a:t>bring </a:t>
            </a:r>
            <a:r>
              <a:rPr lang="de-DE">
                <a:solidFill>
                  <a:srgbClr val="0277BD"/>
                </a:solidFill>
              </a:rPr>
              <a:t>hotel data</a:t>
            </a:r>
            <a:r>
              <a:rPr lang="de-DE">
                <a:solidFill>
                  <a:schemeClr val="tx1"/>
                </a:solidFill>
              </a:rPr>
              <a:t> to</a:t>
            </a:r>
            <a:endParaRPr>
              <a:solidFill>
                <a:schemeClr val="tx1"/>
              </a:solidFill>
            </a:endParaRPr>
          </a:p>
          <a:p>
            <a:pPr>
              <a:lnSpc>
                <a:spcPct val="114999"/>
              </a:lnSpc>
              <a:defRPr/>
            </a:pPr>
            <a:r>
              <a:rPr lang="de-DE">
                <a:solidFill>
                  <a:schemeClr val="accent2">
                    <a:lumMod val="50000"/>
                  </a:schemeClr>
                </a:solidFill>
              </a:rPr>
              <a:t>data warehouse</a:t>
            </a:r>
            <a:endParaRPr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1881229839" name=""/>
          <p:cNvPicPr>
            <a:picLocks noChangeAspect="1"/>
          </p:cNvPicPr>
          <p:nvPr/>
        </p:nvPicPr>
        <p:blipFill>
          <a:blip r:embed="rId14"/>
          <a:stretch/>
        </p:blipFill>
        <p:spPr bwMode="auto">
          <a:xfrm flipH="0" flipV="0">
            <a:off x="5426235" y="2651951"/>
            <a:ext cx="398133" cy="398133"/>
          </a:xfrm>
          <a:prstGeom prst="rect">
            <a:avLst/>
          </a:prstGeom>
        </p:spPr>
      </p:pic>
      <p:sp>
        <p:nvSpPr>
          <p:cNvPr id="1726436417" name=""/>
          <p:cNvSpPr txBox="1"/>
          <p:nvPr/>
        </p:nvSpPr>
        <p:spPr bwMode="auto">
          <a:xfrm flipH="0" flipV="0">
            <a:off x="5992008" y="2683964"/>
            <a:ext cx="2002111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de-DE"/>
              <a:t>prepare </a:t>
            </a:r>
            <a:r>
              <a:rPr lang="de-DE">
                <a:solidFill>
                  <a:schemeClr val="accent2">
                    <a:lumMod val="50000"/>
                  </a:schemeClr>
                </a:solidFill>
              </a:rPr>
              <a:t>warehouse</a:t>
            </a:r>
            <a:endParaRPr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1748639322" name=""/>
          <p:cNvCxnSpPr>
            <a:stCxn id="1273474204" idx="3"/>
            <a:endCxn id="1268809933" idx="1"/>
          </p:cNvCxnSpPr>
          <p:nvPr/>
        </p:nvCxnSpPr>
        <p:spPr bwMode="auto">
          <a:xfrm rot="0" flipH="0" flipV="1">
            <a:off x="4156405" y="2983292"/>
            <a:ext cx="711843" cy="2774273"/>
          </a:xfrm>
          <a:prstGeom prst="bentConnector3">
            <a:avLst>
              <a:gd name="adj1" fmla="val 50000"/>
            </a:avLst>
          </a:prstGeom>
          <a:ln w="28575" cap="flat" cmpd="sng" algn="ctr">
            <a:solidFill>
              <a:srgbClr val="5DA2EE"/>
            </a:solidFill>
            <a:prstDash val="solid"/>
            <a:miter lim="800000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1374545" name=""/>
          <p:cNvCxnSpPr>
            <a:endCxn id="787349149" idx="0"/>
          </p:cNvCxnSpPr>
          <p:nvPr/>
        </p:nvCxnSpPr>
        <p:spPr bwMode="auto">
          <a:xfrm rot="5399978" flipH="0" flipV="0">
            <a:off x="6288252" y="4310839"/>
            <a:ext cx="484220" cy="0"/>
          </a:xfrm>
          <a:prstGeom prst="line">
            <a:avLst/>
          </a:prstGeom>
          <a:ln w="28575" cap="flat" cmpd="sng" algn="ctr">
            <a:solidFill>
              <a:srgbClr val="5DA2EE"/>
            </a:solidFill>
            <a:prstDash val="solid"/>
            <a:miter lim="800000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5182530" name=""/>
          <p:cNvCxnSpPr>
            <a:stCxn id="1644431656" idx="2"/>
            <a:endCxn id="1352801074" idx="0"/>
          </p:cNvCxnSpPr>
          <p:nvPr/>
        </p:nvCxnSpPr>
        <p:spPr bwMode="auto">
          <a:xfrm rot="5399978" flipH="0" flipV="0">
            <a:off x="2436556" y="5308731"/>
            <a:ext cx="221986" cy="0"/>
          </a:xfrm>
          <a:prstGeom prst="line">
            <a:avLst/>
          </a:prstGeom>
          <a:ln w="28575" cap="flat" cmpd="sng" algn="ctr">
            <a:solidFill>
              <a:srgbClr val="5DA2EE"/>
            </a:solidFill>
            <a:prstDash val="solid"/>
            <a:miter lim="800000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0722390" name=""/>
          <p:cNvSpPr txBox="1"/>
          <p:nvPr/>
        </p:nvSpPr>
        <p:spPr bwMode="auto">
          <a:xfrm flipH="0" flipV="0">
            <a:off x="9220983" y="2283797"/>
            <a:ext cx="2088273" cy="722735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lnSpc>
                <a:spcPct val="114999"/>
              </a:lnSpc>
              <a:defRPr/>
            </a:pPr>
            <a:r>
              <a:rPr lang="de-DE"/>
              <a:t>push data from local</a:t>
            </a:r>
            <a:endParaRPr lang="de-DE"/>
          </a:p>
          <a:p>
            <a:pPr>
              <a:lnSpc>
                <a:spcPct val="114999"/>
              </a:lnSpc>
              <a:defRPr/>
            </a:pPr>
            <a:r>
              <a:rPr lang="de-DE"/>
              <a:t>to </a:t>
            </a:r>
            <a:r>
              <a:rPr lang="de-DE">
                <a:solidFill>
                  <a:srgbClr val="30D5B8"/>
                </a:solidFill>
              </a:rPr>
              <a:t>cloud database</a:t>
            </a:r>
            <a:endParaRPr>
              <a:solidFill>
                <a:srgbClr val="30D5B8"/>
              </a:solidFill>
            </a:endParaRPr>
          </a:p>
        </p:txBody>
      </p:sp>
      <p:cxnSp>
        <p:nvCxnSpPr>
          <p:cNvPr id="1722242060" name=""/>
          <p:cNvCxnSpPr>
            <a:stCxn id="787349149" idx="3"/>
            <a:endCxn id="1914062123" idx="1"/>
          </p:cNvCxnSpPr>
          <p:nvPr/>
        </p:nvCxnSpPr>
        <p:spPr bwMode="auto">
          <a:xfrm rot="0" flipH="0" flipV="1">
            <a:off x="8192475" y="2473970"/>
            <a:ext cx="743907" cy="2905272"/>
          </a:xfrm>
          <a:prstGeom prst="bentConnector3">
            <a:avLst>
              <a:gd name="adj1" fmla="val 50000"/>
            </a:avLst>
          </a:prstGeom>
          <a:ln w="28575" cap="flat" cmpd="sng" algn="ctr">
            <a:solidFill>
              <a:srgbClr val="599AE3"/>
            </a:solidFill>
            <a:prstDash val="solid"/>
            <a:miter lim="800000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10505" name=""/>
          <p:cNvSpPr txBox="1"/>
          <p:nvPr/>
        </p:nvSpPr>
        <p:spPr bwMode="auto">
          <a:xfrm flipH="0" flipV="0">
            <a:off x="1676734" y="508759"/>
            <a:ext cx="2256601" cy="1038203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lnSpc>
                <a:spcPct val="114999"/>
              </a:lnSpc>
              <a:defRPr/>
            </a:pPr>
            <a:r>
              <a:rPr lang="de-DE">
                <a:solidFill>
                  <a:schemeClr val="tx1"/>
                </a:solidFill>
              </a:rPr>
              <a:t>install </a:t>
            </a:r>
            <a:r>
              <a:rPr lang="de-DE">
                <a:solidFill>
                  <a:srgbClr val="2560FF"/>
                </a:solidFill>
              </a:rPr>
              <a:t>tools</a:t>
            </a:r>
            <a:r>
              <a:rPr lang="de-DE">
                <a:solidFill>
                  <a:schemeClr val="tx1"/>
                </a:solidFill>
              </a:rPr>
              <a:t> </a:t>
            </a:r>
            <a:r>
              <a:rPr lang="de-DE">
                <a:solidFill>
                  <a:srgbClr val="2560FF"/>
                </a:solidFill>
              </a:rPr>
              <a:t>&amp; libraries</a:t>
            </a:r>
            <a:endParaRPr>
              <a:solidFill>
                <a:schemeClr val="tx1"/>
              </a:solidFill>
            </a:endParaRPr>
          </a:p>
          <a:p>
            <a:pPr>
              <a:lnSpc>
                <a:spcPct val="114999"/>
              </a:lnSpc>
              <a:defRPr/>
            </a:pPr>
            <a:r>
              <a:rPr lang="de-DE"/>
              <a:t>build </a:t>
            </a:r>
            <a:r>
              <a:rPr lang="de-DE">
                <a:solidFill>
                  <a:srgbClr val="2560FF"/>
                </a:solidFill>
              </a:rPr>
              <a:t>environment</a:t>
            </a:r>
            <a:endParaRPr lang="de-DE">
              <a:solidFill>
                <a:schemeClr val="tx1"/>
              </a:solidFill>
            </a:endParaRPr>
          </a:p>
          <a:p>
            <a:pPr>
              <a:lnSpc>
                <a:spcPct val="114999"/>
              </a:lnSpc>
              <a:defRPr/>
            </a:pPr>
            <a:r>
              <a:rPr lang="de-DE">
                <a:solidFill>
                  <a:schemeClr val="tx1"/>
                </a:solidFill>
              </a:rPr>
              <a:t>run </a:t>
            </a:r>
            <a:r>
              <a:rPr lang="de-DE">
                <a:solidFill>
                  <a:srgbClr val="2560FF"/>
                </a:solidFill>
              </a:rPr>
              <a:t>airflow</a:t>
            </a:r>
            <a:endParaRPr lang="de-DE">
              <a:solidFill>
                <a:srgbClr val="2560FF"/>
              </a:solidFill>
            </a:endParaRPr>
          </a:p>
        </p:txBody>
      </p:sp>
      <p:sp>
        <p:nvSpPr>
          <p:cNvPr id="947991271" name=""/>
          <p:cNvSpPr txBox="1"/>
          <p:nvPr/>
        </p:nvSpPr>
        <p:spPr bwMode="auto">
          <a:xfrm flipH="0" flipV="0">
            <a:off x="1697271" y="1788644"/>
            <a:ext cx="2353520" cy="2930987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lnSpc>
                <a:spcPct val="114999"/>
              </a:lnSpc>
              <a:defRPr/>
            </a:pPr>
            <a:r>
              <a:rPr lang="de-DE" sz="18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run </a:t>
            </a:r>
            <a:r>
              <a:rPr lang="de-DE" sz="1800" b="0" i="0" u="none" strike="noStrike" cap="none" spc="0">
                <a:solidFill>
                  <a:srgbClr val="01A81D"/>
                </a:solidFill>
                <a:latin typeface="+mn-lt"/>
                <a:ea typeface="+mn-ea"/>
                <a:cs typeface="+mn-cs"/>
              </a:rPr>
              <a:t>selenium</a:t>
            </a:r>
            <a:endParaRPr lang="de-DE">
              <a:solidFill>
                <a:schemeClr val="tx1"/>
              </a:solidFill>
            </a:endParaRPr>
          </a:p>
          <a:p>
            <a:pPr>
              <a:lnSpc>
                <a:spcPct val="114999"/>
              </a:lnSpc>
              <a:defRPr/>
            </a:pPr>
            <a:r>
              <a:rPr lang="de-DE">
                <a:solidFill>
                  <a:schemeClr val="tx1"/>
                </a:solidFill>
              </a:rPr>
              <a:t>run </a:t>
            </a:r>
            <a:r>
              <a:rPr lang="de-DE">
                <a:solidFill>
                  <a:srgbClr val="0277BD"/>
                </a:solidFill>
              </a:rPr>
              <a:t>python </a:t>
            </a:r>
            <a:r>
              <a:rPr lang="de-DE">
                <a:solidFill>
                  <a:srgbClr val="843C0B"/>
                </a:solidFill>
              </a:rPr>
              <a:t>scripts</a:t>
            </a:r>
            <a:endParaRPr lang="de-DE">
              <a:solidFill>
                <a:schemeClr val="tx1"/>
              </a:solidFill>
            </a:endParaRPr>
          </a:p>
          <a:p>
            <a:pPr>
              <a:lnSpc>
                <a:spcPct val="114999"/>
              </a:lnSpc>
              <a:defRPr/>
            </a:pPr>
            <a:r>
              <a:rPr lang="de-DE">
                <a:solidFill>
                  <a:schemeClr val="tx1"/>
                </a:solidFill>
              </a:rPr>
              <a:t>run </a:t>
            </a:r>
            <a:r>
              <a:rPr lang="de-DE">
                <a:solidFill>
                  <a:srgbClr val="336791"/>
                </a:solidFill>
              </a:rPr>
              <a:t>SQL queries</a:t>
            </a:r>
            <a:endParaRPr lang="de-DE">
              <a:solidFill>
                <a:schemeClr val="tx1"/>
              </a:solidFill>
            </a:endParaRPr>
          </a:p>
          <a:p>
            <a:pPr>
              <a:lnSpc>
                <a:spcPct val="114999"/>
              </a:lnSpc>
              <a:defRPr/>
            </a:pPr>
            <a:r>
              <a:rPr lang="de-DE">
                <a:solidFill>
                  <a:schemeClr val="tx1"/>
                </a:solidFill>
              </a:rPr>
              <a:t>run </a:t>
            </a:r>
            <a:r>
              <a:rPr lang="de-DE">
                <a:solidFill>
                  <a:srgbClr val="FF6848"/>
                </a:solidFill>
              </a:rPr>
              <a:t>dbt</a:t>
            </a:r>
            <a:endParaRPr lang="de-DE">
              <a:solidFill>
                <a:schemeClr val="tx1"/>
              </a:solidFill>
            </a:endParaRPr>
          </a:p>
          <a:p>
            <a:pPr>
              <a:lnSpc>
                <a:spcPct val="114999"/>
              </a:lnSpc>
              <a:defRPr/>
            </a:pPr>
            <a:r>
              <a:rPr lang="de-DE">
                <a:solidFill>
                  <a:schemeClr val="tx1"/>
                </a:solidFill>
              </a:rPr>
              <a:t>schedule </a:t>
            </a:r>
            <a:r>
              <a:rPr lang="de-DE">
                <a:solidFill>
                  <a:srgbClr val="E33920"/>
                </a:solidFill>
              </a:rPr>
              <a:t>tasks</a:t>
            </a:r>
            <a:endParaRPr lang="de-DE">
              <a:solidFill>
                <a:schemeClr val="tx1"/>
              </a:solidFill>
            </a:endParaRPr>
          </a:p>
          <a:p>
            <a:pPr>
              <a:lnSpc>
                <a:spcPct val="114999"/>
              </a:lnSpc>
              <a:defRPr/>
            </a:pPr>
            <a:r>
              <a:rPr lang="de-DE">
                <a:solidFill>
                  <a:schemeClr val="tx1"/>
                </a:solidFill>
              </a:rPr>
              <a:t>manage </a:t>
            </a:r>
            <a:r>
              <a:rPr lang="de-DE">
                <a:solidFill>
                  <a:srgbClr val="2560FF"/>
                </a:solidFill>
              </a:rPr>
              <a:t>dependencies</a:t>
            </a:r>
            <a:endParaRPr lang="de-DE">
              <a:solidFill>
                <a:schemeClr val="tx1"/>
              </a:solidFill>
            </a:endParaRPr>
          </a:p>
          <a:p>
            <a:pPr>
              <a:lnSpc>
                <a:spcPct val="114999"/>
              </a:lnSpc>
              <a:defRPr/>
            </a:pPr>
            <a:r>
              <a:rPr lang="de-DE">
                <a:solidFill>
                  <a:schemeClr val="tx1"/>
                </a:solidFill>
              </a:rPr>
              <a:t>manage </a:t>
            </a:r>
            <a:r>
              <a:rPr lang="de-DE">
                <a:solidFill>
                  <a:srgbClr val="00C7D4"/>
                </a:solidFill>
              </a:rPr>
              <a:t>workflow</a:t>
            </a:r>
            <a:endParaRPr lang="de-DE">
              <a:solidFill>
                <a:schemeClr val="tx1"/>
              </a:solidFill>
            </a:endParaRPr>
          </a:p>
          <a:p>
            <a:pPr>
              <a:lnSpc>
                <a:spcPct val="114999"/>
              </a:lnSpc>
              <a:defRPr/>
            </a:pPr>
            <a:r>
              <a:rPr lang="de-DE">
                <a:solidFill>
                  <a:schemeClr val="tx1"/>
                </a:solidFill>
              </a:rPr>
              <a:t>monitoring &amp; alerting</a:t>
            </a:r>
            <a:endParaRPr lang="de-DE">
              <a:solidFill>
                <a:schemeClr val="tx1"/>
              </a:solidFill>
            </a:endParaRPr>
          </a:p>
          <a:p>
            <a:pPr>
              <a:lnSpc>
                <a:spcPct val="114999"/>
              </a:lnSpc>
              <a:defRPr/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141416726" name=""/>
          <p:cNvSpPr/>
          <p:nvPr/>
        </p:nvSpPr>
        <p:spPr bwMode="auto">
          <a:xfrm rot="0" flipH="0" flipV="0">
            <a:off x="851451" y="4564379"/>
            <a:ext cx="274320" cy="274320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/>
          <a:p>
            <a:pPr algn="l">
              <a:defRPr/>
            </a:pPr>
            <a:r>
              <a:rPr lang="de-DE" sz="1100">
                <a:solidFill>
                  <a:schemeClr val="tx1"/>
                </a:solidFill>
              </a:rPr>
              <a:t>1</a:t>
            </a:r>
            <a:endParaRPr sz="1100">
              <a:solidFill>
                <a:schemeClr val="tx1"/>
              </a:solidFill>
            </a:endParaRPr>
          </a:p>
        </p:txBody>
      </p:sp>
      <p:sp>
        <p:nvSpPr>
          <p:cNvPr id="719391815" name=""/>
          <p:cNvSpPr/>
          <p:nvPr/>
        </p:nvSpPr>
        <p:spPr bwMode="auto">
          <a:xfrm rot="0" flipH="0" flipV="0">
            <a:off x="818845" y="5250179"/>
            <a:ext cx="274320" cy="274320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/>
          <a:p>
            <a:pPr algn="l">
              <a:defRPr/>
            </a:pPr>
            <a:r>
              <a:rPr lang="de-DE" sz="1100">
                <a:solidFill>
                  <a:schemeClr val="tx1"/>
                </a:solidFill>
              </a:rPr>
              <a:t>2</a:t>
            </a:r>
            <a:endParaRPr sz="1100">
              <a:solidFill>
                <a:schemeClr val="tx1"/>
              </a:solidFill>
            </a:endParaRPr>
          </a:p>
        </p:txBody>
      </p:sp>
      <p:sp>
        <p:nvSpPr>
          <p:cNvPr id="908304461" name=""/>
          <p:cNvSpPr/>
          <p:nvPr/>
        </p:nvSpPr>
        <p:spPr bwMode="auto">
          <a:xfrm rot="0" flipH="0" flipV="0">
            <a:off x="4727629" y="1769924"/>
            <a:ext cx="274320" cy="274320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/>
          <a:p>
            <a:pPr algn="l">
              <a:defRPr/>
            </a:pPr>
            <a:r>
              <a:rPr lang="de-DE" sz="1100">
                <a:solidFill>
                  <a:schemeClr val="tx1"/>
                </a:solidFill>
              </a:rPr>
              <a:t>3</a:t>
            </a:r>
            <a:endParaRPr sz="1100">
              <a:solidFill>
                <a:schemeClr val="tx1"/>
              </a:solidFill>
            </a:endParaRPr>
          </a:p>
        </p:txBody>
      </p:sp>
      <p:sp>
        <p:nvSpPr>
          <p:cNvPr id="1782171620" name=""/>
          <p:cNvSpPr/>
          <p:nvPr/>
        </p:nvSpPr>
        <p:spPr bwMode="auto">
          <a:xfrm rot="0" flipH="0" flipV="0">
            <a:off x="4727629" y="4455614"/>
            <a:ext cx="274320" cy="274320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/>
          <a:p>
            <a:pPr algn="l">
              <a:defRPr/>
            </a:pPr>
            <a:r>
              <a:rPr lang="de-DE" sz="1100">
                <a:solidFill>
                  <a:schemeClr val="tx1"/>
                </a:solidFill>
              </a:rPr>
              <a:t>4</a:t>
            </a:r>
            <a:endParaRPr sz="1100">
              <a:solidFill>
                <a:schemeClr val="tx1"/>
              </a:solidFill>
            </a:endParaRPr>
          </a:p>
        </p:txBody>
      </p:sp>
      <p:sp>
        <p:nvSpPr>
          <p:cNvPr id="48619003" name=""/>
          <p:cNvSpPr/>
          <p:nvPr/>
        </p:nvSpPr>
        <p:spPr bwMode="auto">
          <a:xfrm rot="0" flipH="0" flipV="0">
            <a:off x="8799222" y="1722234"/>
            <a:ext cx="274320" cy="274320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/>
          <a:p>
            <a:pPr algn="l">
              <a:defRPr/>
            </a:pPr>
            <a:r>
              <a:rPr lang="de-DE" sz="1100">
                <a:solidFill>
                  <a:schemeClr val="tx1"/>
                </a:solidFill>
              </a:rPr>
              <a:t>5</a:t>
            </a:r>
            <a:endParaRPr sz="1100">
              <a:solidFill>
                <a:schemeClr val="tx1"/>
              </a:solidFill>
            </a:endParaRPr>
          </a:p>
        </p:txBody>
      </p:sp>
      <p:sp>
        <p:nvSpPr>
          <p:cNvPr id="102250834" name=""/>
          <p:cNvSpPr txBox="1"/>
          <p:nvPr/>
        </p:nvSpPr>
        <p:spPr bwMode="auto">
          <a:xfrm flipH="0" flipV="0">
            <a:off x="9258604" y="4628082"/>
            <a:ext cx="1850748" cy="407265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lnSpc>
                <a:spcPct val="114999"/>
              </a:lnSpc>
              <a:defRPr/>
            </a:pPr>
            <a:r>
              <a:rPr lang="de-DE"/>
              <a:t>build a </a:t>
            </a:r>
            <a:r>
              <a:rPr lang="de-DE">
                <a:solidFill>
                  <a:srgbClr val="FF4B4B"/>
                </a:solidFill>
              </a:rPr>
              <a:t>dashboard</a:t>
            </a:r>
            <a:endParaRPr lang="de-DE"/>
          </a:p>
        </p:txBody>
      </p:sp>
      <p:cxnSp>
        <p:nvCxnSpPr>
          <p:cNvPr id="1274985297" name=""/>
          <p:cNvCxnSpPr>
            <a:stCxn id="1914062123" idx="2"/>
            <a:endCxn id="1117668733" idx="0"/>
          </p:cNvCxnSpPr>
          <p:nvPr/>
        </p:nvCxnSpPr>
        <p:spPr bwMode="auto">
          <a:xfrm rot="5399978" flipH="0" flipV="0">
            <a:off x="9626355" y="3583595"/>
            <a:ext cx="1067022" cy="0"/>
          </a:xfrm>
          <a:prstGeom prst="line">
            <a:avLst/>
          </a:prstGeom>
          <a:ln w="28575" cap="flat" cmpd="sng" algn="ctr">
            <a:solidFill>
              <a:srgbClr val="5DA2EE"/>
            </a:solidFill>
            <a:prstDash val="solid"/>
            <a:miter lim="800000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6">
    <p:bg>
      <p:bgPr shadeToTitle="0">
        <a:solidFill>
          <a:srgbClr val="0F17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811339" name=""/>
          <p:cNvSpPr/>
          <p:nvPr/>
        </p:nvSpPr>
        <p:spPr bwMode="auto">
          <a:xfrm rot="0" flipH="0" flipV="0">
            <a:off x="320039" y="5478779"/>
            <a:ext cx="2977717" cy="1058846"/>
          </a:xfrm>
          <a:prstGeom prst="flowChartAlternateProcess">
            <a:avLst/>
          </a:prstGeom>
          <a:solidFill>
            <a:schemeClr val="bg1">
              <a:alpha val="10000"/>
            </a:schemeClr>
          </a:solidFill>
          <a:ln w="28575" cap="flat" cmpd="sng" algn="ctr">
            <a:solidFill>
              <a:schemeClr val="tx2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01553074" name=""/>
          <p:cNvSpPr/>
          <p:nvPr/>
        </p:nvSpPr>
        <p:spPr bwMode="auto">
          <a:xfrm rot="0" flipH="0" flipV="0">
            <a:off x="320039" y="4290059"/>
            <a:ext cx="2977717" cy="1058846"/>
          </a:xfrm>
          <a:prstGeom prst="flowChartAlternateProcess">
            <a:avLst/>
          </a:prstGeom>
          <a:solidFill>
            <a:schemeClr val="bg1">
              <a:alpha val="10000"/>
            </a:schemeClr>
          </a:solidFill>
          <a:ln w="28575" cap="flat" cmpd="sng" algn="ctr">
            <a:solidFill>
              <a:schemeClr val="tx2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87823166" name=""/>
          <p:cNvSpPr/>
          <p:nvPr/>
        </p:nvSpPr>
        <p:spPr bwMode="auto">
          <a:xfrm rot="0" flipH="0" flipV="0">
            <a:off x="338328" y="3101339"/>
            <a:ext cx="2977717" cy="1058846"/>
          </a:xfrm>
          <a:prstGeom prst="flowChartAlternateProcess">
            <a:avLst/>
          </a:prstGeom>
          <a:solidFill>
            <a:schemeClr val="bg1">
              <a:alpha val="10000"/>
            </a:schemeClr>
          </a:solidFill>
          <a:ln w="28575" cap="flat" cmpd="sng" algn="ctr">
            <a:solidFill>
              <a:schemeClr val="tx2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77706830" name=""/>
          <p:cNvSpPr/>
          <p:nvPr/>
        </p:nvSpPr>
        <p:spPr bwMode="auto">
          <a:xfrm rot="0" flipH="0" flipV="0">
            <a:off x="338328" y="1912619"/>
            <a:ext cx="2977717" cy="1058846"/>
          </a:xfrm>
          <a:prstGeom prst="flowChartAlternateProcess">
            <a:avLst/>
          </a:prstGeom>
          <a:solidFill>
            <a:schemeClr val="bg1">
              <a:alpha val="10000"/>
            </a:schemeClr>
          </a:solidFill>
          <a:ln w="28575" cap="flat" cmpd="sng" algn="ctr">
            <a:solidFill>
              <a:schemeClr val="tx2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48600100" name=""/>
          <p:cNvSpPr/>
          <p:nvPr/>
        </p:nvSpPr>
        <p:spPr bwMode="auto">
          <a:xfrm rot="0" flipH="0" flipV="0">
            <a:off x="338328" y="723899"/>
            <a:ext cx="2977718" cy="1058846"/>
          </a:xfrm>
          <a:prstGeom prst="flowChartAlternateProcess">
            <a:avLst/>
          </a:prstGeom>
          <a:solidFill>
            <a:schemeClr val="bg1">
              <a:alpha val="10000"/>
            </a:schemeClr>
          </a:solidFill>
          <a:ln w="28575" cap="flat" cmpd="sng" algn="ctr">
            <a:solidFill>
              <a:srgbClr val="5DA2EE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86951562" name="Text 0"/>
          <p:cNvSpPr/>
          <p:nvPr/>
        </p:nvSpPr>
        <p:spPr bwMode="auto">
          <a:xfrm rot="0" flipH="0" flipV="0">
            <a:off x="548639" y="3192779"/>
            <a:ext cx="1269723" cy="20220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93"/>
              </a:lnSpc>
              <a:buNone/>
              <a:defRPr/>
            </a:pPr>
            <a:r>
              <a:rPr lang="en-US" sz="1600" b="1" spc="11">
                <a:solidFill>
                  <a:srgbClr val="F8FAFC"/>
                </a:solidFill>
                <a:latin typeface="Verdana"/>
                <a:ea typeface="Verdana"/>
                <a:cs typeface="Verdana"/>
              </a:rPr>
              <a:t>Storage</a:t>
            </a:r>
            <a:endParaRPr lang="en-US" sz="1600"/>
          </a:p>
        </p:txBody>
      </p:sp>
      <p:sp>
        <p:nvSpPr>
          <p:cNvPr id="1639888614" name="Text 1"/>
          <p:cNvSpPr/>
          <p:nvPr/>
        </p:nvSpPr>
        <p:spPr bwMode="auto">
          <a:xfrm rot="0" flipH="0" flipV="0">
            <a:off x="548639" y="3421379"/>
            <a:ext cx="1049814" cy="12025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947"/>
              </a:lnSpc>
              <a:buNone/>
              <a:defRPr/>
            </a:pPr>
            <a:r>
              <a:rPr lang="en-US" sz="1000" spc="29">
                <a:solidFill>
                  <a:srgbClr val="94A3B8"/>
                </a:solidFill>
                <a:latin typeface="Lucida Sans Unicode"/>
                <a:ea typeface="Lucida Sans Unicode"/>
                <a:cs typeface="Lucida Sans Unicode"/>
              </a:rPr>
              <a:t>Database</a:t>
            </a:r>
            <a:endParaRPr lang="en-US" sz="1000"/>
          </a:p>
        </p:txBody>
      </p:sp>
      <p:sp>
        <p:nvSpPr>
          <p:cNvPr id="1233197931" name="Text 2"/>
          <p:cNvSpPr/>
          <p:nvPr/>
        </p:nvSpPr>
        <p:spPr bwMode="auto">
          <a:xfrm rot="0" flipH="0" flipV="0">
            <a:off x="548639" y="3832859"/>
            <a:ext cx="2239002" cy="14803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165"/>
              </a:lnSpc>
              <a:buNone/>
              <a:defRPr/>
            </a:pPr>
            <a:r>
              <a:rPr lang="en-US" sz="1200" b="1" spc="-5">
                <a:solidFill>
                  <a:srgbClr val="F1F5F9"/>
                </a:solidFill>
                <a:latin typeface="Verdana"/>
                <a:ea typeface="Verdana"/>
                <a:cs typeface="Verdana"/>
              </a:rPr>
              <a:t>PostgreSQL</a:t>
            </a:r>
            <a:r>
              <a:rPr lang="de-DE" sz="1200" b="1" spc="-5">
                <a:solidFill>
                  <a:srgbClr val="F1F5F9"/>
                </a:solidFill>
                <a:latin typeface="Verdana"/>
                <a:ea typeface="Verdana"/>
                <a:cs typeface="Verdana"/>
              </a:rPr>
              <a:t> | NeonDB</a:t>
            </a:r>
            <a:endParaRPr lang="en-US" sz="1200"/>
          </a:p>
        </p:txBody>
      </p:sp>
      <p:sp>
        <p:nvSpPr>
          <p:cNvPr id="721446557" name="Text 4"/>
          <p:cNvSpPr/>
          <p:nvPr/>
        </p:nvSpPr>
        <p:spPr bwMode="auto">
          <a:xfrm rot="0" flipH="0" flipV="0">
            <a:off x="548639" y="4427219"/>
            <a:ext cx="2546984" cy="19248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16"/>
              </a:lnSpc>
              <a:buNone/>
              <a:defRPr/>
            </a:pPr>
            <a:r>
              <a:rPr lang="en-US" sz="1600" b="1" spc="11">
                <a:solidFill>
                  <a:srgbClr val="F8FAFC"/>
                </a:solidFill>
                <a:latin typeface="Verdana"/>
                <a:ea typeface="Verdana"/>
                <a:cs typeface="Verdana"/>
              </a:rPr>
              <a:t>Transforma</a:t>
            </a:r>
            <a:r>
              <a:rPr lang="en-US" sz="1600" b="1" spc="5">
                <a:solidFill>
                  <a:srgbClr val="F8FAFC"/>
                </a:solidFill>
                <a:latin typeface="Verdana"/>
                <a:ea typeface="Verdana"/>
                <a:cs typeface="Verdana"/>
              </a:rPr>
              <a:t>tion</a:t>
            </a:r>
            <a:endParaRPr lang="en-US" sz="1600"/>
          </a:p>
        </p:txBody>
      </p:sp>
      <p:sp>
        <p:nvSpPr>
          <p:cNvPr id="1815929837" name="Text 5"/>
          <p:cNvSpPr/>
          <p:nvPr/>
        </p:nvSpPr>
        <p:spPr bwMode="auto">
          <a:xfrm rot="0" flipH="0" flipV="0">
            <a:off x="548639" y="4655819"/>
            <a:ext cx="1497330" cy="13096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031"/>
              </a:lnSpc>
              <a:buNone/>
              <a:defRPr/>
            </a:pPr>
            <a:r>
              <a:rPr lang="en-US" sz="1000" spc="18">
                <a:solidFill>
                  <a:srgbClr val="94A3B8"/>
                </a:solidFill>
                <a:latin typeface="Lucida Sans Unicode"/>
                <a:ea typeface="Lucida Sans Unicode"/>
                <a:cs typeface="Lucida Sans Unicode"/>
              </a:rPr>
              <a:t>Data</a:t>
            </a:r>
            <a:r>
              <a:rPr lang="de-DE" sz="1000" spc="18">
                <a:solidFill>
                  <a:srgbClr val="94A3B8"/>
                </a:solidFill>
                <a:latin typeface="Lucida Sans Unicode"/>
                <a:ea typeface="Lucida Sans Unicode"/>
                <a:cs typeface="Lucida Sans Unicode"/>
              </a:rPr>
              <a:t> </a:t>
            </a:r>
            <a:r>
              <a:rPr lang="en-US" sz="1000" spc="18">
                <a:solidFill>
                  <a:srgbClr val="94A3B8"/>
                </a:solidFill>
                <a:latin typeface="Lucida Sans Unicode"/>
                <a:ea typeface="Lucida Sans Unicode"/>
                <a:cs typeface="Lucida Sans Unicode"/>
              </a:rPr>
              <a:t>Model</a:t>
            </a:r>
            <a:r>
              <a:rPr lang="en-US" sz="1000" spc="11">
                <a:solidFill>
                  <a:srgbClr val="94A3B8"/>
                </a:solidFill>
                <a:latin typeface="Lucida Sans Unicode"/>
                <a:ea typeface="Lucida Sans Unicode"/>
                <a:cs typeface="Lucida Sans Unicode"/>
              </a:rPr>
              <a:t>ing</a:t>
            </a:r>
            <a:endParaRPr lang="en-US" sz="1000"/>
          </a:p>
        </p:txBody>
      </p:sp>
      <p:sp>
        <p:nvSpPr>
          <p:cNvPr id="878071044" name="Text 6"/>
          <p:cNvSpPr/>
          <p:nvPr/>
        </p:nvSpPr>
        <p:spPr bwMode="auto">
          <a:xfrm rot="0" flipH="0" flipV="0">
            <a:off x="548639" y="5067299"/>
            <a:ext cx="1414938" cy="14247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122"/>
              </a:lnSpc>
              <a:buNone/>
              <a:defRPr/>
            </a:pPr>
            <a:r>
              <a:rPr lang="en-US" sz="1200" b="1" spc="-5">
                <a:solidFill>
                  <a:srgbClr val="F1F5F9"/>
                </a:solidFill>
                <a:latin typeface="Verdana"/>
                <a:ea typeface="Verdana"/>
                <a:cs typeface="Verdana"/>
              </a:rPr>
              <a:t>dbt</a:t>
            </a:r>
            <a:endParaRPr lang="en-US" sz="1200"/>
          </a:p>
        </p:txBody>
      </p:sp>
      <p:sp>
        <p:nvSpPr>
          <p:cNvPr id="1158500370" name="Text 7"/>
          <p:cNvSpPr/>
          <p:nvPr/>
        </p:nvSpPr>
        <p:spPr bwMode="auto">
          <a:xfrm rot="0" flipH="0" flipV="0">
            <a:off x="548639" y="861059"/>
            <a:ext cx="1631891" cy="20716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31"/>
              </a:lnSpc>
              <a:buNone/>
              <a:defRPr/>
            </a:pPr>
            <a:r>
              <a:rPr lang="en-US" sz="1600" b="1" spc="-11">
                <a:solidFill>
                  <a:srgbClr val="F8FAFC"/>
                </a:solidFill>
                <a:latin typeface="Verdana"/>
                <a:ea typeface="Verdana"/>
                <a:cs typeface="Verdana"/>
              </a:rPr>
              <a:t>Ingestion</a:t>
            </a:r>
            <a:endParaRPr lang="en-US" sz="1600"/>
          </a:p>
        </p:txBody>
      </p:sp>
      <p:sp>
        <p:nvSpPr>
          <p:cNvPr id="534354152" name="Text 8"/>
          <p:cNvSpPr/>
          <p:nvPr/>
        </p:nvSpPr>
        <p:spPr bwMode="auto">
          <a:xfrm rot="0" flipH="0" flipV="0">
            <a:off x="548639" y="1089659"/>
            <a:ext cx="1099926" cy="22355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031"/>
              </a:lnSpc>
              <a:buNone/>
              <a:defRPr/>
            </a:pPr>
            <a:r>
              <a:rPr lang="en-US" sz="1000" spc="29">
                <a:solidFill>
                  <a:srgbClr val="94A3B8"/>
                </a:solidFill>
                <a:latin typeface="Lucida Sans Unicode"/>
                <a:ea typeface="Lucida Sans Unicode"/>
                <a:cs typeface="Lucida Sans Unicode"/>
              </a:rPr>
              <a:t>Web</a:t>
            </a:r>
            <a:r>
              <a:rPr lang="de-DE" sz="1000" spc="29">
                <a:solidFill>
                  <a:srgbClr val="94A3B8"/>
                </a:solidFill>
                <a:latin typeface="Lucida Sans Unicode"/>
                <a:ea typeface="Lucida Sans Unicode"/>
                <a:cs typeface="Lucida Sans Unicode"/>
              </a:rPr>
              <a:t> </a:t>
            </a:r>
            <a:r>
              <a:rPr lang="en-US" sz="1000" spc="29">
                <a:solidFill>
                  <a:srgbClr val="94A3B8"/>
                </a:solidFill>
                <a:latin typeface="Lucida Sans Unicode"/>
                <a:ea typeface="Lucida Sans Unicode"/>
                <a:cs typeface="Lucida Sans Unicode"/>
              </a:rPr>
              <a:t>Scrapin</a:t>
            </a:r>
            <a:r>
              <a:rPr lang="en-US" sz="1000" spc="23">
                <a:solidFill>
                  <a:srgbClr val="94A3B8"/>
                </a:solidFill>
                <a:latin typeface="Lucida Sans Unicode"/>
                <a:ea typeface="Lucida Sans Unicode"/>
                <a:cs typeface="Lucida Sans Unicode"/>
              </a:rPr>
              <a:t>g</a:t>
            </a:r>
            <a:endParaRPr lang="en-US" sz="1000"/>
          </a:p>
        </p:txBody>
      </p:sp>
      <p:sp>
        <p:nvSpPr>
          <p:cNvPr id="1115768662" name="Text 11"/>
          <p:cNvSpPr/>
          <p:nvPr/>
        </p:nvSpPr>
        <p:spPr bwMode="auto">
          <a:xfrm rot="0" flipH="0" flipV="0">
            <a:off x="548639" y="2049779"/>
            <a:ext cx="2363724" cy="19010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497"/>
              </a:lnSpc>
              <a:buNone/>
              <a:defRPr/>
            </a:pPr>
            <a:r>
              <a:rPr lang="en-US" sz="1600" b="1" spc="18">
                <a:solidFill>
                  <a:srgbClr val="F8FAFC"/>
                </a:solidFill>
                <a:latin typeface="Verdana"/>
                <a:ea typeface="Verdana"/>
                <a:cs typeface="Verdana"/>
              </a:rPr>
              <a:t>Orchestrat</a:t>
            </a:r>
            <a:r>
              <a:rPr lang="en-US" sz="1600" b="1" spc="11">
                <a:solidFill>
                  <a:srgbClr val="F8FAFC"/>
                </a:solidFill>
                <a:latin typeface="Verdana"/>
                <a:ea typeface="Verdana"/>
                <a:cs typeface="Verdana"/>
              </a:rPr>
              <a:t>ion</a:t>
            </a:r>
            <a:endParaRPr lang="en-US" sz="1600"/>
          </a:p>
        </p:txBody>
      </p:sp>
      <p:sp>
        <p:nvSpPr>
          <p:cNvPr id="130742208" name="Text 12"/>
          <p:cNvSpPr/>
          <p:nvPr/>
        </p:nvSpPr>
        <p:spPr bwMode="auto">
          <a:xfrm rot="0" flipH="0" flipV="0">
            <a:off x="566928" y="2278379"/>
            <a:ext cx="1438115" cy="13096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031"/>
              </a:lnSpc>
              <a:buNone/>
              <a:defRPr/>
            </a:pPr>
            <a:r>
              <a:rPr lang="en-US" sz="1000" spc="11">
                <a:solidFill>
                  <a:srgbClr val="94A3B8"/>
                </a:solidFill>
                <a:latin typeface="Lucida Sans Unicode"/>
                <a:ea typeface="Lucida Sans Unicode"/>
                <a:cs typeface="Lucida Sans Unicode"/>
              </a:rPr>
              <a:t>Task</a:t>
            </a:r>
            <a:r>
              <a:rPr lang="de-DE" sz="1000" spc="11">
                <a:solidFill>
                  <a:srgbClr val="94A3B8"/>
                </a:solidFill>
                <a:latin typeface="Lucida Sans Unicode"/>
                <a:ea typeface="Lucida Sans Unicode"/>
                <a:cs typeface="Lucida Sans Unicode"/>
              </a:rPr>
              <a:t> </a:t>
            </a:r>
            <a:r>
              <a:rPr lang="en-US" sz="1000" spc="11">
                <a:solidFill>
                  <a:srgbClr val="94A3B8"/>
                </a:solidFill>
                <a:latin typeface="Lucida Sans Unicode"/>
                <a:ea typeface="Lucida Sans Unicode"/>
                <a:cs typeface="Lucida Sans Unicode"/>
              </a:rPr>
              <a:t>Scheduling</a:t>
            </a:r>
            <a:endParaRPr lang="en-US" sz="1000"/>
          </a:p>
        </p:txBody>
      </p:sp>
      <p:sp>
        <p:nvSpPr>
          <p:cNvPr id="2066924709" name="Text 13"/>
          <p:cNvSpPr/>
          <p:nvPr/>
        </p:nvSpPr>
        <p:spPr bwMode="auto">
          <a:xfrm rot="0" flipH="0" flipV="0">
            <a:off x="548639" y="2689859"/>
            <a:ext cx="1557654" cy="14247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122"/>
              </a:lnSpc>
              <a:buNone/>
              <a:defRPr/>
            </a:pPr>
            <a:r>
              <a:rPr lang="en-US" sz="1100" b="1" spc="-5">
                <a:solidFill>
                  <a:srgbClr val="F1F5F9"/>
                </a:solidFill>
                <a:latin typeface="Verdana"/>
                <a:ea typeface="Verdana"/>
                <a:cs typeface="Verdana"/>
              </a:rPr>
              <a:t>Airﬂow</a:t>
            </a:r>
            <a:endParaRPr lang="en-US" sz="1100"/>
          </a:p>
        </p:txBody>
      </p:sp>
      <p:sp>
        <p:nvSpPr>
          <p:cNvPr id="2130228738" name="Text 14"/>
          <p:cNvSpPr/>
          <p:nvPr/>
        </p:nvSpPr>
        <p:spPr bwMode="auto">
          <a:xfrm rot="0" flipH="0" flipV="0">
            <a:off x="548639" y="5570219"/>
            <a:ext cx="1264797" cy="20716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31"/>
              </a:lnSpc>
              <a:buNone/>
              <a:defRPr/>
            </a:pPr>
            <a:r>
              <a:rPr lang="en-US" sz="1600" b="1" spc="5">
                <a:solidFill>
                  <a:srgbClr val="F8FAFC"/>
                </a:solidFill>
                <a:latin typeface="Verdana"/>
                <a:ea typeface="Verdana"/>
                <a:cs typeface="Verdana"/>
              </a:rPr>
              <a:t>Serving</a:t>
            </a:r>
            <a:endParaRPr lang="en-US" sz="1600"/>
          </a:p>
        </p:txBody>
      </p:sp>
      <p:sp>
        <p:nvSpPr>
          <p:cNvPr id="1115569520" name="Text 15"/>
          <p:cNvSpPr/>
          <p:nvPr/>
        </p:nvSpPr>
        <p:spPr bwMode="auto">
          <a:xfrm rot="0" flipH="0" flipV="0">
            <a:off x="548639" y="5798819"/>
            <a:ext cx="1244727" cy="12025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947"/>
              </a:lnSpc>
              <a:buNone/>
              <a:defRPr/>
            </a:pPr>
            <a:r>
              <a:rPr lang="en-US" sz="1000" spc="18">
                <a:solidFill>
                  <a:srgbClr val="94A3B8"/>
                </a:solidFill>
                <a:latin typeface="Lucida Sans Unicode"/>
                <a:ea typeface="Lucida Sans Unicode"/>
                <a:cs typeface="Lucida Sans Unicode"/>
              </a:rPr>
              <a:t>UI</a:t>
            </a:r>
            <a:r>
              <a:rPr lang="de-DE" sz="1000" spc="18">
                <a:solidFill>
                  <a:srgbClr val="94A3B8"/>
                </a:solidFill>
                <a:latin typeface="Lucida Sans Unicode"/>
                <a:ea typeface="Lucida Sans Unicode"/>
                <a:cs typeface="Lucida Sans Unicode"/>
              </a:rPr>
              <a:t> </a:t>
            </a:r>
            <a:r>
              <a:rPr lang="en-US" sz="1000" spc="18">
                <a:solidFill>
                  <a:srgbClr val="94A3B8"/>
                </a:solidFill>
                <a:latin typeface="Lucida Sans Unicode"/>
                <a:ea typeface="Lucida Sans Unicode"/>
                <a:cs typeface="Lucida Sans Unicode"/>
              </a:rPr>
              <a:t>Dashboa</a:t>
            </a:r>
            <a:r>
              <a:rPr lang="en-US" sz="1000" spc="11">
                <a:solidFill>
                  <a:srgbClr val="94A3B8"/>
                </a:solidFill>
                <a:latin typeface="Lucida Sans Unicode"/>
                <a:ea typeface="Lucida Sans Unicode"/>
                <a:cs typeface="Lucida Sans Unicode"/>
              </a:rPr>
              <a:t>rd</a:t>
            </a:r>
            <a:endParaRPr lang="en-US" sz="1000"/>
          </a:p>
        </p:txBody>
      </p:sp>
      <p:sp>
        <p:nvSpPr>
          <p:cNvPr id="1837970532" name="Text 16"/>
          <p:cNvSpPr/>
          <p:nvPr/>
        </p:nvSpPr>
        <p:spPr bwMode="auto">
          <a:xfrm rot="0" flipH="0" flipV="0">
            <a:off x="548639" y="6210299"/>
            <a:ext cx="1234440" cy="14247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122"/>
              </a:lnSpc>
              <a:buNone/>
              <a:defRPr/>
            </a:pPr>
            <a:r>
              <a:rPr lang="en-US" sz="1200" b="1" spc="-5">
                <a:solidFill>
                  <a:srgbClr val="F1F5F9"/>
                </a:solidFill>
                <a:latin typeface="Verdana"/>
                <a:ea typeface="Verdana"/>
                <a:cs typeface="Verdana"/>
              </a:rPr>
              <a:t>Streamlit</a:t>
            </a:r>
            <a:endParaRPr lang="en-US" sz="1200"/>
          </a:p>
        </p:txBody>
      </p:sp>
      <p:sp>
        <p:nvSpPr>
          <p:cNvPr id="41285762" name=""/>
          <p:cNvSpPr txBox="1"/>
          <p:nvPr/>
        </p:nvSpPr>
        <p:spPr bwMode="auto">
          <a:xfrm flipH="0" flipV="0">
            <a:off x="3690727" y="573349"/>
            <a:ext cx="183636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1086935643" name="Text 0"/>
          <p:cNvSpPr/>
          <p:nvPr/>
        </p:nvSpPr>
        <p:spPr bwMode="auto">
          <a:xfrm flipH="0" flipV="0">
            <a:off x="3530946" y="106427"/>
            <a:ext cx="8451887" cy="8046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6335"/>
              </a:lnSpc>
              <a:buNone/>
              <a:defRPr/>
            </a:pPr>
            <a:r>
              <a:rPr lang="de-DE" sz="4800" b="0" spc="-124">
                <a:solidFill>
                  <a:srgbClr val="5DA2EE"/>
                </a:solidFill>
                <a:latin typeface="Yu Gothic UI Semibold"/>
                <a:ea typeface="Yu Gothic UI Semibold"/>
                <a:cs typeface="Yu Gothic UI Semibold"/>
              </a:rPr>
              <a:t>Data</a:t>
            </a:r>
            <a:r>
              <a:rPr lang="de-DE" sz="4800" b="0" spc="-124">
                <a:solidFill>
                  <a:srgbClr val="5DA2EE"/>
                </a:solidFill>
                <a:latin typeface="Yu Gothic UI Semibold"/>
                <a:ea typeface="Yu Gothic UI Semibold"/>
                <a:cs typeface="Yu Gothic UI Semibold"/>
              </a:rPr>
              <a:t> </a:t>
            </a:r>
            <a:r>
              <a:rPr lang="de-DE" sz="4800" b="0" spc="-124">
                <a:solidFill>
                  <a:srgbClr val="5DA2EE"/>
                </a:solidFill>
                <a:latin typeface="Yu Gothic UI Semibold"/>
                <a:ea typeface="Yu Gothic UI Semibold"/>
                <a:cs typeface="Yu Gothic UI Semibold"/>
              </a:rPr>
              <a:t>Pipeline </a:t>
            </a:r>
            <a:r>
              <a:rPr lang="de-DE" sz="4800" b="0" spc="-124">
                <a:solidFill>
                  <a:srgbClr val="5DA2EE"/>
                </a:solidFill>
                <a:latin typeface="Yu Gothic UI Semibold"/>
                <a:ea typeface="Yu Gothic UI Semibold"/>
                <a:cs typeface="Yu Gothic UI Semibold"/>
              </a:rPr>
              <a:t>Architecture</a:t>
            </a:r>
            <a:endParaRPr sz="4800" b="0">
              <a:solidFill>
                <a:srgbClr val="5DA2EE"/>
              </a:solidFill>
              <a:latin typeface="Yu Gothic UI Semibold"/>
              <a:cs typeface="Yu Gothic UI Semibold"/>
            </a:endParaRPr>
          </a:p>
        </p:txBody>
      </p:sp>
      <p:sp>
        <p:nvSpPr>
          <p:cNvPr id="2114251465" name="Text 13"/>
          <p:cNvSpPr/>
          <p:nvPr/>
        </p:nvSpPr>
        <p:spPr bwMode="auto">
          <a:xfrm rot="0" flipH="0" flipV="0">
            <a:off x="566928" y="1501139"/>
            <a:ext cx="2480225" cy="14247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122"/>
              </a:lnSpc>
              <a:buNone/>
              <a:defRPr/>
            </a:pPr>
            <a:r>
              <a:rPr lang="de-DE" sz="1100" b="1" spc="-5">
                <a:solidFill>
                  <a:srgbClr val="F1F5F9"/>
                </a:solidFill>
                <a:latin typeface="Verdana"/>
                <a:ea typeface="Verdana"/>
                <a:cs typeface="Verdana"/>
              </a:rPr>
              <a:t>Python | Selenium | Xvfb | BS4</a:t>
            </a:r>
            <a:endParaRPr lang="en-US" sz="1100"/>
          </a:p>
        </p:txBody>
      </p:sp>
      <p:pic>
        <p:nvPicPr>
          <p:cNvPr id="1864312744" name="">
            <a:hlinkClick r:id="" action="ppaction://media"/>
          </p:cNvPr>
          <p:cNvPicPr>
            <a:picLocks noChangeAspect="1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3"/>
          <a:stretch/>
        </p:blipFill>
        <p:spPr bwMode="auto">
          <a:xfrm flipH="0" flipV="0">
            <a:off x="3782545" y="1391936"/>
            <a:ext cx="7994117" cy="453961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6">
    <p:bg>
      <p:bgPr shadeToTitle="0">
        <a:solidFill>
          <a:srgbClr val="0F17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8397806" name=""/>
          <p:cNvSpPr/>
          <p:nvPr/>
        </p:nvSpPr>
        <p:spPr bwMode="auto">
          <a:xfrm rot="0" flipH="0" flipV="0">
            <a:off x="320039" y="5478779"/>
            <a:ext cx="2977717" cy="1058846"/>
          </a:xfrm>
          <a:prstGeom prst="flowChartAlternateProcess">
            <a:avLst/>
          </a:prstGeom>
          <a:solidFill>
            <a:schemeClr val="bg1">
              <a:alpha val="10000"/>
            </a:schemeClr>
          </a:solidFill>
          <a:ln w="28575" cap="flat" cmpd="sng" algn="ctr">
            <a:solidFill>
              <a:schemeClr val="tx2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53978368" name=""/>
          <p:cNvSpPr/>
          <p:nvPr/>
        </p:nvSpPr>
        <p:spPr bwMode="auto">
          <a:xfrm rot="0" flipH="0" flipV="0">
            <a:off x="320039" y="4290059"/>
            <a:ext cx="2977717" cy="1058846"/>
          </a:xfrm>
          <a:prstGeom prst="flowChartAlternateProcess">
            <a:avLst/>
          </a:prstGeom>
          <a:solidFill>
            <a:schemeClr val="bg1">
              <a:alpha val="10000"/>
            </a:schemeClr>
          </a:solidFill>
          <a:ln w="28575" cap="flat" cmpd="sng" algn="ctr">
            <a:solidFill>
              <a:schemeClr val="tx2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59929149" name=""/>
          <p:cNvSpPr/>
          <p:nvPr/>
        </p:nvSpPr>
        <p:spPr bwMode="auto">
          <a:xfrm rot="0" flipH="0" flipV="0">
            <a:off x="338328" y="3101339"/>
            <a:ext cx="2977717" cy="1058846"/>
          </a:xfrm>
          <a:prstGeom prst="flowChartAlternateProcess">
            <a:avLst/>
          </a:prstGeom>
          <a:solidFill>
            <a:schemeClr val="bg1">
              <a:alpha val="10000"/>
            </a:schemeClr>
          </a:solidFill>
          <a:ln w="28575" cap="flat" cmpd="sng" algn="ctr">
            <a:solidFill>
              <a:schemeClr val="tx2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83116100" name=""/>
          <p:cNvSpPr/>
          <p:nvPr/>
        </p:nvSpPr>
        <p:spPr bwMode="auto">
          <a:xfrm rot="0" flipH="0" flipV="0">
            <a:off x="338328" y="1912619"/>
            <a:ext cx="2977717" cy="1058846"/>
          </a:xfrm>
          <a:prstGeom prst="flowChartAlternateProcess">
            <a:avLst/>
          </a:prstGeom>
          <a:solidFill>
            <a:schemeClr val="bg1">
              <a:alpha val="10000"/>
            </a:schemeClr>
          </a:solidFill>
          <a:ln w="28575" cap="flat" cmpd="sng" algn="ctr">
            <a:solidFill>
              <a:srgbClr val="5DA2EE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30850429" name=""/>
          <p:cNvSpPr/>
          <p:nvPr/>
        </p:nvSpPr>
        <p:spPr bwMode="auto">
          <a:xfrm rot="0" flipH="0" flipV="0">
            <a:off x="338328" y="723899"/>
            <a:ext cx="2977718" cy="1058846"/>
          </a:xfrm>
          <a:prstGeom prst="flowChartAlternateProcess">
            <a:avLst/>
          </a:prstGeom>
          <a:solidFill>
            <a:schemeClr val="bg1">
              <a:alpha val="10000"/>
            </a:schemeClr>
          </a:solidFill>
          <a:ln w="28575" cap="flat" cmpd="sng" algn="ctr">
            <a:solidFill>
              <a:schemeClr val="tx2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70411598" name="Text 0"/>
          <p:cNvSpPr/>
          <p:nvPr/>
        </p:nvSpPr>
        <p:spPr bwMode="auto">
          <a:xfrm rot="0" flipH="0" flipV="0">
            <a:off x="548639" y="3192779"/>
            <a:ext cx="1269723" cy="20220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93"/>
              </a:lnSpc>
              <a:buNone/>
              <a:defRPr/>
            </a:pPr>
            <a:r>
              <a:rPr lang="en-US" sz="1600" b="1" spc="11">
                <a:solidFill>
                  <a:srgbClr val="F8FAFC"/>
                </a:solidFill>
                <a:latin typeface="Verdana"/>
                <a:ea typeface="Verdana"/>
                <a:cs typeface="Verdana"/>
              </a:rPr>
              <a:t>Storage</a:t>
            </a:r>
            <a:endParaRPr lang="en-US" sz="1600"/>
          </a:p>
        </p:txBody>
      </p:sp>
      <p:sp>
        <p:nvSpPr>
          <p:cNvPr id="1663309816" name="Text 1"/>
          <p:cNvSpPr/>
          <p:nvPr/>
        </p:nvSpPr>
        <p:spPr bwMode="auto">
          <a:xfrm rot="0" flipH="0" flipV="0">
            <a:off x="548639" y="3421379"/>
            <a:ext cx="1049814" cy="12025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947"/>
              </a:lnSpc>
              <a:buNone/>
              <a:defRPr/>
            </a:pPr>
            <a:r>
              <a:rPr lang="en-US" sz="1000" spc="29">
                <a:solidFill>
                  <a:srgbClr val="94A3B8"/>
                </a:solidFill>
                <a:latin typeface="Lucida Sans Unicode"/>
                <a:ea typeface="Lucida Sans Unicode"/>
                <a:cs typeface="Lucida Sans Unicode"/>
              </a:rPr>
              <a:t>Database</a:t>
            </a:r>
            <a:endParaRPr lang="en-US" sz="1000"/>
          </a:p>
        </p:txBody>
      </p:sp>
      <p:sp>
        <p:nvSpPr>
          <p:cNvPr id="1752063906" name="Text 2"/>
          <p:cNvSpPr/>
          <p:nvPr/>
        </p:nvSpPr>
        <p:spPr bwMode="auto">
          <a:xfrm rot="0" flipH="0" flipV="0">
            <a:off x="548639" y="3832859"/>
            <a:ext cx="2239002" cy="14803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165"/>
              </a:lnSpc>
              <a:buNone/>
              <a:defRPr/>
            </a:pPr>
            <a:r>
              <a:rPr lang="en-US" sz="1200" b="1" spc="-5">
                <a:solidFill>
                  <a:srgbClr val="F1F5F9"/>
                </a:solidFill>
                <a:latin typeface="Verdana"/>
                <a:ea typeface="Verdana"/>
                <a:cs typeface="Verdana"/>
              </a:rPr>
              <a:t>PostgreSQL</a:t>
            </a:r>
            <a:r>
              <a:rPr lang="de-DE" sz="1200" b="1" spc="-5">
                <a:solidFill>
                  <a:srgbClr val="F1F5F9"/>
                </a:solidFill>
                <a:latin typeface="Verdana"/>
                <a:ea typeface="Verdana"/>
                <a:cs typeface="Verdana"/>
              </a:rPr>
              <a:t> | NeonDB</a:t>
            </a:r>
            <a:endParaRPr lang="en-US" sz="1200"/>
          </a:p>
        </p:txBody>
      </p:sp>
      <p:sp>
        <p:nvSpPr>
          <p:cNvPr id="398219036" name="Text 4"/>
          <p:cNvSpPr/>
          <p:nvPr/>
        </p:nvSpPr>
        <p:spPr bwMode="auto">
          <a:xfrm rot="0" flipH="0" flipV="0">
            <a:off x="548639" y="4427219"/>
            <a:ext cx="2546984" cy="19248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16"/>
              </a:lnSpc>
              <a:buNone/>
              <a:defRPr/>
            </a:pPr>
            <a:r>
              <a:rPr lang="en-US" sz="1600" b="1" spc="11">
                <a:solidFill>
                  <a:srgbClr val="F8FAFC"/>
                </a:solidFill>
                <a:latin typeface="Verdana"/>
                <a:ea typeface="Verdana"/>
                <a:cs typeface="Verdana"/>
              </a:rPr>
              <a:t>Transforma</a:t>
            </a:r>
            <a:r>
              <a:rPr lang="en-US" sz="1600" b="1" spc="5">
                <a:solidFill>
                  <a:srgbClr val="F8FAFC"/>
                </a:solidFill>
                <a:latin typeface="Verdana"/>
                <a:ea typeface="Verdana"/>
                <a:cs typeface="Verdana"/>
              </a:rPr>
              <a:t>tion</a:t>
            </a:r>
            <a:endParaRPr lang="en-US" sz="1600"/>
          </a:p>
        </p:txBody>
      </p:sp>
      <p:sp>
        <p:nvSpPr>
          <p:cNvPr id="766784149" name="Text 5"/>
          <p:cNvSpPr/>
          <p:nvPr/>
        </p:nvSpPr>
        <p:spPr bwMode="auto">
          <a:xfrm rot="0" flipH="0" flipV="0">
            <a:off x="548639" y="4655819"/>
            <a:ext cx="1497330" cy="13096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031"/>
              </a:lnSpc>
              <a:buNone/>
              <a:defRPr/>
            </a:pPr>
            <a:r>
              <a:rPr lang="en-US" sz="1000" spc="18">
                <a:solidFill>
                  <a:srgbClr val="94A3B8"/>
                </a:solidFill>
                <a:latin typeface="Lucida Sans Unicode"/>
                <a:ea typeface="Lucida Sans Unicode"/>
                <a:cs typeface="Lucida Sans Unicode"/>
              </a:rPr>
              <a:t>Data</a:t>
            </a:r>
            <a:r>
              <a:rPr lang="de-DE" sz="1000" spc="18">
                <a:solidFill>
                  <a:srgbClr val="94A3B8"/>
                </a:solidFill>
                <a:latin typeface="Lucida Sans Unicode"/>
                <a:ea typeface="Lucida Sans Unicode"/>
                <a:cs typeface="Lucida Sans Unicode"/>
              </a:rPr>
              <a:t> </a:t>
            </a:r>
            <a:r>
              <a:rPr lang="en-US" sz="1000" spc="18">
                <a:solidFill>
                  <a:srgbClr val="94A3B8"/>
                </a:solidFill>
                <a:latin typeface="Lucida Sans Unicode"/>
                <a:ea typeface="Lucida Sans Unicode"/>
                <a:cs typeface="Lucida Sans Unicode"/>
              </a:rPr>
              <a:t>Model</a:t>
            </a:r>
            <a:r>
              <a:rPr lang="en-US" sz="1000" spc="11">
                <a:solidFill>
                  <a:srgbClr val="94A3B8"/>
                </a:solidFill>
                <a:latin typeface="Lucida Sans Unicode"/>
                <a:ea typeface="Lucida Sans Unicode"/>
                <a:cs typeface="Lucida Sans Unicode"/>
              </a:rPr>
              <a:t>ing</a:t>
            </a:r>
            <a:endParaRPr lang="en-US" sz="1000"/>
          </a:p>
        </p:txBody>
      </p:sp>
      <p:sp>
        <p:nvSpPr>
          <p:cNvPr id="515857698" name="Text 6"/>
          <p:cNvSpPr/>
          <p:nvPr/>
        </p:nvSpPr>
        <p:spPr bwMode="auto">
          <a:xfrm rot="0" flipH="0" flipV="0">
            <a:off x="548639" y="5067299"/>
            <a:ext cx="1414938" cy="14247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122"/>
              </a:lnSpc>
              <a:buNone/>
              <a:defRPr/>
            </a:pPr>
            <a:r>
              <a:rPr lang="en-US" sz="1200" b="1" spc="-5">
                <a:solidFill>
                  <a:srgbClr val="F1F5F9"/>
                </a:solidFill>
                <a:latin typeface="Verdana"/>
                <a:ea typeface="Verdana"/>
                <a:cs typeface="Verdana"/>
              </a:rPr>
              <a:t>dbt</a:t>
            </a:r>
            <a:endParaRPr lang="en-US" sz="1200"/>
          </a:p>
        </p:txBody>
      </p:sp>
      <p:sp>
        <p:nvSpPr>
          <p:cNvPr id="160225803" name="Text 7"/>
          <p:cNvSpPr/>
          <p:nvPr/>
        </p:nvSpPr>
        <p:spPr bwMode="auto">
          <a:xfrm rot="0" flipH="0" flipV="0">
            <a:off x="548639" y="861059"/>
            <a:ext cx="1631891" cy="20716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31"/>
              </a:lnSpc>
              <a:buNone/>
              <a:defRPr/>
            </a:pPr>
            <a:r>
              <a:rPr lang="en-US" sz="1600" b="1" spc="-11">
                <a:solidFill>
                  <a:srgbClr val="F8FAFC"/>
                </a:solidFill>
                <a:latin typeface="Verdana"/>
                <a:ea typeface="Verdana"/>
                <a:cs typeface="Verdana"/>
              </a:rPr>
              <a:t>Ingestion</a:t>
            </a:r>
            <a:endParaRPr lang="en-US" sz="1600"/>
          </a:p>
        </p:txBody>
      </p:sp>
      <p:sp>
        <p:nvSpPr>
          <p:cNvPr id="538020150" name="Text 8"/>
          <p:cNvSpPr/>
          <p:nvPr/>
        </p:nvSpPr>
        <p:spPr bwMode="auto">
          <a:xfrm rot="0" flipH="0" flipV="0">
            <a:off x="548639" y="1089659"/>
            <a:ext cx="1099926" cy="22355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031"/>
              </a:lnSpc>
              <a:buNone/>
              <a:defRPr/>
            </a:pPr>
            <a:r>
              <a:rPr lang="en-US" sz="1000" spc="29">
                <a:solidFill>
                  <a:srgbClr val="94A3B8"/>
                </a:solidFill>
                <a:latin typeface="Lucida Sans Unicode"/>
                <a:ea typeface="Lucida Sans Unicode"/>
                <a:cs typeface="Lucida Sans Unicode"/>
              </a:rPr>
              <a:t>Web</a:t>
            </a:r>
            <a:r>
              <a:rPr lang="de-DE" sz="1000" spc="29">
                <a:solidFill>
                  <a:srgbClr val="94A3B8"/>
                </a:solidFill>
                <a:latin typeface="Lucida Sans Unicode"/>
                <a:ea typeface="Lucida Sans Unicode"/>
                <a:cs typeface="Lucida Sans Unicode"/>
              </a:rPr>
              <a:t> </a:t>
            </a:r>
            <a:r>
              <a:rPr lang="en-US" sz="1000" spc="29">
                <a:solidFill>
                  <a:srgbClr val="94A3B8"/>
                </a:solidFill>
                <a:latin typeface="Lucida Sans Unicode"/>
                <a:ea typeface="Lucida Sans Unicode"/>
                <a:cs typeface="Lucida Sans Unicode"/>
              </a:rPr>
              <a:t>Scrapin</a:t>
            </a:r>
            <a:r>
              <a:rPr lang="en-US" sz="1000" spc="23">
                <a:solidFill>
                  <a:srgbClr val="94A3B8"/>
                </a:solidFill>
                <a:latin typeface="Lucida Sans Unicode"/>
                <a:ea typeface="Lucida Sans Unicode"/>
                <a:cs typeface="Lucida Sans Unicode"/>
              </a:rPr>
              <a:t>g</a:t>
            </a:r>
            <a:endParaRPr lang="en-US" sz="1000"/>
          </a:p>
        </p:txBody>
      </p:sp>
      <p:sp>
        <p:nvSpPr>
          <p:cNvPr id="575689910" name="Text 11"/>
          <p:cNvSpPr/>
          <p:nvPr/>
        </p:nvSpPr>
        <p:spPr bwMode="auto">
          <a:xfrm rot="0" flipH="0" flipV="0">
            <a:off x="548639" y="2049779"/>
            <a:ext cx="2363724" cy="19010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497"/>
              </a:lnSpc>
              <a:buNone/>
              <a:defRPr/>
            </a:pPr>
            <a:r>
              <a:rPr lang="en-US" sz="1600" b="1" spc="18">
                <a:solidFill>
                  <a:srgbClr val="F8FAFC"/>
                </a:solidFill>
                <a:latin typeface="Verdana"/>
                <a:ea typeface="Verdana"/>
                <a:cs typeface="Verdana"/>
              </a:rPr>
              <a:t>Orchestrat</a:t>
            </a:r>
            <a:r>
              <a:rPr lang="en-US" sz="1600" b="1" spc="11">
                <a:solidFill>
                  <a:srgbClr val="F8FAFC"/>
                </a:solidFill>
                <a:latin typeface="Verdana"/>
                <a:ea typeface="Verdana"/>
                <a:cs typeface="Verdana"/>
              </a:rPr>
              <a:t>ion</a:t>
            </a:r>
            <a:endParaRPr lang="en-US" sz="1600"/>
          </a:p>
        </p:txBody>
      </p:sp>
      <p:sp>
        <p:nvSpPr>
          <p:cNvPr id="1205472311" name="Text 12"/>
          <p:cNvSpPr/>
          <p:nvPr/>
        </p:nvSpPr>
        <p:spPr bwMode="auto">
          <a:xfrm rot="0" flipH="0" flipV="0">
            <a:off x="566928" y="2278379"/>
            <a:ext cx="1438115" cy="13096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031"/>
              </a:lnSpc>
              <a:buNone/>
              <a:defRPr/>
            </a:pPr>
            <a:r>
              <a:rPr lang="en-US" sz="1000" spc="11">
                <a:solidFill>
                  <a:srgbClr val="94A3B8"/>
                </a:solidFill>
                <a:latin typeface="Lucida Sans Unicode"/>
                <a:ea typeface="Lucida Sans Unicode"/>
                <a:cs typeface="Lucida Sans Unicode"/>
              </a:rPr>
              <a:t>Task</a:t>
            </a:r>
            <a:r>
              <a:rPr lang="de-DE" sz="1000" spc="11">
                <a:solidFill>
                  <a:srgbClr val="94A3B8"/>
                </a:solidFill>
                <a:latin typeface="Lucida Sans Unicode"/>
                <a:ea typeface="Lucida Sans Unicode"/>
                <a:cs typeface="Lucida Sans Unicode"/>
              </a:rPr>
              <a:t> </a:t>
            </a:r>
            <a:r>
              <a:rPr lang="en-US" sz="1000" spc="11">
                <a:solidFill>
                  <a:srgbClr val="94A3B8"/>
                </a:solidFill>
                <a:latin typeface="Lucida Sans Unicode"/>
                <a:ea typeface="Lucida Sans Unicode"/>
                <a:cs typeface="Lucida Sans Unicode"/>
              </a:rPr>
              <a:t>Scheduling</a:t>
            </a:r>
            <a:endParaRPr lang="en-US" sz="1000"/>
          </a:p>
        </p:txBody>
      </p:sp>
      <p:sp>
        <p:nvSpPr>
          <p:cNvPr id="1812678549" name="Text 13"/>
          <p:cNvSpPr/>
          <p:nvPr/>
        </p:nvSpPr>
        <p:spPr bwMode="auto">
          <a:xfrm rot="0" flipH="0" flipV="0">
            <a:off x="548639" y="2689859"/>
            <a:ext cx="1557654" cy="14247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122"/>
              </a:lnSpc>
              <a:buNone/>
              <a:defRPr/>
            </a:pPr>
            <a:r>
              <a:rPr lang="en-US" sz="1100" b="1" spc="-5">
                <a:solidFill>
                  <a:srgbClr val="F1F5F9"/>
                </a:solidFill>
                <a:latin typeface="Verdana"/>
                <a:ea typeface="Verdana"/>
                <a:cs typeface="Verdana"/>
              </a:rPr>
              <a:t>Airﬂow</a:t>
            </a:r>
            <a:endParaRPr lang="en-US" sz="1100"/>
          </a:p>
        </p:txBody>
      </p:sp>
      <p:sp>
        <p:nvSpPr>
          <p:cNvPr id="1187800151" name="Text 14"/>
          <p:cNvSpPr/>
          <p:nvPr/>
        </p:nvSpPr>
        <p:spPr bwMode="auto">
          <a:xfrm rot="0" flipH="0" flipV="0">
            <a:off x="548639" y="5570219"/>
            <a:ext cx="1264797" cy="20716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31"/>
              </a:lnSpc>
              <a:buNone/>
              <a:defRPr/>
            </a:pPr>
            <a:r>
              <a:rPr lang="en-US" sz="1600" b="1" spc="5">
                <a:solidFill>
                  <a:srgbClr val="F8FAFC"/>
                </a:solidFill>
                <a:latin typeface="Verdana"/>
                <a:ea typeface="Verdana"/>
                <a:cs typeface="Verdana"/>
              </a:rPr>
              <a:t>Serving</a:t>
            </a:r>
            <a:endParaRPr lang="en-US" sz="1600"/>
          </a:p>
        </p:txBody>
      </p:sp>
      <p:sp>
        <p:nvSpPr>
          <p:cNvPr id="250418138" name="Text 15"/>
          <p:cNvSpPr/>
          <p:nvPr/>
        </p:nvSpPr>
        <p:spPr bwMode="auto">
          <a:xfrm rot="0" flipH="0" flipV="0">
            <a:off x="548639" y="5798819"/>
            <a:ext cx="1244727" cy="12025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947"/>
              </a:lnSpc>
              <a:buNone/>
              <a:defRPr/>
            </a:pPr>
            <a:r>
              <a:rPr lang="en-US" sz="1000" spc="18">
                <a:solidFill>
                  <a:srgbClr val="94A3B8"/>
                </a:solidFill>
                <a:latin typeface="Lucida Sans Unicode"/>
                <a:ea typeface="Lucida Sans Unicode"/>
                <a:cs typeface="Lucida Sans Unicode"/>
              </a:rPr>
              <a:t>UI</a:t>
            </a:r>
            <a:r>
              <a:rPr lang="de-DE" sz="1000" spc="18">
                <a:solidFill>
                  <a:srgbClr val="94A3B8"/>
                </a:solidFill>
                <a:latin typeface="Lucida Sans Unicode"/>
                <a:ea typeface="Lucida Sans Unicode"/>
                <a:cs typeface="Lucida Sans Unicode"/>
              </a:rPr>
              <a:t> </a:t>
            </a:r>
            <a:r>
              <a:rPr lang="en-US" sz="1000" spc="18">
                <a:solidFill>
                  <a:srgbClr val="94A3B8"/>
                </a:solidFill>
                <a:latin typeface="Lucida Sans Unicode"/>
                <a:ea typeface="Lucida Sans Unicode"/>
                <a:cs typeface="Lucida Sans Unicode"/>
              </a:rPr>
              <a:t>Dashboa</a:t>
            </a:r>
            <a:r>
              <a:rPr lang="en-US" sz="1000" spc="11">
                <a:solidFill>
                  <a:srgbClr val="94A3B8"/>
                </a:solidFill>
                <a:latin typeface="Lucida Sans Unicode"/>
                <a:ea typeface="Lucida Sans Unicode"/>
                <a:cs typeface="Lucida Sans Unicode"/>
              </a:rPr>
              <a:t>rd</a:t>
            </a:r>
            <a:endParaRPr lang="en-US" sz="1000"/>
          </a:p>
        </p:txBody>
      </p:sp>
      <p:sp>
        <p:nvSpPr>
          <p:cNvPr id="873540084" name="Text 16"/>
          <p:cNvSpPr/>
          <p:nvPr/>
        </p:nvSpPr>
        <p:spPr bwMode="auto">
          <a:xfrm rot="0" flipH="0" flipV="0">
            <a:off x="548639" y="6210299"/>
            <a:ext cx="1234440" cy="14247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122"/>
              </a:lnSpc>
              <a:buNone/>
              <a:defRPr/>
            </a:pPr>
            <a:r>
              <a:rPr lang="en-US" sz="1200" b="1" spc="-5">
                <a:solidFill>
                  <a:srgbClr val="F1F5F9"/>
                </a:solidFill>
                <a:latin typeface="Verdana"/>
                <a:ea typeface="Verdana"/>
                <a:cs typeface="Verdana"/>
              </a:rPr>
              <a:t>Streamlit</a:t>
            </a:r>
            <a:endParaRPr lang="en-US" sz="1200"/>
          </a:p>
        </p:txBody>
      </p:sp>
      <p:sp>
        <p:nvSpPr>
          <p:cNvPr id="355183692" name=""/>
          <p:cNvSpPr txBox="1"/>
          <p:nvPr/>
        </p:nvSpPr>
        <p:spPr bwMode="auto">
          <a:xfrm flipH="0" flipV="0">
            <a:off x="3690727" y="573349"/>
            <a:ext cx="183636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965869534" name="Text 0"/>
          <p:cNvSpPr/>
          <p:nvPr/>
        </p:nvSpPr>
        <p:spPr bwMode="auto">
          <a:xfrm flipH="0" flipV="0">
            <a:off x="3530946" y="106427"/>
            <a:ext cx="8451887" cy="8046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6335"/>
              </a:lnSpc>
              <a:buNone/>
              <a:defRPr/>
            </a:pPr>
            <a:r>
              <a:rPr lang="de-DE" sz="4800" b="0" spc="-124">
                <a:solidFill>
                  <a:srgbClr val="5DA2EE"/>
                </a:solidFill>
                <a:latin typeface="Yu Gothic UI Semibold"/>
                <a:ea typeface="Yu Gothic UI Semibold"/>
                <a:cs typeface="Yu Gothic UI Semibold"/>
              </a:rPr>
              <a:t>Data</a:t>
            </a:r>
            <a:r>
              <a:rPr lang="de-DE" sz="4800" b="0" spc="-124">
                <a:solidFill>
                  <a:srgbClr val="5DA2EE"/>
                </a:solidFill>
                <a:latin typeface="Yu Gothic UI Semibold"/>
                <a:ea typeface="Yu Gothic UI Semibold"/>
                <a:cs typeface="Yu Gothic UI Semibold"/>
              </a:rPr>
              <a:t> </a:t>
            </a:r>
            <a:r>
              <a:rPr lang="de-DE" sz="4800" b="0" spc="-124">
                <a:solidFill>
                  <a:srgbClr val="5DA2EE"/>
                </a:solidFill>
                <a:latin typeface="Yu Gothic UI Semibold"/>
                <a:ea typeface="Yu Gothic UI Semibold"/>
                <a:cs typeface="Yu Gothic UI Semibold"/>
              </a:rPr>
              <a:t>Pipeline </a:t>
            </a:r>
            <a:r>
              <a:rPr lang="de-DE" sz="4800" b="0" spc="-124">
                <a:solidFill>
                  <a:srgbClr val="5DA2EE"/>
                </a:solidFill>
                <a:latin typeface="Yu Gothic UI Semibold"/>
                <a:ea typeface="Yu Gothic UI Semibold"/>
                <a:cs typeface="Yu Gothic UI Semibold"/>
              </a:rPr>
              <a:t>Architecture</a:t>
            </a:r>
            <a:endParaRPr sz="4800" b="0">
              <a:solidFill>
                <a:srgbClr val="5DA2EE"/>
              </a:solidFill>
              <a:latin typeface="Yu Gothic UI Semibold"/>
              <a:cs typeface="Yu Gothic UI Semibold"/>
            </a:endParaRPr>
          </a:p>
        </p:txBody>
      </p:sp>
      <p:sp>
        <p:nvSpPr>
          <p:cNvPr id="1879622695" name="Text 13"/>
          <p:cNvSpPr/>
          <p:nvPr/>
        </p:nvSpPr>
        <p:spPr bwMode="auto">
          <a:xfrm rot="0" flipH="0" flipV="0">
            <a:off x="566928" y="1501139"/>
            <a:ext cx="2480225" cy="14247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122"/>
              </a:lnSpc>
              <a:buNone/>
              <a:defRPr/>
            </a:pPr>
            <a:r>
              <a:rPr lang="de-DE" sz="1100" b="1" spc="-5">
                <a:solidFill>
                  <a:srgbClr val="F1F5F9"/>
                </a:solidFill>
                <a:latin typeface="Verdana"/>
                <a:ea typeface="Verdana"/>
                <a:cs typeface="Verdana"/>
              </a:rPr>
              <a:t>Python | Selenium | Xvfb</a:t>
            </a:r>
            <a:endParaRPr lang="en-US" sz="1100"/>
          </a:p>
        </p:txBody>
      </p:sp>
      <p:sp>
        <p:nvSpPr>
          <p:cNvPr id="1919238323" name="Flowchart: Alternate process 1919238323"/>
          <p:cNvSpPr/>
          <p:nvPr/>
        </p:nvSpPr>
        <p:spPr bwMode="auto">
          <a:xfrm rot="0" flipH="0" flipV="0">
            <a:off x="3686555" y="1225296"/>
            <a:ext cx="2765535" cy="5175503"/>
          </a:xfrm>
          <a:prstGeom prst="flowChartAlternateProcess">
            <a:avLst/>
          </a:prstGeom>
          <a:solidFill>
            <a:schemeClr val="bg1">
              <a:alpha val="10000"/>
            </a:schemeClr>
          </a:solidFill>
          <a:ln w="28575" cap="flat" cmpd="sng" algn="ctr">
            <a:solidFill>
              <a:srgbClr val="5DA2EE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7960731" name="Text 11"/>
          <p:cNvSpPr/>
          <p:nvPr/>
        </p:nvSpPr>
        <p:spPr bwMode="auto">
          <a:xfrm rot="0" flipH="0" flipV="0">
            <a:off x="3870033" y="1586896"/>
            <a:ext cx="2363724" cy="19010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497"/>
              </a:lnSpc>
              <a:buNone/>
              <a:defRPr/>
            </a:pPr>
            <a:r>
              <a:rPr lang="de-DE" sz="1600" b="1" spc="18">
                <a:solidFill>
                  <a:srgbClr val="F8FAFC"/>
                </a:solidFill>
                <a:latin typeface="Verdana"/>
                <a:ea typeface="Verdana"/>
                <a:cs typeface="Verdana"/>
              </a:rPr>
              <a:t>What Airflow handles:</a:t>
            </a:r>
            <a:endParaRPr sz="1600" b="1"/>
          </a:p>
        </p:txBody>
      </p:sp>
      <p:pic>
        <p:nvPicPr>
          <p:cNvPr id="79663683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838949" y="1638620"/>
            <a:ext cx="4906350" cy="4365285"/>
          </a:xfrm>
          <a:prstGeom prst="rect">
            <a:avLst/>
          </a:prstGeom>
        </p:spPr>
      </p:pic>
      <p:sp>
        <p:nvSpPr>
          <p:cNvPr id="266251225" name="Text 2"/>
          <p:cNvSpPr/>
          <p:nvPr/>
        </p:nvSpPr>
        <p:spPr bwMode="auto">
          <a:xfrm rot="0" flipH="0" flipV="0">
            <a:off x="3932394" y="2166262"/>
            <a:ext cx="2239002" cy="1445617"/>
          </a:xfrm>
          <a:prstGeom prst="rect">
            <a:avLst/>
          </a:prstGeom>
          <a:noFill/>
          <a:ln/>
        </p:spPr>
        <p:txBody>
          <a:bodyPr vertOverflow="overflow" horzOverflow="overflow" vert="horz" wrap="square" lIns="0" tIns="0" rIns="0" bIns="0" numCol="1" spcCol="0" rtlCol="0" fromWordArt="0" anchor="t" anchorCtr="0" forceAA="0" upright="0" compatLnSpc="0"/>
          <a:lstStyle/>
          <a:p>
            <a:pPr marL="217793" indent="-217793" algn="l">
              <a:lnSpc>
                <a:spcPct val="150000"/>
              </a:lnSpc>
              <a:buFont typeface="Arial"/>
              <a:buChar char="–"/>
              <a:defRPr/>
            </a:pPr>
            <a:r>
              <a:rPr lang="de-DE" sz="1200" b="1" spc="-4">
                <a:solidFill>
                  <a:srgbClr val="F1F5F9"/>
                </a:solidFill>
                <a:latin typeface="Verdana"/>
                <a:ea typeface="Verdana"/>
                <a:cs typeface="Verdana"/>
              </a:rPr>
              <a:t>Workflow management</a:t>
            </a:r>
            <a:endParaRPr sz="1200" b="1" spc="-4">
              <a:solidFill>
                <a:srgbClr val="F1F5F9"/>
              </a:solidFill>
              <a:latin typeface="Verdana"/>
              <a:ea typeface="Verdana"/>
              <a:cs typeface="Verdana"/>
            </a:endParaRPr>
          </a:p>
          <a:p>
            <a:pPr marL="217793" indent="-217793" algn="l">
              <a:lnSpc>
                <a:spcPct val="150000"/>
              </a:lnSpc>
              <a:buFont typeface="Arial"/>
              <a:buChar char="–"/>
              <a:defRPr/>
            </a:pPr>
            <a:r>
              <a:rPr lang="de-DE" sz="1200" b="1" spc="-4">
                <a:solidFill>
                  <a:srgbClr val="F1F5F9"/>
                </a:solidFill>
                <a:latin typeface="Verdana"/>
                <a:ea typeface="Verdana"/>
                <a:cs typeface="Verdana"/>
              </a:rPr>
              <a:t>Task scheduling</a:t>
            </a:r>
            <a:endParaRPr sz="1200" b="1" spc="-4">
              <a:solidFill>
                <a:srgbClr val="F1F5F9"/>
              </a:solidFill>
              <a:latin typeface="Verdana"/>
              <a:ea typeface="Verdana"/>
              <a:cs typeface="Verdana"/>
            </a:endParaRPr>
          </a:p>
          <a:p>
            <a:pPr marL="217793" indent="-217793" algn="l">
              <a:lnSpc>
                <a:spcPct val="150000"/>
              </a:lnSpc>
              <a:buFont typeface="Arial"/>
              <a:buChar char="–"/>
              <a:defRPr/>
            </a:pPr>
            <a:r>
              <a:rPr lang="de-DE" sz="1200" b="1" spc="-4">
                <a:solidFill>
                  <a:srgbClr val="F1F5F9"/>
                </a:solidFill>
                <a:latin typeface="Verdana"/>
                <a:ea typeface="Verdana"/>
                <a:cs typeface="Verdana"/>
              </a:rPr>
              <a:t>Dependency </a:t>
            </a:r>
            <a:r>
              <a:rPr lang="de-DE" sz="1200" b="1" spc="-4">
                <a:solidFill>
                  <a:srgbClr val="F1F5F9"/>
                </a:solidFill>
                <a:latin typeface="Verdana"/>
                <a:ea typeface="Verdana"/>
                <a:cs typeface="Verdana"/>
              </a:rPr>
              <a:t>management</a:t>
            </a:r>
            <a:endParaRPr sz="1200" b="1" spc="-4">
              <a:solidFill>
                <a:srgbClr val="F1F5F9"/>
              </a:solidFill>
              <a:latin typeface="Verdana"/>
              <a:ea typeface="Verdana"/>
              <a:cs typeface="Verdana"/>
            </a:endParaRPr>
          </a:p>
          <a:p>
            <a:pPr marL="217793" indent="-217793" algn="l">
              <a:lnSpc>
                <a:spcPct val="150000"/>
              </a:lnSpc>
              <a:buFont typeface="Arial"/>
              <a:buChar char="–"/>
              <a:defRPr/>
            </a:pPr>
            <a:r>
              <a:rPr lang="de-DE" sz="1200" b="1" spc="-4">
                <a:solidFill>
                  <a:srgbClr val="F1F5F9"/>
                </a:solidFill>
                <a:latin typeface="Verdana"/>
                <a:ea typeface="Verdana"/>
                <a:cs typeface="Verdana"/>
              </a:rPr>
              <a:t>Monitoring &amp; alerting</a:t>
            </a:r>
            <a:endParaRPr sz="1200" b="1" spc="-4">
              <a:solidFill>
                <a:srgbClr val="F1F5F9"/>
              </a:solidFill>
              <a:latin typeface="Verdana"/>
              <a:ea typeface="Verdana"/>
              <a:cs typeface="Verdana"/>
            </a:endParaRPr>
          </a:p>
          <a:p>
            <a:pPr marL="217793" indent="-217793" algn="l">
              <a:lnSpc>
                <a:spcPct val="150000"/>
              </a:lnSpc>
              <a:buFont typeface="Arial"/>
              <a:buChar char="–"/>
              <a:defRPr/>
            </a:pPr>
            <a:endParaRPr sz="1200" b="1"/>
          </a:p>
        </p:txBody>
      </p:sp>
      <p:sp>
        <p:nvSpPr>
          <p:cNvPr id="522926723" name="Text 11"/>
          <p:cNvSpPr/>
          <p:nvPr/>
        </p:nvSpPr>
        <p:spPr bwMode="auto">
          <a:xfrm rot="0" flipH="0" flipV="0">
            <a:off x="3870033" y="4219416"/>
            <a:ext cx="2363724" cy="19010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497"/>
              </a:lnSpc>
              <a:buNone/>
              <a:defRPr/>
            </a:pPr>
            <a:r>
              <a:rPr lang="de-DE" sz="1600" b="1" spc="18">
                <a:solidFill>
                  <a:srgbClr val="F8FAFC"/>
                </a:solidFill>
                <a:latin typeface="Verdana"/>
                <a:ea typeface="Verdana"/>
                <a:cs typeface="Verdana"/>
              </a:rPr>
              <a:t>What it runs:</a:t>
            </a:r>
            <a:endParaRPr sz="1600" b="1"/>
          </a:p>
        </p:txBody>
      </p:sp>
      <p:sp>
        <p:nvSpPr>
          <p:cNvPr id="2845957" name="Text 2"/>
          <p:cNvSpPr/>
          <p:nvPr/>
        </p:nvSpPr>
        <p:spPr bwMode="auto">
          <a:xfrm rot="0" flipH="0" flipV="0">
            <a:off x="3870033" y="4718684"/>
            <a:ext cx="2239002" cy="1445617"/>
          </a:xfrm>
          <a:prstGeom prst="rect">
            <a:avLst/>
          </a:prstGeom>
          <a:noFill/>
          <a:ln/>
        </p:spPr>
        <p:txBody>
          <a:bodyPr vertOverflow="overflow" horzOverflow="overflow" vert="horz" wrap="square" lIns="0" tIns="0" rIns="0" bIns="0" numCol="1" spcCol="0" rtlCol="0" fromWordArt="0" anchor="t" anchorCtr="0" forceAA="0" upright="0" compatLnSpc="0"/>
          <a:lstStyle/>
          <a:p>
            <a:pPr marL="217793" indent="-217793" algn="l">
              <a:lnSpc>
                <a:spcPct val="150000"/>
              </a:lnSpc>
              <a:buFont typeface="Arial"/>
              <a:buChar char="–"/>
              <a:defRPr/>
            </a:pPr>
            <a:r>
              <a:rPr lang="de-DE" sz="1200" b="1" spc="-4">
                <a:solidFill>
                  <a:srgbClr val="F1F5F9"/>
                </a:solidFill>
                <a:latin typeface="Verdana"/>
                <a:ea typeface="Verdana"/>
                <a:cs typeface="Verdana"/>
              </a:rPr>
              <a:t>Python scraper</a:t>
            </a:r>
            <a:endParaRPr lang="de-DE" sz="1200" b="1" spc="-4">
              <a:solidFill>
                <a:srgbClr val="F1F5F9"/>
              </a:solidFill>
              <a:latin typeface="Verdana"/>
              <a:ea typeface="Verdana"/>
              <a:cs typeface="Verdana"/>
            </a:endParaRPr>
          </a:p>
          <a:p>
            <a:pPr marL="217793" indent="-217793" algn="l">
              <a:lnSpc>
                <a:spcPct val="150000"/>
              </a:lnSpc>
              <a:buFont typeface="Arial"/>
              <a:buChar char="–"/>
              <a:defRPr/>
            </a:pPr>
            <a:r>
              <a:rPr lang="de-DE" sz="1200" b="1" spc="-4">
                <a:solidFill>
                  <a:srgbClr val="F1F5F9"/>
                </a:solidFill>
                <a:latin typeface="Verdana"/>
                <a:ea typeface="Verdana"/>
                <a:cs typeface="Verdana"/>
              </a:rPr>
              <a:t>Dbt transformation script</a:t>
            </a:r>
            <a:endParaRPr lang="en-US" sz="1200" b="1" spc="-4">
              <a:solidFill>
                <a:srgbClr val="F1F5F9"/>
              </a:solidFill>
              <a:latin typeface="Verdana"/>
              <a:ea typeface="Verdana"/>
              <a:cs typeface="Verdana"/>
            </a:endParaRPr>
          </a:p>
          <a:p>
            <a:pPr marL="217793" indent="-217793" algn="l">
              <a:lnSpc>
                <a:spcPct val="150000"/>
              </a:lnSpc>
              <a:buFont typeface="Arial"/>
              <a:buChar char="–"/>
              <a:defRPr/>
            </a:pP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6">
    <p:bg>
      <p:bgPr shadeToTitle="0">
        <a:solidFill>
          <a:srgbClr val="0F17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9549440" name=""/>
          <p:cNvSpPr/>
          <p:nvPr/>
        </p:nvSpPr>
        <p:spPr bwMode="auto">
          <a:xfrm rot="0" flipH="0" flipV="0">
            <a:off x="320039" y="5478779"/>
            <a:ext cx="2977717" cy="1058846"/>
          </a:xfrm>
          <a:prstGeom prst="flowChartAlternateProcess">
            <a:avLst/>
          </a:prstGeom>
          <a:solidFill>
            <a:schemeClr val="bg1">
              <a:alpha val="10000"/>
            </a:schemeClr>
          </a:solidFill>
          <a:ln w="28575" cap="flat" cmpd="sng" algn="ctr">
            <a:solidFill>
              <a:schemeClr val="tx2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04472962" name=""/>
          <p:cNvSpPr/>
          <p:nvPr/>
        </p:nvSpPr>
        <p:spPr bwMode="auto">
          <a:xfrm rot="0" flipH="0" flipV="0">
            <a:off x="320039" y="4290059"/>
            <a:ext cx="2977717" cy="1058846"/>
          </a:xfrm>
          <a:prstGeom prst="flowChartAlternateProcess">
            <a:avLst/>
          </a:prstGeom>
          <a:solidFill>
            <a:schemeClr val="bg1">
              <a:alpha val="10000"/>
            </a:schemeClr>
          </a:solidFill>
          <a:ln w="28575" cap="flat" cmpd="sng" algn="ctr">
            <a:solidFill>
              <a:schemeClr val="tx2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3845576" name=""/>
          <p:cNvSpPr/>
          <p:nvPr/>
        </p:nvSpPr>
        <p:spPr bwMode="auto">
          <a:xfrm rot="0" flipH="0" flipV="0">
            <a:off x="338328" y="3101339"/>
            <a:ext cx="2977717" cy="1058846"/>
          </a:xfrm>
          <a:prstGeom prst="flowChartAlternateProcess">
            <a:avLst/>
          </a:prstGeom>
          <a:solidFill>
            <a:schemeClr val="bg1">
              <a:alpha val="10000"/>
            </a:schemeClr>
          </a:solidFill>
          <a:ln w="28575" cap="flat" cmpd="sng" algn="ctr">
            <a:solidFill>
              <a:srgbClr val="5DA2EE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8589055" name=""/>
          <p:cNvSpPr/>
          <p:nvPr/>
        </p:nvSpPr>
        <p:spPr bwMode="auto">
          <a:xfrm rot="0" flipH="0" flipV="0">
            <a:off x="338328" y="1912619"/>
            <a:ext cx="2977717" cy="1058846"/>
          </a:xfrm>
          <a:prstGeom prst="flowChartAlternateProcess">
            <a:avLst/>
          </a:prstGeom>
          <a:solidFill>
            <a:schemeClr val="bg1">
              <a:alpha val="10000"/>
            </a:schemeClr>
          </a:solidFill>
          <a:ln w="28575" cap="flat" cmpd="sng" algn="ctr">
            <a:solidFill>
              <a:schemeClr val="tx2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12762211" name=""/>
          <p:cNvSpPr/>
          <p:nvPr/>
        </p:nvSpPr>
        <p:spPr bwMode="auto">
          <a:xfrm rot="0" flipH="0" flipV="0">
            <a:off x="338328" y="723899"/>
            <a:ext cx="2977718" cy="1058846"/>
          </a:xfrm>
          <a:prstGeom prst="flowChartAlternateProcess">
            <a:avLst/>
          </a:prstGeom>
          <a:solidFill>
            <a:schemeClr val="bg1">
              <a:alpha val="10000"/>
            </a:schemeClr>
          </a:solidFill>
          <a:ln w="28575" cap="flat" cmpd="sng" algn="ctr">
            <a:solidFill>
              <a:schemeClr val="tx2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74135070" name="Text 0"/>
          <p:cNvSpPr/>
          <p:nvPr/>
        </p:nvSpPr>
        <p:spPr bwMode="auto">
          <a:xfrm rot="0" flipH="0" flipV="0">
            <a:off x="548639" y="3192779"/>
            <a:ext cx="1269723" cy="20220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93"/>
              </a:lnSpc>
              <a:buNone/>
              <a:defRPr/>
            </a:pPr>
            <a:r>
              <a:rPr lang="en-US" sz="1600" b="1" spc="11">
                <a:solidFill>
                  <a:srgbClr val="F8FAFC"/>
                </a:solidFill>
                <a:latin typeface="Verdana"/>
                <a:ea typeface="Verdana"/>
                <a:cs typeface="Verdana"/>
              </a:rPr>
              <a:t>Storage</a:t>
            </a:r>
            <a:endParaRPr lang="en-US" sz="1600"/>
          </a:p>
        </p:txBody>
      </p:sp>
      <p:sp>
        <p:nvSpPr>
          <p:cNvPr id="1699441482" name="Text 1"/>
          <p:cNvSpPr/>
          <p:nvPr/>
        </p:nvSpPr>
        <p:spPr bwMode="auto">
          <a:xfrm rot="0" flipH="0" flipV="0">
            <a:off x="548639" y="3421379"/>
            <a:ext cx="1049814" cy="12025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947"/>
              </a:lnSpc>
              <a:buNone/>
              <a:defRPr/>
            </a:pPr>
            <a:r>
              <a:rPr lang="en-US" sz="1000" spc="29">
                <a:solidFill>
                  <a:srgbClr val="94A3B8"/>
                </a:solidFill>
                <a:latin typeface="Lucida Sans Unicode"/>
                <a:ea typeface="Lucida Sans Unicode"/>
                <a:cs typeface="Lucida Sans Unicode"/>
              </a:rPr>
              <a:t>Database</a:t>
            </a:r>
            <a:endParaRPr lang="en-US" sz="1000"/>
          </a:p>
        </p:txBody>
      </p:sp>
      <p:sp>
        <p:nvSpPr>
          <p:cNvPr id="428665112" name="Text 2"/>
          <p:cNvSpPr/>
          <p:nvPr/>
        </p:nvSpPr>
        <p:spPr bwMode="auto">
          <a:xfrm rot="0" flipH="0" flipV="0">
            <a:off x="548639" y="3832859"/>
            <a:ext cx="2239002" cy="14803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165"/>
              </a:lnSpc>
              <a:buNone/>
              <a:defRPr/>
            </a:pPr>
            <a:r>
              <a:rPr lang="en-US" sz="1200" b="1" spc="-5">
                <a:solidFill>
                  <a:srgbClr val="F1F5F9"/>
                </a:solidFill>
                <a:latin typeface="Verdana"/>
                <a:ea typeface="Verdana"/>
                <a:cs typeface="Verdana"/>
              </a:rPr>
              <a:t>PostgreSQL</a:t>
            </a:r>
            <a:r>
              <a:rPr lang="de-DE" sz="1200" b="1" spc="-5">
                <a:solidFill>
                  <a:srgbClr val="F1F5F9"/>
                </a:solidFill>
                <a:latin typeface="Verdana"/>
                <a:ea typeface="Verdana"/>
                <a:cs typeface="Verdana"/>
              </a:rPr>
              <a:t> | NeonDB</a:t>
            </a:r>
            <a:endParaRPr lang="en-US" sz="1200"/>
          </a:p>
        </p:txBody>
      </p:sp>
      <p:sp>
        <p:nvSpPr>
          <p:cNvPr id="1160912120" name="Text 4"/>
          <p:cNvSpPr/>
          <p:nvPr/>
        </p:nvSpPr>
        <p:spPr bwMode="auto">
          <a:xfrm rot="0" flipH="0" flipV="0">
            <a:off x="548639" y="4427219"/>
            <a:ext cx="2546984" cy="19248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16"/>
              </a:lnSpc>
              <a:buNone/>
              <a:defRPr/>
            </a:pPr>
            <a:r>
              <a:rPr lang="en-US" sz="1600" b="1" spc="11">
                <a:solidFill>
                  <a:srgbClr val="F8FAFC"/>
                </a:solidFill>
                <a:latin typeface="Verdana"/>
                <a:ea typeface="Verdana"/>
                <a:cs typeface="Verdana"/>
              </a:rPr>
              <a:t>Transforma</a:t>
            </a:r>
            <a:r>
              <a:rPr lang="en-US" sz="1600" b="1" spc="5">
                <a:solidFill>
                  <a:srgbClr val="F8FAFC"/>
                </a:solidFill>
                <a:latin typeface="Verdana"/>
                <a:ea typeface="Verdana"/>
                <a:cs typeface="Verdana"/>
              </a:rPr>
              <a:t>tion</a:t>
            </a:r>
            <a:endParaRPr lang="en-US" sz="1600"/>
          </a:p>
        </p:txBody>
      </p:sp>
      <p:sp>
        <p:nvSpPr>
          <p:cNvPr id="538816239" name="Text 5"/>
          <p:cNvSpPr/>
          <p:nvPr/>
        </p:nvSpPr>
        <p:spPr bwMode="auto">
          <a:xfrm rot="0" flipH="0" flipV="0">
            <a:off x="548639" y="4655819"/>
            <a:ext cx="1497330" cy="13096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031"/>
              </a:lnSpc>
              <a:buNone/>
              <a:defRPr/>
            </a:pPr>
            <a:r>
              <a:rPr lang="en-US" sz="1000" spc="18">
                <a:solidFill>
                  <a:srgbClr val="94A3B8"/>
                </a:solidFill>
                <a:latin typeface="Lucida Sans Unicode"/>
                <a:ea typeface="Lucida Sans Unicode"/>
                <a:cs typeface="Lucida Sans Unicode"/>
              </a:rPr>
              <a:t>Data</a:t>
            </a:r>
            <a:r>
              <a:rPr lang="de-DE" sz="1000" spc="18">
                <a:solidFill>
                  <a:srgbClr val="94A3B8"/>
                </a:solidFill>
                <a:latin typeface="Lucida Sans Unicode"/>
                <a:ea typeface="Lucida Sans Unicode"/>
                <a:cs typeface="Lucida Sans Unicode"/>
              </a:rPr>
              <a:t> </a:t>
            </a:r>
            <a:r>
              <a:rPr lang="en-US" sz="1000" spc="18">
                <a:solidFill>
                  <a:srgbClr val="94A3B8"/>
                </a:solidFill>
                <a:latin typeface="Lucida Sans Unicode"/>
                <a:ea typeface="Lucida Sans Unicode"/>
                <a:cs typeface="Lucida Sans Unicode"/>
              </a:rPr>
              <a:t>Model</a:t>
            </a:r>
            <a:r>
              <a:rPr lang="en-US" sz="1000" spc="11">
                <a:solidFill>
                  <a:srgbClr val="94A3B8"/>
                </a:solidFill>
                <a:latin typeface="Lucida Sans Unicode"/>
                <a:ea typeface="Lucida Sans Unicode"/>
                <a:cs typeface="Lucida Sans Unicode"/>
              </a:rPr>
              <a:t>ing</a:t>
            </a:r>
            <a:endParaRPr lang="en-US" sz="1000"/>
          </a:p>
        </p:txBody>
      </p:sp>
      <p:sp>
        <p:nvSpPr>
          <p:cNvPr id="176684376" name="Text 6"/>
          <p:cNvSpPr/>
          <p:nvPr/>
        </p:nvSpPr>
        <p:spPr bwMode="auto">
          <a:xfrm rot="0" flipH="0" flipV="0">
            <a:off x="548639" y="5067299"/>
            <a:ext cx="1414938" cy="14247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122"/>
              </a:lnSpc>
              <a:buNone/>
              <a:defRPr/>
            </a:pPr>
            <a:r>
              <a:rPr lang="en-US" sz="1200" b="1" spc="-5">
                <a:solidFill>
                  <a:srgbClr val="F1F5F9"/>
                </a:solidFill>
                <a:latin typeface="Verdana"/>
                <a:ea typeface="Verdana"/>
                <a:cs typeface="Verdana"/>
              </a:rPr>
              <a:t>dbt</a:t>
            </a:r>
            <a:endParaRPr lang="en-US" sz="1200"/>
          </a:p>
        </p:txBody>
      </p:sp>
      <p:sp>
        <p:nvSpPr>
          <p:cNvPr id="1362610820" name="Text 7"/>
          <p:cNvSpPr/>
          <p:nvPr/>
        </p:nvSpPr>
        <p:spPr bwMode="auto">
          <a:xfrm rot="0" flipH="0" flipV="0">
            <a:off x="548639" y="861059"/>
            <a:ext cx="1631891" cy="20716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31"/>
              </a:lnSpc>
              <a:buNone/>
              <a:defRPr/>
            </a:pPr>
            <a:r>
              <a:rPr lang="en-US" sz="1600" b="1" spc="-11">
                <a:solidFill>
                  <a:srgbClr val="F8FAFC"/>
                </a:solidFill>
                <a:latin typeface="Verdana"/>
                <a:ea typeface="Verdana"/>
                <a:cs typeface="Verdana"/>
              </a:rPr>
              <a:t>Ingestion</a:t>
            </a:r>
            <a:endParaRPr lang="en-US" sz="1600"/>
          </a:p>
        </p:txBody>
      </p:sp>
      <p:sp>
        <p:nvSpPr>
          <p:cNvPr id="2118125172" name="Text 8"/>
          <p:cNvSpPr/>
          <p:nvPr/>
        </p:nvSpPr>
        <p:spPr bwMode="auto">
          <a:xfrm rot="0" flipH="0" flipV="0">
            <a:off x="548639" y="1089659"/>
            <a:ext cx="1099926" cy="22355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031"/>
              </a:lnSpc>
              <a:buNone/>
              <a:defRPr/>
            </a:pPr>
            <a:r>
              <a:rPr lang="en-US" sz="1000" spc="29">
                <a:solidFill>
                  <a:srgbClr val="94A3B8"/>
                </a:solidFill>
                <a:latin typeface="Lucida Sans Unicode"/>
                <a:ea typeface="Lucida Sans Unicode"/>
                <a:cs typeface="Lucida Sans Unicode"/>
              </a:rPr>
              <a:t>Web</a:t>
            </a:r>
            <a:r>
              <a:rPr lang="de-DE" sz="1000" spc="29">
                <a:solidFill>
                  <a:srgbClr val="94A3B8"/>
                </a:solidFill>
                <a:latin typeface="Lucida Sans Unicode"/>
                <a:ea typeface="Lucida Sans Unicode"/>
                <a:cs typeface="Lucida Sans Unicode"/>
              </a:rPr>
              <a:t> </a:t>
            </a:r>
            <a:r>
              <a:rPr lang="en-US" sz="1000" spc="29">
                <a:solidFill>
                  <a:srgbClr val="94A3B8"/>
                </a:solidFill>
                <a:latin typeface="Lucida Sans Unicode"/>
                <a:ea typeface="Lucida Sans Unicode"/>
                <a:cs typeface="Lucida Sans Unicode"/>
              </a:rPr>
              <a:t>Scrapin</a:t>
            </a:r>
            <a:r>
              <a:rPr lang="en-US" sz="1000" spc="23">
                <a:solidFill>
                  <a:srgbClr val="94A3B8"/>
                </a:solidFill>
                <a:latin typeface="Lucida Sans Unicode"/>
                <a:ea typeface="Lucida Sans Unicode"/>
                <a:cs typeface="Lucida Sans Unicode"/>
              </a:rPr>
              <a:t>g</a:t>
            </a:r>
            <a:endParaRPr lang="en-US" sz="1000"/>
          </a:p>
        </p:txBody>
      </p:sp>
      <p:sp>
        <p:nvSpPr>
          <p:cNvPr id="55957313" name="Text 11"/>
          <p:cNvSpPr/>
          <p:nvPr/>
        </p:nvSpPr>
        <p:spPr bwMode="auto">
          <a:xfrm rot="0" flipH="0" flipV="0">
            <a:off x="548639" y="2049779"/>
            <a:ext cx="2363724" cy="19010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497"/>
              </a:lnSpc>
              <a:buNone/>
              <a:defRPr/>
            </a:pPr>
            <a:r>
              <a:rPr lang="en-US" sz="1600" b="1" spc="18">
                <a:solidFill>
                  <a:srgbClr val="F8FAFC"/>
                </a:solidFill>
                <a:latin typeface="Verdana"/>
                <a:ea typeface="Verdana"/>
                <a:cs typeface="Verdana"/>
              </a:rPr>
              <a:t>Orchestrat</a:t>
            </a:r>
            <a:r>
              <a:rPr lang="en-US" sz="1600" b="1" spc="11">
                <a:solidFill>
                  <a:srgbClr val="F8FAFC"/>
                </a:solidFill>
                <a:latin typeface="Verdana"/>
                <a:ea typeface="Verdana"/>
                <a:cs typeface="Verdana"/>
              </a:rPr>
              <a:t>ion</a:t>
            </a:r>
            <a:endParaRPr lang="en-US" sz="1600"/>
          </a:p>
        </p:txBody>
      </p:sp>
      <p:sp>
        <p:nvSpPr>
          <p:cNvPr id="1448938513" name="Text 12"/>
          <p:cNvSpPr/>
          <p:nvPr/>
        </p:nvSpPr>
        <p:spPr bwMode="auto">
          <a:xfrm rot="0" flipH="0" flipV="0">
            <a:off x="566928" y="2278379"/>
            <a:ext cx="1438115" cy="13096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031"/>
              </a:lnSpc>
              <a:buNone/>
              <a:defRPr/>
            </a:pPr>
            <a:r>
              <a:rPr lang="en-US" sz="1000" spc="11">
                <a:solidFill>
                  <a:srgbClr val="94A3B8"/>
                </a:solidFill>
                <a:latin typeface="Lucida Sans Unicode"/>
                <a:ea typeface="Lucida Sans Unicode"/>
                <a:cs typeface="Lucida Sans Unicode"/>
              </a:rPr>
              <a:t>Task</a:t>
            </a:r>
            <a:r>
              <a:rPr lang="de-DE" sz="1000" spc="11">
                <a:solidFill>
                  <a:srgbClr val="94A3B8"/>
                </a:solidFill>
                <a:latin typeface="Lucida Sans Unicode"/>
                <a:ea typeface="Lucida Sans Unicode"/>
                <a:cs typeface="Lucida Sans Unicode"/>
              </a:rPr>
              <a:t> </a:t>
            </a:r>
            <a:r>
              <a:rPr lang="en-US" sz="1000" spc="11">
                <a:solidFill>
                  <a:srgbClr val="94A3B8"/>
                </a:solidFill>
                <a:latin typeface="Lucida Sans Unicode"/>
                <a:ea typeface="Lucida Sans Unicode"/>
                <a:cs typeface="Lucida Sans Unicode"/>
              </a:rPr>
              <a:t>Scheduling</a:t>
            </a:r>
            <a:endParaRPr lang="en-US" sz="1000"/>
          </a:p>
        </p:txBody>
      </p:sp>
      <p:sp>
        <p:nvSpPr>
          <p:cNvPr id="1013556648" name="Text 13"/>
          <p:cNvSpPr/>
          <p:nvPr/>
        </p:nvSpPr>
        <p:spPr bwMode="auto">
          <a:xfrm rot="0" flipH="0" flipV="0">
            <a:off x="548639" y="2689859"/>
            <a:ext cx="1557654" cy="14247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122"/>
              </a:lnSpc>
              <a:buNone/>
              <a:defRPr/>
            </a:pPr>
            <a:r>
              <a:rPr lang="en-US" sz="1100" b="1" spc="-5">
                <a:solidFill>
                  <a:srgbClr val="F1F5F9"/>
                </a:solidFill>
                <a:latin typeface="Verdana"/>
                <a:ea typeface="Verdana"/>
                <a:cs typeface="Verdana"/>
              </a:rPr>
              <a:t>Airﬂow</a:t>
            </a:r>
            <a:endParaRPr lang="en-US" sz="1100"/>
          </a:p>
        </p:txBody>
      </p:sp>
      <p:sp>
        <p:nvSpPr>
          <p:cNvPr id="938507955" name="Text 14"/>
          <p:cNvSpPr/>
          <p:nvPr/>
        </p:nvSpPr>
        <p:spPr bwMode="auto">
          <a:xfrm rot="0" flipH="0" flipV="0">
            <a:off x="548639" y="5570219"/>
            <a:ext cx="1264797" cy="20716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31"/>
              </a:lnSpc>
              <a:buNone/>
              <a:defRPr/>
            </a:pPr>
            <a:r>
              <a:rPr lang="en-US" sz="1600" b="1" spc="5">
                <a:solidFill>
                  <a:srgbClr val="F8FAFC"/>
                </a:solidFill>
                <a:latin typeface="Verdana"/>
                <a:ea typeface="Verdana"/>
                <a:cs typeface="Verdana"/>
              </a:rPr>
              <a:t>Serving</a:t>
            </a:r>
            <a:endParaRPr lang="en-US" sz="1600"/>
          </a:p>
        </p:txBody>
      </p:sp>
      <p:sp>
        <p:nvSpPr>
          <p:cNvPr id="840957416" name="Text 15"/>
          <p:cNvSpPr/>
          <p:nvPr/>
        </p:nvSpPr>
        <p:spPr bwMode="auto">
          <a:xfrm rot="0" flipH="0" flipV="0">
            <a:off x="548639" y="5798819"/>
            <a:ext cx="1244727" cy="12025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947"/>
              </a:lnSpc>
              <a:buNone/>
              <a:defRPr/>
            </a:pPr>
            <a:r>
              <a:rPr lang="en-US" sz="1000" spc="18">
                <a:solidFill>
                  <a:srgbClr val="94A3B8"/>
                </a:solidFill>
                <a:latin typeface="Lucida Sans Unicode"/>
                <a:ea typeface="Lucida Sans Unicode"/>
                <a:cs typeface="Lucida Sans Unicode"/>
              </a:rPr>
              <a:t>UI</a:t>
            </a:r>
            <a:r>
              <a:rPr lang="de-DE" sz="1000" spc="18">
                <a:solidFill>
                  <a:srgbClr val="94A3B8"/>
                </a:solidFill>
                <a:latin typeface="Lucida Sans Unicode"/>
                <a:ea typeface="Lucida Sans Unicode"/>
                <a:cs typeface="Lucida Sans Unicode"/>
              </a:rPr>
              <a:t> </a:t>
            </a:r>
            <a:r>
              <a:rPr lang="en-US" sz="1000" spc="18">
                <a:solidFill>
                  <a:srgbClr val="94A3B8"/>
                </a:solidFill>
                <a:latin typeface="Lucida Sans Unicode"/>
                <a:ea typeface="Lucida Sans Unicode"/>
                <a:cs typeface="Lucida Sans Unicode"/>
              </a:rPr>
              <a:t>Dashboa</a:t>
            </a:r>
            <a:r>
              <a:rPr lang="en-US" sz="1000" spc="11">
                <a:solidFill>
                  <a:srgbClr val="94A3B8"/>
                </a:solidFill>
                <a:latin typeface="Lucida Sans Unicode"/>
                <a:ea typeface="Lucida Sans Unicode"/>
                <a:cs typeface="Lucida Sans Unicode"/>
              </a:rPr>
              <a:t>rd</a:t>
            </a:r>
            <a:endParaRPr lang="en-US" sz="1000"/>
          </a:p>
        </p:txBody>
      </p:sp>
      <p:sp>
        <p:nvSpPr>
          <p:cNvPr id="1987435888" name="Text 16"/>
          <p:cNvSpPr/>
          <p:nvPr/>
        </p:nvSpPr>
        <p:spPr bwMode="auto">
          <a:xfrm rot="0" flipH="0" flipV="0">
            <a:off x="548639" y="6210299"/>
            <a:ext cx="1234440" cy="14247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122"/>
              </a:lnSpc>
              <a:buNone/>
              <a:defRPr/>
            </a:pPr>
            <a:r>
              <a:rPr lang="en-US" sz="1200" b="1" spc="-5">
                <a:solidFill>
                  <a:srgbClr val="F1F5F9"/>
                </a:solidFill>
                <a:latin typeface="Verdana"/>
                <a:ea typeface="Verdana"/>
                <a:cs typeface="Verdana"/>
              </a:rPr>
              <a:t>Streamlit</a:t>
            </a:r>
            <a:endParaRPr lang="en-US" sz="1200"/>
          </a:p>
        </p:txBody>
      </p:sp>
      <p:sp>
        <p:nvSpPr>
          <p:cNvPr id="230157937" name=""/>
          <p:cNvSpPr txBox="1"/>
          <p:nvPr/>
        </p:nvSpPr>
        <p:spPr bwMode="auto">
          <a:xfrm flipH="0" flipV="0">
            <a:off x="3690727" y="573349"/>
            <a:ext cx="183636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239305023" name="Text 0"/>
          <p:cNvSpPr/>
          <p:nvPr/>
        </p:nvSpPr>
        <p:spPr bwMode="auto">
          <a:xfrm flipH="0" flipV="0">
            <a:off x="3530946" y="106427"/>
            <a:ext cx="8451887" cy="8046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6335"/>
              </a:lnSpc>
              <a:buNone/>
              <a:defRPr/>
            </a:pPr>
            <a:r>
              <a:rPr lang="de-DE" sz="4800" b="0" spc="-124">
                <a:solidFill>
                  <a:srgbClr val="5DA2EE"/>
                </a:solidFill>
                <a:latin typeface="Yu Gothic UI Semibold"/>
                <a:ea typeface="Yu Gothic UI Semibold"/>
                <a:cs typeface="Yu Gothic UI Semibold"/>
              </a:rPr>
              <a:t>Data</a:t>
            </a:r>
            <a:r>
              <a:rPr lang="de-DE" sz="4800" b="0" spc="-124">
                <a:solidFill>
                  <a:srgbClr val="5DA2EE"/>
                </a:solidFill>
                <a:latin typeface="Yu Gothic UI Semibold"/>
                <a:ea typeface="Yu Gothic UI Semibold"/>
                <a:cs typeface="Yu Gothic UI Semibold"/>
              </a:rPr>
              <a:t> </a:t>
            </a:r>
            <a:r>
              <a:rPr lang="de-DE" sz="4800" b="0" spc="-124">
                <a:solidFill>
                  <a:srgbClr val="5DA2EE"/>
                </a:solidFill>
                <a:latin typeface="Yu Gothic UI Semibold"/>
                <a:ea typeface="Yu Gothic UI Semibold"/>
                <a:cs typeface="Yu Gothic UI Semibold"/>
              </a:rPr>
              <a:t>Pipeline </a:t>
            </a:r>
            <a:r>
              <a:rPr lang="de-DE" sz="4800" b="0" spc="-124">
                <a:solidFill>
                  <a:srgbClr val="5DA2EE"/>
                </a:solidFill>
                <a:latin typeface="Yu Gothic UI Semibold"/>
                <a:ea typeface="Yu Gothic UI Semibold"/>
                <a:cs typeface="Yu Gothic UI Semibold"/>
              </a:rPr>
              <a:t>Architecture</a:t>
            </a:r>
            <a:endParaRPr sz="4800" b="0">
              <a:solidFill>
                <a:srgbClr val="5DA2EE"/>
              </a:solidFill>
              <a:latin typeface="Yu Gothic UI Semibold"/>
              <a:cs typeface="Yu Gothic UI Semibold"/>
            </a:endParaRPr>
          </a:p>
        </p:txBody>
      </p:sp>
      <p:sp>
        <p:nvSpPr>
          <p:cNvPr id="310065273" name="Text 13"/>
          <p:cNvSpPr/>
          <p:nvPr/>
        </p:nvSpPr>
        <p:spPr bwMode="auto">
          <a:xfrm rot="0" flipH="0" flipV="0">
            <a:off x="566928" y="1501139"/>
            <a:ext cx="2480225" cy="14247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122"/>
              </a:lnSpc>
              <a:buNone/>
              <a:defRPr/>
            </a:pPr>
            <a:r>
              <a:rPr lang="de-DE" sz="1100" b="1" spc="-5">
                <a:solidFill>
                  <a:srgbClr val="F1F5F9"/>
                </a:solidFill>
                <a:latin typeface="Verdana"/>
                <a:ea typeface="Verdana"/>
                <a:cs typeface="Verdana"/>
              </a:rPr>
              <a:t>Python | Selenium | Xvfb</a:t>
            </a:r>
            <a:endParaRPr lang="en-US" sz="1100"/>
          </a:p>
        </p:txBody>
      </p:sp>
      <p:sp>
        <p:nvSpPr>
          <p:cNvPr id="1794245163" name="Flowchart: Alternate process 1919238323"/>
          <p:cNvSpPr/>
          <p:nvPr/>
        </p:nvSpPr>
        <p:spPr bwMode="auto">
          <a:xfrm rot="0" flipH="0" flipV="0">
            <a:off x="3686554" y="1225296"/>
            <a:ext cx="2765534" cy="5175502"/>
          </a:xfrm>
          <a:prstGeom prst="flowChartAlternateProcess">
            <a:avLst/>
          </a:prstGeom>
          <a:solidFill>
            <a:schemeClr val="bg1">
              <a:alpha val="10000"/>
            </a:schemeClr>
          </a:solidFill>
          <a:ln w="28575" cap="flat" cmpd="sng" algn="ctr">
            <a:solidFill>
              <a:srgbClr val="5DA2EE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9800258" name="Text 11"/>
          <p:cNvSpPr/>
          <p:nvPr/>
        </p:nvSpPr>
        <p:spPr bwMode="auto">
          <a:xfrm rot="0" flipH="0" flipV="0">
            <a:off x="3870033" y="1586896"/>
            <a:ext cx="2363724" cy="19010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497"/>
              </a:lnSpc>
              <a:buNone/>
              <a:defRPr/>
            </a:pPr>
            <a:r>
              <a:rPr lang="de-DE" sz="1600" b="1" spc="18">
                <a:solidFill>
                  <a:srgbClr val="F8FAFC"/>
                </a:solidFill>
                <a:latin typeface="Verdana"/>
                <a:ea typeface="Verdana"/>
                <a:cs typeface="Verdana"/>
              </a:rPr>
              <a:t>Postgres for</a:t>
            </a:r>
            <a:endParaRPr sz="1600" b="1"/>
          </a:p>
        </p:txBody>
      </p:sp>
      <p:sp>
        <p:nvSpPr>
          <p:cNvPr id="167566485" name="Text 2"/>
          <p:cNvSpPr/>
          <p:nvPr/>
        </p:nvSpPr>
        <p:spPr bwMode="auto">
          <a:xfrm rot="0" flipH="0" flipV="0">
            <a:off x="3932394" y="2166261"/>
            <a:ext cx="2239002" cy="1445616"/>
          </a:xfrm>
          <a:prstGeom prst="rect">
            <a:avLst/>
          </a:prstGeom>
          <a:noFill/>
          <a:ln/>
        </p:spPr>
        <p:txBody>
          <a:bodyPr vertOverflow="overflow" horzOverflow="overflow" vert="horz" wrap="square" lIns="0" tIns="0" rIns="0" bIns="0" numCol="1" spcCol="0" rtlCol="0" fromWordArt="0" anchor="t" anchorCtr="0" forceAA="0" upright="0" compatLnSpc="0"/>
          <a:lstStyle/>
          <a:p>
            <a:pPr marL="217792" indent="-217792" algn="l">
              <a:lnSpc>
                <a:spcPct val="150000"/>
              </a:lnSpc>
              <a:buFont typeface="Arial"/>
              <a:buChar char="–"/>
              <a:defRPr/>
            </a:pPr>
            <a:r>
              <a:rPr lang="de-DE" sz="1200" b="1" spc="-4">
                <a:solidFill>
                  <a:srgbClr val="F1F5F9"/>
                </a:solidFill>
                <a:latin typeface="Verdana"/>
                <a:ea typeface="Verdana"/>
                <a:cs typeface="Verdana"/>
              </a:rPr>
              <a:t>Storing fetched data as bronze layer (raw)</a:t>
            </a:r>
            <a:endParaRPr lang="de-DE" sz="1200" b="1" spc="-4">
              <a:solidFill>
                <a:srgbClr val="F1F5F9"/>
              </a:solidFill>
              <a:latin typeface="Verdana"/>
              <a:ea typeface="Verdana"/>
              <a:cs typeface="Verdana"/>
            </a:endParaRPr>
          </a:p>
          <a:p>
            <a:pPr marL="217792" indent="-217792" algn="l">
              <a:lnSpc>
                <a:spcPct val="150000"/>
              </a:lnSpc>
              <a:buFont typeface="Arial"/>
              <a:buChar char="–"/>
              <a:defRPr/>
            </a:pPr>
            <a:r>
              <a:rPr lang="de-DE" sz="1200" b="1" spc="-4">
                <a:solidFill>
                  <a:srgbClr val="F1F5F9"/>
                </a:solidFill>
                <a:latin typeface="Verdana"/>
                <a:ea typeface="Verdana"/>
                <a:cs typeface="Verdana"/>
              </a:rPr>
              <a:t>Data cleaning &amp; transformation to silver layer</a:t>
            </a:r>
            <a:endParaRPr lang="de-DE" sz="1200" b="1" spc="-4">
              <a:solidFill>
                <a:srgbClr val="F1F5F9"/>
              </a:solidFill>
              <a:latin typeface="Verdana"/>
              <a:ea typeface="Verdana"/>
              <a:cs typeface="Verdana"/>
            </a:endParaRPr>
          </a:p>
          <a:p>
            <a:pPr marL="217792" indent="-217792" algn="l">
              <a:lnSpc>
                <a:spcPct val="150000"/>
              </a:lnSpc>
              <a:buFont typeface="Arial"/>
              <a:buChar char="–"/>
              <a:defRPr/>
            </a:pPr>
            <a:r>
              <a:rPr lang="de-DE" sz="1200" b="1" spc="-4">
                <a:solidFill>
                  <a:srgbClr val="F1F5F9"/>
                </a:solidFill>
                <a:latin typeface="Verdana"/>
                <a:ea typeface="Verdana"/>
                <a:cs typeface="Verdana"/>
              </a:rPr>
              <a:t>Aggregation to gold layer</a:t>
            </a:r>
            <a:endParaRPr lang="en-US" sz="1200" b="1" spc="-4">
              <a:solidFill>
                <a:srgbClr val="F1F5F9"/>
              </a:solidFill>
              <a:latin typeface="Verdana"/>
              <a:ea typeface="Verdana"/>
              <a:cs typeface="Verdana"/>
            </a:endParaRPr>
          </a:p>
          <a:p>
            <a:pPr marL="217792" indent="-217792" algn="l">
              <a:lnSpc>
                <a:spcPct val="150000"/>
              </a:lnSpc>
              <a:buFont typeface="Arial"/>
              <a:buChar char="–"/>
              <a:defRPr/>
            </a:pPr>
            <a:endParaRPr lang="en-US" sz="1200"/>
          </a:p>
        </p:txBody>
      </p:sp>
      <p:sp>
        <p:nvSpPr>
          <p:cNvPr id="1828850066" name="Text 11"/>
          <p:cNvSpPr/>
          <p:nvPr/>
        </p:nvSpPr>
        <p:spPr bwMode="auto">
          <a:xfrm rot="0" flipH="0" flipV="0">
            <a:off x="3870033" y="4600416"/>
            <a:ext cx="2363724" cy="19010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497"/>
              </a:lnSpc>
              <a:buNone/>
              <a:defRPr/>
            </a:pPr>
            <a:r>
              <a:rPr lang="de-DE" sz="1600" b="1" spc="18">
                <a:solidFill>
                  <a:srgbClr val="F8FAFC"/>
                </a:solidFill>
                <a:latin typeface="Verdana"/>
                <a:ea typeface="Verdana"/>
                <a:cs typeface="Verdana"/>
              </a:rPr>
              <a:t>Neon DB for</a:t>
            </a:r>
            <a:endParaRPr sz="1600" b="1"/>
          </a:p>
        </p:txBody>
      </p:sp>
      <p:sp>
        <p:nvSpPr>
          <p:cNvPr id="1221254848" name="Text 2"/>
          <p:cNvSpPr/>
          <p:nvPr/>
        </p:nvSpPr>
        <p:spPr bwMode="auto">
          <a:xfrm rot="0" flipH="0" flipV="0">
            <a:off x="3870033" y="5099684"/>
            <a:ext cx="2239002" cy="1445616"/>
          </a:xfrm>
          <a:prstGeom prst="rect">
            <a:avLst/>
          </a:prstGeom>
          <a:noFill/>
          <a:ln/>
        </p:spPr>
        <p:txBody>
          <a:bodyPr vertOverflow="overflow" horzOverflow="overflow" vert="horz" wrap="square" lIns="0" tIns="0" rIns="0" bIns="0" numCol="1" spcCol="0" rtlCol="0" fromWordArt="0" anchor="t" anchorCtr="0" forceAA="0" upright="0" compatLnSpc="0"/>
          <a:lstStyle/>
          <a:p>
            <a:pPr marL="217792" indent="-217792" algn="l">
              <a:lnSpc>
                <a:spcPct val="150000"/>
              </a:lnSpc>
              <a:buFont typeface="Arial"/>
              <a:buChar char="–"/>
              <a:defRPr/>
            </a:pPr>
            <a:r>
              <a:rPr lang="de-DE" sz="1200" b="1" spc="-4">
                <a:solidFill>
                  <a:srgbClr val="F1F5F9"/>
                </a:solidFill>
                <a:latin typeface="Verdana"/>
                <a:ea typeface="Verdana"/>
                <a:cs typeface="Verdana"/>
              </a:rPr>
              <a:t>Storing postgres data in cloud</a:t>
            </a:r>
            <a:endParaRPr lang="de-DE" sz="1200" b="1" spc="-4">
              <a:solidFill>
                <a:srgbClr val="F1F5F9"/>
              </a:solidFill>
              <a:latin typeface="Verdana"/>
              <a:ea typeface="Verdana"/>
              <a:cs typeface="Verdana"/>
            </a:endParaRPr>
          </a:p>
          <a:p>
            <a:pPr marL="217792" indent="-217792" algn="l">
              <a:lnSpc>
                <a:spcPct val="150000"/>
              </a:lnSpc>
              <a:buFont typeface="Arial"/>
              <a:buChar char="–"/>
              <a:defRPr/>
            </a:pPr>
            <a:r>
              <a:rPr lang="de-DE" sz="1200" b="1" spc="-4">
                <a:solidFill>
                  <a:srgbClr val="F1F5F9"/>
                </a:solidFill>
                <a:latin typeface="Verdana"/>
                <a:ea typeface="Verdana"/>
                <a:cs typeface="Verdana"/>
              </a:rPr>
              <a:t>Free-tier; not limited by time</a:t>
            </a:r>
            <a:endParaRPr lang="en-US" sz="1200" b="1" spc="-4">
              <a:solidFill>
                <a:srgbClr val="F1F5F9"/>
              </a:solidFill>
              <a:latin typeface="Verdana"/>
              <a:ea typeface="Verdana"/>
              <a:cs typeface="Verdana"/>
            </a:endParaRPr>
          </a:p>
          <a:p>
            <a:pPr marL="217792" indent="-217792" algn="l">
              <a:lnSpc>
                <a:spcPct val="150000"/>
              </a:lnSpc>
              <a:buFont typeface="Arial"/>
              <a:buChar char="–"/>
              <a:defRPr/>
            </a:pPr>
            <a:endParaRPr lang="en-US" sz="1200"/>
          </a:p>
        </p:txBody>
      </p:sp>
      <p:pic>
        <p:nvPicPr>
          <p:cNvPr id="7119681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819665" y="1984372"/>
            <a:ext cx="5067919" cy="349551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6">
    <p:bg>
      <p:bgPr shadeToTitle="0">
        <a:solidFill>
          <a:srgbClr val="0F17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6753071" name=""/>
          <p:cNvSpPr/>
          <p:nvPr/>
        </p:nvSpPr>
        <p:spPr bwMode="auto">
          <a:xfrm rot="0" flipH="0" flipV="0">
            <a:off x="320039" y="5478779"/>
            <a:ext cx="2977717" cy="1058846"/>
          </a:xfrm>
          <a:prstGeom prst="flowChartAlternateProcess">
            <a:avLst/>
          </a:prstGeom>
          <a:solidFill>
            <a:schemeClr val="bg1">
              <a:alpha val="10000"/>
            </a:schemeClr>
          </a:solidFill>
          <a:ln w="28575" cap="flat" cmpd="sng" algn="ctr">
            <a:solidFill>
              <a:schemeClr val="tx2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24641872" name=""/>
          <p:cNvSpPr/>
          <p:nvPr/>
        </p:nvSpPr>
        <p:spPr bwMode="auto">
          <a:xfrm rot="0" flipH="0" flipV="0">
            <a:off x="320039" y="4290059"/>
            <a:ext cx="2977717" cy="1058846"/>
          </a:xfrm>
          <a:prstGeom prst="flowChartAlternateProcess">
            <a:avLst/>
          </a:prstGeom>
          <a:solidFill>
            <a:schemeClr val="bg1">
              <a:alpha val="10000"/>
            </a:schemeClr>
          </a:solidFill>
          <a:ln w="28575" cap="flat" cmpd="sng" algn="ctr">
            <a:solidFill>
              <a:srgbClr val="5DA2EE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44751672" name=""/>
          <p:cNvSpPr/>
          <p:nvPr/>
        </p:nvSpPr>
        <p:spPr bwMode="auto">
          <a:xfrm rot="0" flipH="0" flipV="0">
            <a:off x="338328" y="3101339"/>
            <a:ext cx="2977717" cy="1058846"/>
          </a:xfrm>
          <a:prstGeom prst="flowChartAlternateProcess">
            <a:avLst/>
          </a:prstGeom>
          <a:solidFill>
            <a:schemeClr val="bg1">
              <a:alpha val="10000"/>
            </a:schemeClr>
          </a:solidFill>
          <a:ln w="28575" cap="flat" cmpd="sng" algn="ctr">
            <a:solidFill>
              <a:schemeClr val="tx2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27939822" name=""/>
          <p:cNvSpPr/>
          <p:nvPr/>
        </p:nvSpPr>
        <p:spPr bwMode="auto">
          <a:xfrm rot="0" flipH="0" flipV="0">
            <a:off x="338328" y="1912619"/>
            <a:ext cx="2977717" cy="1058846"/>
          </a:xfrm>
          <a:prstGeom prst="flowChartAlternateProcess">
            <a:avLst/>
          </a:prstGeom>
          <a:solidFill>
            <a:schemeClr val="bg1">
              <a:alpha val="10000"/>
            </a:schemeClr>
          </a:solidFill>
          <a:ln w="28575" cap="flat" cmpd="sng" algn="ctr">
            <a:solidFill>
              <a:schemeClr val="tx2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34458954" name=""/>
          <p:cNvSpPr/>
          <p:nvPr/>
        </p:nvSpPr>
        <p:spPr bwMode="auto">
          <a:xfrm rot="0" flipH="0" flipV="0">
            <a:off x="338328" y="723899"/>
            <a:ext cx="2977718" cy="1058846"/>
          </a:xfrm>
          <a:prstGeom prst="flowChartAlternateProcess">
            <a:avLst/>
          </a:prstGeom>
          <a:solidFill>
            <a:schemeClr val="bg1">
              <a:alpha val="10000"/>
            </a:schemeClr>
          </a:solidFill>
          <a:ln w="28575" cap="flat" cmpd="sng" algn="ctr">
            <a:solidFill>
              <a:schemeClr val="tx2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88645157" name="Text 0"/>
          <p:cNvSpPr/>
          <p:nvPr/>
        </p:nvSpPr>
        <p:spPr bwMode="auto">
          <a:xfrm rot="0" flipH="0" flipV="0">
            <a:off x="548639" y="3192779"/>
            <a:ext cx="1269723" cy="20220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93"/>
              </a:lnSpc>
              <a:buNone/>
              <a:defRPr/>
            </a:pPr>
            <a:r>
              <a:rPr lang="en-US" sz="1600" b="1" spc="11">
                <a:solidFill>
                  <a:srgbClr val="F8FAFC"/>
                </a:solidFill>
                <a:latin typeface="Verdana"/>
                <a:ea typeface="Verdana"/>
                <a:cs typeface="Verdana"/>
              </a:rPr>
              <a:t>Storage</a:t>
            </a:r>
            <a:endParaRPr lang="en-US" sz="1600"/>
          </a:p>
        </p:txBody>
      </p:sp>
      <p:sp>
        <p:nvSpPr>
          <p:cNvPr id="1940701673" name="Text 1"/>
          <p:cNvSpPr/>
          <p:nvPr/>
        </p:nvSpPr>
        <p:spPr bwMode="auto">
          <a:xfrm rot="0" flipH="0" flipV="0">
            <a:off x="548639" y="3421379"/>
            <a:ext cx="1049814" cy="12025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947"/>
              </a:lnSpc>
              <a:buNone/>
              <a:defRPr/>
            </a:pPr>
            <a:r>
              <a:rPr lang="en-US" sz="1000" spc="29">
                <a:solidFill>
                  <a:srgbClr val="94A3B8"/>
                </a:solidFill>
                <a:latin typeface="Lucida Sans Unicode"/>
                <a:ea typeface="Lucida Sans Unicode"/>
                <a:cs typeface="Lucida Sans Unicode"/>
              </a:rPr>
              <a:t>Database</a:t>
            </a:r>
            <a:endParaRPr lang="en-US" sz="1000"/>
          </a:p>
        </p:txBody>
      </p:sp>
      <p:sp>
        <p:nvSpPr>
          <p:cNvPr id="2027993003" name="Text 2"/>
          <p:cNvSpPr/>
          <p:nvPr/>
        </p:nvSpPr>
        <p:spPr bwMode="auto">
          <a:xfrm rot="0" flipH="0" flipV="0">
            <a:off x="548639" y="3832859"/>
            <a:ext cx="2239002" cy="14803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165"/>
              </a:lnSpc>
              <a:buNone/>
              <a:defRPr/>
            </a:pPr>
            <a:r>
              <a:rPr lang="en-US" sz="1200" b="1" spc="-5">
                <a:solidFill>
                  <a:srgbClr val="F1F5F9"/>
                </a:solidFill>
                <a:latin typeface="Verdana"/>
                <a:ea typeface="Verdana"/>
                <a:cs typeface="Verdana"/>
              </a:rPr>
              <a:t>PostgreSQL</a:t>
            </a:r>
            <a:r>
              <a:rPr lang="de-DE" sz="1200" b="1" spc="-5">
                <a:solidFill>
                  <a:srgbClr val="F1F5F9"/>
                </a:solidFill>
                <a:latin typeface="Verdana"/>
                <a:ea typeface="Verdana"/>
                <a:cs typeface="Verdana"/>
              </a:rPr>
              <a:t> | NeonDB</a:t>
            </a:r>
            <a:endParaRPr lang="en-US" sz="1200"/>
          </a:p>
        </p:txBody>
      </p:sp>
      <p:sp>
        <p:nvSpPr>
          <p:cNvPr id="1533729529" name="Text 4"/>
          <p:cNvSpPr/>
          <p:nvPr/>
        </p:nvSpPr>
        <p:spPr bwMode="auto">
          <a:xfrm rot="0" flipH="0" flipV="0">
            <a:off x="548639" y="4427219"/>
            <a:ext cx="2546984" cy="19248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16"/>
              </a:lnSpc>
              <a:buNone/>
              <a:defRPr/>
            </a:pPr>
            <a:r>
              <a:rPr lang="en-US" sz="1600" b="1" spc="11">
                <a:solidFill>
                  <a:srgbClr val="F8FAFC"/>
                </a:solidFill>
                <a:latin typeface="Verdana"/>
                <a:ea typeface="Verdana"/>
                <a:cs typeface="Verdana"/>
              </a:rPr>
              <a:t>Transforma</a:t>
            </a:r>
            <a:r>
              <a:rPr lang="en-US" sz="1600" b="1" spc="5">
                <a:solidFill>
                  <a:srgbClr val="F8FAFC"/>
                </a:solidFill>
                <a:latin typeface="Verdana"/>
                <a:ea typeface="Verdana"/>
                <a:cs typeface="Verdana"/>
              </a:rPr>
              <a:t>tion</a:t>
            </a:r>
            <a:endParaRPr lang="en-US" sz="1600"/>
          </a:p>
        </p:txBody>
      </p:sp>
      <p:sp>
        <p:nvSpPr>
          <p:cNvPr id="562048034" name="Text 5"/>
          <p:cNvSpPr/>
          <p:nvPr/>
        </p:nvSpPr>
        <p:spPr bwMode="auto">
          <a:xfrm rot="0" flipH="0" flipV="0">
            <a:off x="548639" y="4655819"/>
            <a:ext cx="1497330" cy="13096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031"/>
              </a:lnSpc>
              <a:buNone/>
              <a:defRPr/>
            </a:pPr>
            <a:r>
              <a:rPr lang="en-US" sz="1000" spc="18">
                <a:solidFill>
                  <a:srgbClr val="94A3B8"/>
                </a:solidFill>
                <a:latin typeface="Lucida Sans Unicode"/>
                <a:ea typeface="Lucida Sans Unicode"/>
                <a:cs typeface="Lucida Sans Unicode"/>
              </a:rPr>
              <a:t>Data</a:t>
            </a:r>
            <a:r>
              <a:rPr lang="de-DE" sz="1000" spc="18">
                <a:solidFill>
                  <a:srgbClr val="94A3B8"/>
                </a:solidFill>
                <a:latin typeface="Lucida Sans Unicode"/>
                <a:ea typeface="Lucida Sans Unicode"/>
                <a:cs typeface="Lucida Sans Unicode"/>
              </a:rPr>
              <a:t> </a:t>
            </a:r>
            <a:r>
              <a:rPr lang="en-US" sz="1000" spc="18">
                <a:solidFill>
                  <a:srgbClr val="94A3B8"/>
                </a:solidFill>
                <a:latin typeface="Lucida Sans Unicode"/>
                <a:ea typeface="Lucida Sans Unicode"/>
                <a:cs typeface="Lucida Sans Unicode"/>
              </a:rPr>
              <a:t>Model</a:t>
            </a:r>
            <a:r>
              <a:rPr lang="en-US" sz="1000" spc="11">
                <a:solidFill>
                  <a:srgbClr val="94A3B8"/>
                </a:solidFill>
                <a:latin typeface="Lucida Sans Unicode"/>
                <a:ea typeface="Lucida Sans Unicode"/>
                <a:cs typeface="Lucida Sans Unicode"/>
              </a:rPr>
              <a:t>ing</a:t>
            </a:r>
            <a:endParaRPr lang="en-US" sz="1000"/>
          </a:p>
        </p:txBody>
      </p:sp>
      <p:sp>
        <p:nvSpPr>
          <p:cNvPr id="1162375999" name="Text 6"/>
          <p:cNvSpPr/>
          <p:nvPr/>
        </p:nvSpPr>
        <p:spPr bwMode="auto">
          <a:xfrm rot="0" flipH="0" flipV="0">
            <a:off x="548639" y="5067299"/>
            <a:ext cx="1414938" cy="14247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122"/>
              </a:lnSpc>
              <a:buNone/>
              <a:defRPr/>
            </a:pPr>
            <a:r>
              <a:rPr lang="en-US" sz="1200" b="1" spc="-5">
                <a:solidFill>
                  <a:srgbClr val="F1F5F9"/>
                </a:solidFill>
                <a:latin typeface="Verdana"/>
                <a:ea typeface="Verdana"/>
                <a:cs typeface="Verdana"/>
              </a:rPr>
              <a:t>dbt</a:t>
            </a:r>
            <a:endParaRPr lang="en-US" sz="1200"/>
          </a:p>
        </p:txBody>
      </p:sp>
      <p:sp>
        <p:nvSpPr>
          <p:cNvPr id="1233955479" name="Text 7"/>
          <p:cNvSpPr/>
          <p:nvPr/>
        </p:nvSpPr>
        <p:spPr bwMode="auto">
          <a:xfrm rot="0" flipH="0" flipV="0">
            <a:off x="548639" y="861059"/>
            <a:ext cx="1631891" cy="20716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31"/>
              </a:lnSpc>
              <a:buNone/>
              <a:defRPr/>
            </a:pPr>
            <a:r>
              <a:rPr lang="en-US" sz="1600" b="1" spc="-11">
                <a:solidFill>
                  <a:srgbClr val="F8FAFC"/>
                </a:solidFill>
                <a:latin typeface="Verdana"/>
                <a:ea typeface="Verdana"/>
                <a:cs typeface="Verdana"/>
              </a:rPr>
              <a:t>Ingestion</a:t>
            </a:r>
            <a:endParaRPr lang="en-US" sz="1600"/>
          </a:p>
        </p:txBody>
      </p:sp>
      <p:sp>
        <p:nvSpPr>
          <p:cNvPr id="1917131215" name="Text 8"/>
          <p:cNvSpPr/>
          <p:nvPr/>
        </p:nvSpPr>
        <p:spPr bwMode="auto">
          <a:xfrm rot="0" flipH="0" flipV="0">
            <a:off x="548639" y="1089659"/>
            <a:ext cx="1099926" cy="22355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031"/>
              </a:lnSpc>
              <a:buNone/>
              <a:defRPr/>
            </a:pPr>
            <a:r>
              <a:rPr lang="en-US" sz="1000" spc="29">
                <a:solidFill>
                  <a:srgbClr val="94A3B8"/>
                </a:solidFill>
                <a:latin typeface="Lucida Sans Unicode"/>
                <a:ea typeface="Lucida Sans Unicode"/>
                <a:cs typeface="Lucida Sans Unicode"/>
              </a:rPr>
              <a:t>Web</a:t>
            </a:r>
            <a:r>
              <a:rPr lang="de-DE" sz="1000" spc="29">
                <a:solidFill>
                  <a:srgbClr val="94A3B8"/>
                </a:solidFill>
                <a:latin typeface="Lucida Sans Unicode"/>
                <a:ea typeface="Lucida Sans Unicode"/>
                <a:cs typeface="Lucida Sans Unicode"/>
              </a:rPr>
              <a:t> </a:t>
            </a:r>
            <a:r>
              <a:rPr lang="en-US" sz="1000" spc="29">
                <a:solidFill>
                  <a:srgbClr val="94A3B8"/>
                </a:solidFill>
                <a:latin typeface="Lucida Sans Unicode"/>
                <a:ea typeface="Lucida Sans Unicode"/>
                <a:cs typeface="Lucida Sans Unicode"/>
              </a:rPr>
              <a:t>Scrapin</a:t>
            </a:r>
            <a:r>
              <a:rPr lang="en-US" sz="1000" spc="23">
                <a:solidFill>
                  <a:srgbClr val="94A3B8"/>
                </a:solidFill>
                <a:latin typeface="Lucida Sans Unicode"/>
                <a:ea typeface="Lucida Sans Unicode"/>
                <a:cs typeface="Lucida Sans Unicode"/>
              </a:rPr>
              <a:t>g</a:t>
            </a:r>
            <a:endParaRPr lang="en-US" sz="1000"/>
          </a:p>
        </p:txBody>
      </p:sp>
      <p:sp>
        <p:nvSpPr>
          <p:cNvPr id="682608269" name="Text 11"/>
          <p:cNvSpPr/>
          <p:nvPr/>
        </p:nvSpPr>
        <p:spPr bwMode="auto">
          <a:xfrm rot="0" flipH="0" flipV="0">
            <a:off x="548639" y="2049779"/>
            <a:ext cx="2363724" cy="19010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497"/>
              </a:lnSpc>
              <a:buNone/>
              <a:defRPr/>
            </a:pPr>
            <a:r>
              <a:rPr lang="en-US" sz="1600" b="1" spc="18">
                <a:solidFill>
                  <a:srgbClr val="F8FAFC"/>
                </a:solidFill>
                <a:latin typeface="Verdana"/>
                <a:ea typeface="Verdana"/>
                <a:cs typeface="Verdana"/>
              </a:rPr>
              <a:t>Orchestrat</a:t>
            </a:r>
            <a:r>
              <a:rPr lang="en-US" sz="1600" b="1" spc="11">
                <a:solidFill>
                  <a:srgbClr val="F8FAFC"/>
                </a:solidFill>
                <a:latin typeface="Verdana"/>
                <a:ea typeface="Verdana"/>
                <a:cs typeface="Verdana"/>
              </a:rPr>
              <a:t>ion</a:t>
            </a:r>
            <a:endParaRPr lang="en-US" sz="1600"/>
          </a:p>
        </p:txBody>
      </p:sp>
      <p:sp>
        <p:nvSpPr>
          <p:cNvPr id="306126811" name="Text 12"/>
          <p:cNvSpPr/>
          <p:nvPr/>
        </p:nvSpPr>
        <p:spPr bwMode="auto">
          <a:xfrm rot="0" flipH="0" flipV="0">
            <a:off x="566928" y="2278379"/>
            <a:ext cx="1438115" cy="13096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031"/>
              </a:lnSpc>
              <a:buNone/>
              <a:defRPr/>
            </a:pPr>
            <a:r>
              <a:rPr lang="en-US" sz="1000" spc="11">
                <a:solidFill>
                  <a:srgbClr val="94A3B8"/>
                </a:solidFill>
                <a:latin typeface="Lucida Sans Unicode"/>
                <a:ea typeface="Lucida Sans Unicode"/>
                <a:cs typeface="Lucida Sans Unicode"/>
              </a:rPr>
              <a:t>Task</a:t>
            </a:r>
            <a:r>
              <a:rPr lang="de-DE" sz="1000" spc="11">
                <a:solidFill>
                  <a:srgbClr val="94A3B8"/>
                </a:solidFill>
                <a:latin typeface="Lucida Sans Unicode"/>
                <a:ea typeface="Lucida Sans Unicode"/>
                <a:cs typeface="Lucida Sans Unicode"/>
              </a:rPr>
              <a:t> </a:t>
            </a:r>
            <a:r>
              <a:rPr lang="en-US" sz="1000" spc="11">
                <a:solidFill>
                  <a:srgbClr val="94A3B8"/>
                </a:solidFill>
                <a:latin typeface="Lucida Sans Unicode"/>
                <a:ea typeface="Lucida Sans Unicode"/>
                <a:cs typeface="Lucida Sans Unicode"/>
              </a:rPr>
              <a:t>Scheduling</a:t>
            </a:r>
            <a:endParaRPr lang="en-US" sz="1000"/>
          </a:p>
        </p:txBody>
      </p:sp>
      <p:sp>
        <p:nvSpPr>
          <p:cNvPr id="497334670" name="Text 13"/>
          <p:cNvSpPr/>
          <p:nvPr/>
        </p:nvSpPr>
        <p:spPr bwMode="auto">
          <a:xfrm rot="0" flipH="0" flipV="0">
            <a:off x="548639" y="2689859"/>
            <a:ext cx="1557654" cy="14247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122"/>
              </a:lnSpc>
              <a:buNone/>
              <a:defRPr/>
            </a:pPr>
            <a:r>
              <a:rPr lang="en-US" sz="1100" b="1" spc="-5">
                <a:solidFill>
                  <a:srgbClr val="F1F5F9"/>
                </a:solidFill>
                <a:latin typeface="Verdana"/>
                <a:ea typeface="Verdana"/>
                <a:cs typeface="Verdana"/>
              </a:rPr>
              <a:t>Airﬂow</a:t>
            </a:r>
            <a:endParaRPr lang="en-US" sz="1100"/>
          </a:p>
        </p:txBody>
      </p:sp>
      <p:sp>
        <p:nvSpPr>
          <p:cNvPr id="1072091851" name="Text 14"/>
          <p:cNvSpPr/>
          <p:nvPr/>
        </p:nvSpPr>
        <p:spPr bwMode="auto">
          <a:xfrm rot="0" flipH="0" flipV="0">
            <a:off x="548639" y="5570219"/>
            <a:ext cx="1264797" cy="20716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31"/>
              </a:lnSpc>
              <a:buNone/>
              <a:defRPr/>
            </a:pPr>
            <a:r>
              <a:rPr lang="en-US" sz="1600" b="1" spc="5">
                <a:solidFill>
                  <a:srgbClr val="F8FAFC"/>
                </a:solidFill>
                <a:latin typeface="Verdana"/>
                <a:ea typeface="Verdana"/>
                <a:cs typeface="Verdana"/>
              </a:rPr>
              <a:t>Serving</a:t>
            </a:r>
            <a:endParaRPr lang="en-US" sz="1600"/>
          </a:p>
        </p:txBody>
      </p:sp>
      <p:sp>
        <p:nvSpPr>
          <p:cNvPr id="346733991" name="Text 15"/>
          <p:cNvSpPr/>
          <p:nvPr/>
        </p:nvSpPr>
        <p:spPr bwMode="auto">
          <a:xfrm rot="0" flipH="0" flipV="0">
            <a:off x="548639" y="5798819"/>
            <a:ext cx="1244727" cy="12025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947"/>
              </a:lnSpc>
              <a:buNone/>
              <a:defRPr/>
            </a:pPr>
            <a:r>
              <a:rPr lang="en-US" sz="1000" spc="18">
                <a:solidFill>
                  <a:srgbClr val="94A3B8"/>
                </a:solidFill>
                <a:latin typeface="Lucida Sans Unicode"/>
                <a:ea typeface="Lucida Sans Unicode"/>
                <a:cs typeface="Lucida Sans Unicode"/>
              </a:rPr>
              <a:t>UI</a:t>
            </a:r>
            <a:r>
              <a:rPr lang="de-DE" sz="1000" spc="18">
                <a:solidFill>
                  <a:srgbClr val="94A3B8"/>
                </a:solidFill>
                <a:latin typeface="Lucida Sans Unicode"/>
                <a:ea typeface="Lucida Sans Unicode"/>
                <a:cs typeface="Lucida Sans Unicode"/>
              </a:rPr>
              <a:t> </a:t>
            </a:r>
            <a:r>
              <a:rPr lang="en-US" sz="1000" spc="18">
                <a:solidFill>
                  <a:srgbClr val="94A3B8"/>
                </a:solidFill>
                <a:latin typeface="Lucida Sans Unicode"/>
                <a:ea typeface="Lucida Sans Unicode"/>
                <a:cs typeface="Lucida Sans Unicode"/>
              </a:rPr>
              <a:t>Dashboa</a:t>
            </a:r>
            <a:r>
              <a:rPr lang="en-US" sz="1000" spc="11">
                <a:solidFill>
                  <a:srgbClr val="94A3B8"/>
                </a:solidFill>
                <a:latin typeface="Lucida Sans Unicode"/>
                <a:ea typeface="Lucida Sans Unicode"/>
                <a:cs typeface="Lucida Sans Unicode"/>
              </a:rPr>
              <a:t>rd</a:t>
            </a:r>
            <a:endParaRPr lang="en-US" sz="1000"/>
          </a:p>
        </p:txBody>
      </p:sp>
      <p:sp>
        <p:nvSpPr>
          <p:cNvPr id="1922773919" name="Text 16"/>
          <p:cNvSpPr/>
          <p:nvPr/>
        </p:nvSpPr>
        <p:spPr bwMode="auto">
          <a:xfrm rot="0" flipH="0" flipV="0">
            <a:off x="548639" y="6210299"/>
            <a:ext cx="1234440" cy="14247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122"/>
              </a:lnSpc>
              <a:buNone/>
              <a:defRPr/>
            </a:pPr>
            <a:r>
              <a:rPr lang="en-US" sz="1200" b="1" spc="-5">
                <a:solidFill>
                  <a:srgbClr val="F1F5F9"/>
                </a:solidFill>
                <a:latin typeface="Verdana"/>
                <a:ea typeface="Verdana"/>
                <a:cs typeface="Verdana"/>
              </a:rPr>
              <a:t>Streamlit</a:t>
            </a:r>
            <a:endParaRPr lang="en-US" sz="1200"/>
          </a:p>
        </p:txBody>
      </p:sp>
      <p:sp>
        <p:nvSpPr>
          <p:cNvPr id="1758089209" name=""/>
          <p:cNvSpPr txBox="1"/>
          <p:nvPr/>
        </p:nvSpPr>
        <p:spPr bwMode="auto">
          <a:xfrm flipH="0" flipV="0">
            <a:off x="3690727" y="573349"/>
            <a:ext cx="183636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1554177350" name="Text 0"/>
          <p:cNvSpPr/>
          <p:nvPr/>
        </p:nvSpPr>
        <p:spPr bwMode="auto">
          <a:xfrm flipH="0" flipV="0">
            <a:off x="3530946" y="106427"/>
            <a:ext cx="8451887" cy="8046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6335"/>
              </a:lnSpc>
              <a:buNone/>
              <a:defRPr/>
            </a:pPr>
            <a:r>
              <a:rPr lang="de-DE" sz="4800" b="0" spc="-124">
                <a:solidFill>
                  <a:srgbClr val="5DA2EE"/>
                </a:solidFill>
                <a:latin typeface="Yu Gothic UI Semibold"/>
                <a:ea typeface="Yu Gothic UI Semibold"/>
                <a:cs typeface="Yu Gothic UI Semibold"/>
              </a:rPr>
              <a:t>Data</a:t>
            </a:r>
            <a:r>
              <a:rPr lang="de-DE" sz="4800" b="0" spc="-124">
                <a:solidFill>
                  <a:srgbClr val="5DA2EE"/>
                </a:solidFill>
                <a:latin typeface="Yu Gothic UI Semibold"/>
                <a:ea typeface="Yu Gothic UI Semibold"/>
                <a:cs typeface="Yu Gothic UI Semibold"/>
              </a:rPr>
              <a:t> </a:t>
            </a:r>
            <a:r>
              <a:rPr lang="de-DE" sz="4800" b="0" spc="-124">
                <a:solidFill>
                  <a:srgbClr val="5DA2EE"/>
                </a:solidFill>
                <a:latin typeface="Yu Gothic UI Semibold"/>
                <a:ea typeface="Yu Gothic UI Semibold"/>
                <a:cs typeface="Yu Gothic UI Semibold"/>
              </a:rPr>
              <a:t>Pipeline </a:t>
            </a:r>
            <a:r>
              <a:rPr lang="de-DE" sz="4800" b="0" spc="-124">
                <a:solidFill>
                  <a:srgbClr val="5DA2EE"/>
                </a:solidFill>
                <a:latin typeface="Yu Gothic UI Semibold"/>
                <a:ea typeface="Yu Gothic UI Semibold"/>
                <a:cs typeface="Yu Gothic UI Semibold"/>
              </a:rPr>
              <a:t>Architecture</a:t>
            </a:r>
            <a:endParaRPr sz="4800" b="0">
              <a:solidFill>
                <a:srgbClr val="5DA2EE"/>
              </a:solidFill>
              <a:latin typeface="Yu Gothic UI Semibold"/>
              <a:cs typeface="Yu Gothic UI Semibold"/>
            </a:endParaRPr>
          </a:p>
        </p:txBody>
      </p:sp>
      <p:sp>
        <p:nvSpPr>
          <p:cNvPr id="1722666987" name="Text 13"/>
          <p:cNvSpPr/>
          <p:nvPr/>
        </p:nvSpPr>
        <p:spPr bwMode="auto">
          <a:xfrm rot="0" flipH="0" flipV="0">
            <a:off x="566928" y="1501139"/>
            <a:ext cx="2480225" cy="14247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122"/>
              </a:lnSpc>
              <a:buNone/>
              <a:defRPr/>
            </a:pPr>
            <a:r>
              <a:rPr lang="de-DE" sz="1100" b="1" spc="-5">
                <a:solidFill>
                  <a:srgbClr val="F1F5F9"/>
                </a:solidFill>
                <a:latin typeface="Verdana"/>
                <a:ea typeface="Verdana"/>
                <a:cs typeface="Verdana"/>
              </a:rPr>
              <a:t>Python | Selenium | Xvfb</a:t>
            </a:r>
            <a:endParaRPr lang="en-US" sz="1100"/>
          </a:p>
        </p:txBody>
      </p:sp>
      <p:sp>
        <p:nvSpPr>
          <p:cNvPr id="2126099079" name="Flowchart: Alternate process 1919238323"/>
          <p:cNvSpPr/>
          <p:nvPr/>
        </p:nvSpPr>
        <p:spPr bwMode="auto">
          <a:xfrm rot="0" flipH="0" flipV="0">
            <a:off x="3686554" y="1225296"/>
            <a:ext cx="2765534" cy="5175502"/>
          </a:xfrm>
          <a:prstGeom prst="flowChartAlternateProcess">
            <a:avLst/>
          </a:prstGeom>
          <a:solidFill>
            <a:schemeClr val="bg1">
              <a:alpha val="10000"/>
            </a:schemeClr>
          </a:solidFill>
          <a:ln w="28575" cap="flat" cmpd="sng" algn="ctr">
            <a:solidFill>
              <a:srgbClr val="5DA2EE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60926891" name="Text 11"/>
          <p:cNvSpPr/>
          <p:nvPr/>
        </p:nvSpPr>
        <p:spPr bwMode="auto">
          <a:xfrm rot="0" flipH="0" flipV="0">
            <a:off x="3870033" y="1586896"/>
            <a:ext cx="2363724" cy="19010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497"/>
              </a:lnSpc>
              <a:buNone/>
              <a:defRPr/>
            </a:pPr>
            <a:r>
              <a:rPr lang="de-DE" sz="1600" b="1" spc="18">
                <a:solidFill>
                  <a:srgbClr val="F8FAFC"/>
                </a:solidFill>
                <a:latin typeface="Verdana"/>
                <a:ea typeface="Verdana"/>
                <a:cs typeface="Verdana"/>
              </a:rPr>
              <a:t>Dbt:</a:t>
            </a:r>
            <a:endParaRPr sz="1600" b="1"/>
          </a:p>
        </p:txBody>
      </p:sp>
      <p:sp>
        <p:nvSpPr>
          <p:cNvPr id="1633592724" name="Text 2"/>
          <p:cNvSpPr/>
          <p:nvPr/>
        </p:nvSpPr>
        <p:spPr bwMode="auto">
          <a:xfrm rot="0" flipH="0" flipV="0">
            <a:off x="3932394" y="2166261"/>
            <a:ext cx="2239002" cy="1445616"/>
          </a:xfrm>
          <a:prstGeom prst="rect">
            <a:avLst/>
          </a:prstGeom>
          <a:noFill/>
          <a:ln/>
        </p:spPr>
        <p:txBody>
          <a:bodyPr vertOverflow="overflow" horzOverflow="overflow" vert="horz" wrap="square" lIns="0" tIns="0" rIns="0" bIns="0" numCol="1" spcCol="0" rtlCol="0" fromWordArt="0" anchor="t" anchorCtr="0" forceAA="0" upright="0" compatLnSpc="0"/>
          <a:lstStyle/>
          <a:p>
            <a:pPr marL="217792" indent="-217792" algn="l">
              <a:lnSpc>
                <a:spcPct val="150000"/>
              </a:lnSpc>
              <a:buFont typeface="Arial"/>
              <a:buChar char="–"/>
              <a:defRPr/>
            </a:pPr>
            <a:r>
              <a:rPr lang="de-DE" sz="1200" b="1" spc="-4">
                <a:solidFill>
                  <a:srgbClr val="F1F5F9"/>
                </a:solidFill>
                <a:latin typeface="Verdana"/>
                <a:ea typeface="Verdana"/>
                <a:cs typeface="Verdana"/>
              </a:rPr>
              <a:t>Our main transformation engine</a:t>
            </a:r>
            <a:endParaRPr lang="de-DE" sz="1200" b="1" spc="-4">
              <a:solidFill>
                <a:srgbClr val="F1F5F9"/>
              </a:solidFill>
              <a:latin typeface="Verdana"/>
              <a:ea typeface="Verdana"/>
              <a:cs typeface="Verdana"/>
            </a:endParaRPr>
          </a:p>
          <a:p>
            <a:pPr marL="217792" indent="-217792" algn="l">
              <a:lnSpc>
                <a:spcPct val="150000"/>
              </a:lnSpc>
              <a:buFont typeface="Arial"/>
              <a:buChar char="–"/>
              <a:defRPr/>
            </a:pPr>
            <a:r>
              <a:rPr lang="de-DE" sz="1200" b="1" spc="-4">
                <a:solidFill>
                  <a:srgbClr val="F1F5F9"/>
                </a:solidFill>
                <a:latin typeface="Verdana"/>
                <a:ea typeface="Verdana"/>
                <a:cs typeface="Verdana"/>
              </a:rPr>
              <a:t>Making sure the processes are run in the correct order</a:t>
            </a:r>
            <a:r>
              <a:rPr lang="de-DE" sz="1200" b="1" spc="-4">
                <a:solidFill>
                  <a:srgbClr val="F1F5F9"/>
                </a:solidFill>
                <a:latin typeface="Verdana"/>
                <a:ea typeface="Verdana"/>
                <a:cs typeface="Verdana"/>
              </a:rPr>
              <a:t> (first: bronze to silver, then: silver to gold)</a:t>
            </a:r>
            <a:endParaRPr sz="1200" b="1" spc="-4">
              <a:solidFill>
                <a:srgbClr val="F1F5F9"/>
              </a:solidFill>
              <a:latin typeface="Verdana"/>
              <a:ea typeface="Verdana"/>
              <a:cs typeface="Verdana"/>
            </a:endParaRPr>
          </a:p>
          <a:p>
            <a:pPr marL="217792" indent="-217792" algn="l">
              <a:lnSpc>
                <a:spcPct val="150000"/>
              </a:lnSpc>
              <a:buFont typeface="Arial"/>
              <a:buChar char="–"/>
              <a:defRPr/>
            </a:pPr>
            <a:endParaRPr sz="1200" b="1"/>
          </a:p>
        </p:txBody>
      </p:sp>
      <p:pic>
        <p:nvPicPr>
          <p:cNvPr id="38787403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733076" y="2714625"/>
            <a:ext cx="5249758" cy="15582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6">
    <p:bg>
      <p:bgPr shadeToTitle="0">
        <a:solidFill>
          <a:srgbClr val="0F17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0152561" name=""/>
          <p:cNvSpPr/>
          <p:nvPr/>
        </p:nvSpPr>
        <p:spPr bwMode="auto">
          <a:xfrm rot="0" flipH="0" flipV="0">
            <a:off x="320039" y="5478779"/>
            <a:ext cx="2977717" cy="1058846"/>
          </a:xfrm>
          <a:prstGeom prst="flowChartAlternateProcess">
            <a:avLst/>
          </a:prstGeom>
          <a:solidFill>
            <a:schemeClr val="bg1">
              <a:alpha val="10000"/>
            </a:schemeClr>
          </a:solidFill>
          <a:ln w="28575" cap="flat" cmpd="sng" algn="ctr">
            <a:solidFill>
              <a:srgbClr val="5DA2EE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21479169" name=""/>
          <p:cNvSpPr/>
          <p:nvPr/>
        </p:nvSpPr>
        <p:spPr bwMode="auto">
          <a:xfrm rot="0" flipH="0" flipV="0">
            <a:off x="320039" y="4290059"/>
            <a:ext cx="2977717" cy="1058846"/>
          </a:xfrm>
          <a:prstGeom prst="flowChartAlternateProcess">
            <a:avLst/>
          </a:prstGeom>
          <a:solidFill>
            <a:schemeClr val="bg1">
              <a:alpha val="10000"/>
            </a:schemeClr>
          </a:solidFill>
          <a:ln w="28575" cap="flat" cmpd="sng" algn="ctr">
            <a:solidFill>
              <a:schemeClr val="tx2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04323529" name=""/>
          <p:cNvSpPr/>
          <p:nvPr/>
        </p:nvSpPr>
        <p:spPr bwMode="auto">
          <a:xfrm rot="0" flipH="0" flipV="0">
            <a:off x="338328" y="3101339"/>
            <a:ext cx="2977717" cy="1058846"/>
          </a:xfrm>
          <a:prstGeom prst="flowChartAlternateProcess">
            <a:avLst/>
          </a:prstGeom>
          <a:solidFill>
            <a:schemeClr val="bg1">
              <a:alpha val="10000"/>
            </a:schemeClr>
          </a:solidFill>
          <a:ln w="28575" cap="flat" cmpd="sng" algn="ctr">
            <a:solidFill>
              <a:schemeClr val="tx2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75596260" name=""/>
          <p:cNvSpPr/>
          <p:nvPr/>
        </p:nvSpPr>
        <p:spPr bwMode="auto">
          <a:xfrm rot="0" flipH="0" flipV="0">
            <a:off x="338328" y="1912619"/>
            <a:ext cx="2977717" cy="1058846"/>
          </a:xfrm>
          <a:prstGeom prst="flowChartAlternateProcess">
            <a:avLst/>
          </a:prstGeom>
          <a:solidFill>
            <a:schemeClr val="bg1">
              <a:alpha val="10000"/>
            </a:schemeClr>
          </a:solidFill>
          <a:ln w="28575" cap="flat" cmpd="sng" algn="ctr">
            <a:solidFill>
              <a:schemeClr val="tx2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16978821" name=""/>
          <p:cNvSpPr/>
          <p:nvPr/>
        </p:nvSpPr>
        <p:spPr bwMode="auto">
          <a:xfrm rot="0" flipH="0" flipV="0">
            <a:off x="338328" y="723899"/>
            <a:ext cx="2977718" cy="1058846"/>
          </a:xfrm>
          <a:prstGeom prst="flowChartAlternateProcess">
            <a:avLst/>
          </a:prstGeom>
          <a:solidFill>
            <a:schemeClr val="bg1">
              <a:alpha val="10000"/>
            </a:schemeClr>
          </a:solidFill>
          <a:ln w="28575" cap="flat" cmpd="sng" algn="ctr">
            <a:solidFill>
              <a:schemeClr val="tx2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78556937" name="Text 0"/>
          <p:cNvSpPr/>
          <p:nvPr/>
        </p:nvSpPr>
        <p:spPr bwMode="auto">
          <a:xfrm rot="0" flipH="0" flipV="0">
            <a:off x="548639" y="3192779"/>
            <a:ext cx="1269723" cy="20220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93"/>
              </a:lnSpc>
              <a:buNone/>
              <a:defRPr/>
            </a:pPr>
            <a:r>
              <a:rPr lang="en-US" sz="1600" b="1" spc="11">
                <a:solidFill>
                  <a:srgbClr val="F8FAFC"/>
                </a:solidFill>
                <a:latin typeface="Verdana"/>
                <a:ea typeface="Verdana"/>
                <a:cs typeface="Verdana"/>
              </a:rPr>
              <a:t>Storage</a:t>
            </a:r>
            <a:endParaRPr lang="en-US" sz="1600"/>
          </a:p>
        </p:txBody>
      </p:sp>
      <p:sp>
        <p:nvSpPr>
          <p:cNvPr id="158962844" name="Text 1"/>
          <p:cNvSpPr/>
          <p:nvPr/>
        </p:nvSpPr>
        <p:spPr bwMode="auto">
          <a:xfrm rot="0" flipH="0" flipV="0">
            <a:off x="548639" y="3421379"/>
            <a:ext cx="1049814" cy="12025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947"/>
              </a:lnSpc>
              <a:buNone/>
              <a:defRPr/>
            </a:pPr>
            <a:r>
              <a:rPr lang="en-US" sz="1000" spc="29">
                <a:solidFill>
                  <a:srgbClr val="94A3B8"/>
                </a:solidFill>
                <a:latin typeface="Lucida Sans Unicode"/>
                <a:ea typeface="Lucida Sans Unicode"/>
                <a:cs typeface="Lucida Sans Unicode"/>
              </a:rPr>
              <a:t>Database</a:t>
            </a:r>
            <a:endParaRPr lang="en-US" sz="1000"/>
          </a:p>
        </p:txBody>
      </p:sp>
      <p:sp>
        <p:nvSpPr>
          <p:cNvPr id="176326422" name="Text 2"/>
          <p:cNvSpPr/>
          <p:nvPr/>
        </p:nvSpPr>
        <p:spPr bwMode="auto">
          <a:xfrm rot="0" flipH="0" flipV="0">
            <a:off x="548639" y="3832859"/>
            <a:ext cx="2239002" cy="14803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165"/>
              </a:lnSpc>
              <a:buNone/>
              <a:defRPr/>
            </a:pPr>
            <a:r>
              <a:rPr lang="en-US" sz="1200" b="1" spc="-5">
                <a:solidFill>
                  <a:srgbClr val="F1F5F9"/>
                </a:solidFill>
                <a:latin typeface="Verdana"/>
                <a:ea typeface="Verdana"/>
                <a:cs typeface="Verdana"/>
              </a:rPr>
              <a:t>PostgreSQL</a:t>
            </a:r>
            <a:r>
              <a:rPr lang="de-DE" sz="1200" b="1" spc="-5">
                <a:solidFill>
                  <a:srgbClr val="F1F5F9"/>
                </a:solidFill>
                <a:latin typeface="Verdana"/>
                <a:ea typeface="Verdana"/>
                <a:cs typeface="Verdana"/>
              </a:rPr>
              <a:t> | NeonDB</a:t>
            </a:r>
            <a:endParaRPr lang="en-US" sz="1200"/>
          </a:p>
        </p:txBody>
      </p:sp>
      <p:sp>
        <p:nvSpPr>
          <p:cNvPr id="2053599771" name="Text 4"/>
          <p:cNvSpPr/>
          <p:nvPr/>
        </p:nvSpPr>
        <p:spPr bwMode="auto">
          <a:xfrm rot="0" flipH="0" flipV="0">
            <a:off x="548639" y="4427219"/>
            <a:ext cx="2546984" cy="19248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16"/>
              </a:lnSpc>
              <a:buNone/>
              <a:defRPr/>
            </a:pPr>
            <a:r>
              <a:rPr lang="en-US" sz="1600" b="1" spc="11">
                <a:solidFill>
                  <a:srgbClr val="F8FAFC"/>
                </a:solidFill>
                <a:latin typeface="Verdana"/>
                <a:ea typeface="Verdana"/>
                <a:cs typeface="Verdana"/>
              </a:rPr>
              <a:t>Transforma</a:t>
            </a:r>
            <a:r>
              <a:rPr lang="en-US" sz="1600" b="1" spc="5">
                <a:solidFill>
                  <a:srgbClr val="F8FAFC"/>
                </a:solidFill>
                <a:latin typeface="Verdana"/>
                <a:ea typeface="Verdana"/>
                <a:cs typeface="Verdana"/>
              </a:rPr>
              <a:t>tion</a:t>
            </a:r>
            <a:endParaRPr lang="en-US" sz="1600"/>
          </a:p>
        </p:txBody>
      </p:sp>
      <p:sp>
        <p:nvSpPr>
          <p:cNvPr id="417841434" name="Text 5"/>
          <p:cNvSpPr/>
          <p:nvPr/>
        </p:nvSpPr>
        <p:spPr bwMode="auto">
          <a:xfrm rot="0" flipH="0" flipV="0">
            <a:off x="548639" y="4655819"/>
            <a:ext cx="1497330" cy="13096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031"/>
              </a:lnSpc>
              <a:buNone/>
              <a:defRPr/>
            </a:pPr>
            <a:r>
              <a:rPr lang="en-US" sz="1000" spc="18">
                <a:solidFill>
                  <a:srgbClr val="94A3B8"/>
                </a:solidFill>
                <a:latin typeface="Lucida Sans Unicode"/>
                <a:ea typeface="Lucida Sans Unicode"/>
                <a:cs typeface="Lucida Sans Unicode"/>
              </a:rPr>
              <a:t>Data</a:t>
            </a:r>
            <a:r>
              <a:rPr lang="de-DE" sz="1000" spc="18">
                <a:solidFill>
                  <a:srgbClr val="94A3B8"/>
                </a:solidFill>
                <a:latin typeface="Lucida Sans Unicode"/>
                <a:ea typeface="Lucida Sans Unicode"/>
                <a:cs typeface="Lucida Sans Unicode"/>
              </a:rPr>
              <a:t> </a:t>
            </a:r>
            <a:r>
              <a:rPr lang="en-US" sz="1000" spc="18">
                <a:solidFill>
                  <a:srgbClr val="94A3B8"/>
                </a:solidFill>
                <a:latin typeface="Lucida Sans Unicode"/>
                <a:ea typeface="Lucida Sans Unicode"/>
                <a:cs typeface="Lucida Sans Unicode"/>
              </a:rPr>
              <a:t>Model</a:t>
            </a:r>
            <a:r>
              <a:rPr lang="en-US" sz="1000" spc="11">
                <a:solidFill>
                  <a:srgbClr val="94A3B8"/>
                </a:solidFill>
                <a:latin typeface="Lucida Sans Unicode"/>
                <a:ea typeface="Lucida Sans Unicode"/>
                <a:cs typeface="Lucida Sans Unicode"/>
              </a:rPr>
              <a:t>ing</a:t>
            </a:r>
            <a:endParaRPr lang="en-US" sz="1000"/>
          </a:p>
        </p:txBody>
      </p:sp>
      <p:sp>
        <p:nvSpPr>
          <p:cNvPr id="247803934" name="Text 6"/>
          <p:cNvSpPr/>
          <p:nvPr/>
        </p:nvSpPr>
        <p:spPr bwMode="auto">
          <a:xfrm rot="0" flipH="0" flipV="0">
            <a:off x="548639" y="5067299"/>
            <a:ext cx="1414938" cy="14247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122"/>
              </a:lnSpc>
              <a:buNone/>
              <a:defRPr/>
            </a:pPr>
            <a:r>
              <a:rPr lang="en-US" sz="1200" b="1" spc="-5">
                <a:solidFill>
                  <a:srgbClr val="F1F5F9"/>
                </a:solidFill>
                <a:latin typeface="Verdana"/>
                <a:ea typeface="Verdana"/>
                <a:cs typeface="Verdana"/>
              </a:rPr>
              <a:t>dbt</a:t>
            </a:r>
            <a:endParaRPr lang="en-US" sz="1200"/>
          </a:p>
        </p:txBody>
      </p:sp>
      <p:sp>
        <p:nvSpPr>
          <p:cNvPr id="158206289" name="Text 7"/>
          <p:cNvSpPr/>
          <p:nvPr/>
        </p:nvSpPr>
        <p:spPr bwMode="auto">
          <a:xfrm rot="0" flipH="0" flipV="0">
            <a:off x="548639" y="861059"/>
            <a:ext cx="1631891" cy="20716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31"/>
              </a:lnSpc>
              <a:buNone/>
              <a:defRPr/>
            </a:pPr>
            <a:r>
              <a:rPr lang="en-US" sz="1600" b="1" spc="-11">
                <a:solidFill>
                  <a:srgbClr val="F8FAFC"/>
                </a:solidFill>
                <a:latin typeface="Verdana"/>
                <a:ea typeface="Verdana"/>
                <a:cs typeface="Verdana"/>
              </a:rPr>
              <a:t>Ingestion</a:t>
            </a:r>
            <a:endParaRPr lang="en-US" sz="1600"/>
          </a:p>
        </p:txBody>
      </p:sp>
      <p:sp>
        <p:nvSpPr>
          <p:cNvPr id="947859409" name="Text 8"/>
          <p:cNvSpPr/>
          <p:nvPr/>
        </p:nvSpPr>
        <p:spPr bwMode="auto">
          <a:xfrm rot="0" flipH="0" flipV="0">
            <a:off x="548639" y="1089659"/>
            <a:ext cx="1099926" cy="22355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031"/>
              </a:lnSpc>
              <a:buNone/>
              <a:defRPr/>
            </a:pPr>
            <a:r>
              <a:rPr lang="en-US" sz="1000" spc="29">
                <a:solidFill>
                  <a:srgbClr val="94A3B8"/>
                </a:solidFill>
                <a:latin typeface="Lucida Sans Unicode"/>
                <a:ea typeface="Lucida Sans Unicode"/>
                <a:cs typeface="Lucida Sans Unicode"/>
              </a:rPr>
              <a:t>Web</a:t>
            </a:r>
            <a:r>
              <a:rPr lang="de-DE" sz="1000" spc="29">
                <a:solidFill>
                  <a:srgbClr val="94A3B8"/>
                </a:solidFill>
                <a:latin typeface="Lucida Sans Unicode"/>
                <a:ea typeface="Lucida Sans Unicode"/>
                <a:cs typeface="Lucida Sans Unicode"/>
              </a:rPr>
              <a:t> </a:t>
            </a:r>
            <a:r>
              <a:rPr lang="en-US" sz="1000" spc="29">
                <a:solidFill>
                  <a:srgbClr val="94A3B8"/>
                </a:solidFill>
                <a:latin typeface="Lucida Sans Unicode"/>
                <a:ea typeface="Lucida Sans Unicode"/>
                <a:cs typeface="Lucida Sans Unicode"/>
              </a:rPr>
              <a:t>Scrapin</a:t>
            </a:r>
            <a:r>
              <a:rPr lang="en-US" sz="1000" spc="23">
                <a:solidFill>
                  <a:srgbClr val="94A3B8"/>
                </a:solidFill>
                <a:latin typeface="Lucida Sans Unicode"/>
                <a:ea typeface="Lucida Sans Unicode"/>
                <a:cs typeface="Lucida Sans Unicode"/>
              </a:rPr>
              <a:t>g</a:t>
            </a:r>
            <a:endParaRPr lang="en-US" sz="1000"/>
          </a:p>
        </p:txBody>
      </p:sp>
      <p:sp>
        <p:nvSpPr>
          <p:cNvPr id="864350847" name="Text 11"/>
          <p:cNvSpPr/>
          <p:nvPr/>
        </p:nvSpPr>
        <p:spPr bwMode="auto">
          <a:xfrm rot="0" flipH="0" flipV="0">
            <a:off x="548639" y="2049779"/>
            <a:ext cx="2363724" cy="19010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497"/>
              </a:lnSpc>
              <a:buNone/>
              <a:defRPr/>
            </a:pPr>
            <a:r>
              <a:rPr lang="en-US" sz="1600" b="1" spc="18">
                <a:solidFill>
                  <a:srgbClr val="F8FAFC"/>
                </a:solidFill>
                <a:latin typeface="Verdana"/>
                <a:ea typeface="Verdana"/>
                <a:cs typeface="Verdana"/>
              </a:rPr>
              <a:t>Orchestrat</a:t>
            </a:r>
            <a:r>
              <a:rPr lang="en-US" sz="1600" b="1" spc="11">
                <a:solidFill>
                  <a:srgbClr val="F8FAFC"/>
                </a:solidFill>
                <a:latin typeface="Verdana"/>
                <a:ea typeface="Verdana"/>
                <a:cs typeface="Verdana"/>
              </a:rPr>
              <a:t>ion</a:t>
            </a:r>
            <a:endParaRPr lang="en-US" sz="1600"/>
          </a:p>
        </p:txBody>
      </p:sp>
      <p:sp>
        <p:nvSpPr>
          <p:cNvPr id="1603745457" name="Text 12"/>
          <p:cNvSpPr/>
          <p:nvPr/>
        </p:nvSpPr>
        <p:spPr bwMode="auto">
          <a:xfrm rot="0" flipH="0" flipV="0">
            <a:off x="566928" y="2278379"/>
            <a:ext cx="1438115" cy="13096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031"/>
              </a:lnSpc>
              <a:buNone/>
              <a:defRPr/>
            </a:pPr>
            <a:r>
              <a:rPr lang="en-US" sz="1000" spc="11">
                <a:solidFill>
                  <a:srgbClr val="94A3B8"/>
                </a:solidFill>
                <a:latin typeface="Lucida Sans Unicode"/>
                <a:ea typeface="Lucida Sans Unicode"/>
                <a:cs typeface="Lucida Sans Unicode"/>
              </a:rPr>
              <a:t>Task</a:t>
            </a:r>
            <a:r>
              <a:rPr lang="de-DE" sz="1000" spc="11">
                <a:solidFill>
                  <a:srgbClr val="94A3B8"/>
                </a:solidFill>
                <a:latin typeface="Lucida Sans Unicode"/>
                <a:ea typeface="Lucida Sans Unicode"/>
                <a:cs typeface="Lucida Sans Unicode"/>
              </a:rPr>
              <a:t> </a:t>
            </a:r>
            <a:r>
              <a:rPr lang="en-US" sz="1000" spc="11">
                <a:solidFill>
                  <a:srgbClr val="94A3B8"/>
                </a:solidFill>
                <a:latin typeface="Lucida Sans Unicode"/>
                <a:ea typeface="Lucida Sans Unicode"/>
                <a:cs typeface="Lucida Sans Unicode"/>
              </a:rPr>
              <a:t>Scheduling</a:t>
            </a:r>
            <a:endParaRPr lang="en-US" sz="1000"/>
          </a:p>
        </p:txBody>
      </p:sp>
      <p:sp>
        <p:nvSpPr>
          <p:cNvPr id="673829156" name="Text 13"/>
          <p:cNvSpPr/>
          <p:nvPr/>
        </p:nvSpPr>
        <p:spPr bwMode="auto">
          <a:xfrm rot="0" flipH="0" flipV="0">
            <a:off x="548639" y="2689859"/>
            <a:ext cx="1557654" cy="14247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122"/>
              </a:lnSpc>
              <a:buNone/>
              <a:defRPr/>
            </a:pPr>
            <a:r>
              <a:rPr lang="en-US" sz="1100" b="1" spc="-5">
                <a:solidFill>
                  <a:srgbClr val="F1F5F9"/>
                </a:solidFill>
                <a:latin typeface="Verdana"/>
                <a:ea typeface="Verdana"/>
                <a:cs typeface="Verdana"/>
              </a:rPr>
              <a:t>Airﬂow</a:t>
            </a:r>
            <a:endParaRPr lang="en-US" sz="1100"/>
          </a:p>
        </p:txBody>
      </p:sp>
      <p:sp>
        <p:nvSpPr>
          <p:cNvPr id="1943283446" name="Text 14"/>
          <p:cNvSpPr/>
          <p:nvPr/>
        </p:nvSpPr>
        <p:spPr bwMode="auto">
          <a:xfrm rot="0" flipH="0" flipV="0">
            <a:off x="548639" y="5570219"/>
            <a:ext cx="1264797" cy="20716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31"/>
              </a:lnSpc>
              <a:buNone/>
              <a:defRPr/>
            </a:pPr>
            <a:r>
              <a:rPr lang="en-US" sz="1600" b="1" spc="5">
                <a:solidFill>
                  <a:srgbClr val="F8FAFC"/>
                </a:solidFill>
                <a:latin typeface="Verdana"/>
                <a:ea typeface="Verdana"/>
                <a:cs typeface="Verdana"/>
              </a:rPr>
              <a:t>Serving</a:t>
            </a:r>
            <a:endParaRPr lang="en-US" sz="1600"/>
          </a:p>
        </p:txBody>
      </p:sp>
      <p:sp>
        <p:nvSpPr>
          <p:cNvPr id="1279329985" name="Text 15"/>
          <p:cNvSpPr/>
          <p:nvPr/>
        </p:nvSpPr>
        <p:spPr bwMode="auto">
          <a:xfrm rot="0" flipH="0" flipV="0">
            <a:off x="548639" y="5798819"/>
            <a:ext cx="1244727" cy="12025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947"/>
              </a:lnSpc>
              <a:buNone/>
              <a:defRPr/>
            </a:pPr>
            <a:r>
              <a:rPr lang="en-US" sz="1000" spc="18">
                <a:solidFill>
                  <a:srgbClr val="94A3B8"/>
                </a:solidFill>
                <a:latin typeface="Lucida Sans Unicode"/>
                <a:ea typeface="Lucida Sans Unicode"/>
                <a:cs typeface="Lucida Sans Unicode"/>
              </a:rPr>
              <a:t>UI</a:t>
            </a:r>
            <a:r>
              <a:rPr lang="de-DE" sz="1000" spc="18">
                <a:solidFill>
                  <a:srgbClr val="94A3B8"/>
                </a:solidFill>
                <a:latin typeface="Lucida Sans Unicode"/>
                <a:ea typeface="Lucida Sans Unicode"/>
                <a:cs typeface="Lucida Sans Unicode"/>
              </a:rPr>
              <a:t> </a:t>
            </a:r>
            <a:r>
              <a:rPr lang="en-US" sz="1000" spc="18">
                <a:solidFill>
                  <a:srgbClr val="94A3B8"/>
                </a:solidFill>
                <a:latin typeface="Lucida Sans Unicode"/>
                <a:ea typeface="Lucida Sans Unicode"/>
                <a:cs typeface="Lucida Sans Unicode"/>
              </a:rPr>
              <a:t>Dashboa</a:t>
            </a:r>
            <a:r>
              <a:rPr lang="en-US" sz="1000" spc="11">
                <a:solidFill>
                  <a:srgbClr val="94A3B8"/>
                </a:solidFill>
                <a:latin typeface="Lucida Sans Unicode"/>
                <a:ea typeface="Lucida Sans Unicode"/>
                <a:cs typeface="Lucida Sans Unicode"/>
              </a:rPr>
              <a:t>rd</a:t>
            </a:r>
            <a:endParaRPr lang="en-US" sz="1000"/>
          </a:p>
        </p:txBody>
      </p:sp>
      <p:sp>
        <p:nvSpPr>
          <p:cNvPr id="466601284" name="Text 16"/>
          <p:cNvSpPr/>
          <p:nvPr/>
        </p:nvSpPr>
        <p:spPr bwMode="auto">
          <a:xfrm rot="0" flipH="0" flipV="0">
            <a:off x="548639" y="6210299"/>
            <a:ext cx="1234440" cy="14247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122"/>
              </a:lnSpc>
              <a:buNone/>
              <a:defRPr/>
            </a:pPr>
            <a:r>
              <a:rPr lang="en-US" sz="1200" b="1" spc="-5">
                <a:solidFill>
                  <a:srgbClr val="F1F5F9"/>
                </a:solidFill>
                <a:latin typeface="Verdana"/>
                <a:ea typeface="Verdana"/>
                <a:cs typeface="Verdana"/>
              </a:rPr>
              <a:t>Streamlit</a:t>
            </a:r>
            <a:endParaRPr lang="en-US" sz="1200"/>
          </a:p>
        </p:txBody>
      </p:sp>
      <p:sp>
        <p:nvSpPr>
          <p:cNvPr id="648548308" name=""/>
          <p:cNvSpPr txBox="1"/>
          <p:nvPr/>
        </p:nvSpPr>
        <p:spPr bwMode="auto">
          <a:xfrm flipH="0" flipV="0">
            <a:off x="3690727" y="573349"/>
            <a:ext cx="183636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2125781436" name="Text 0"/>
          <p:cNvSpPr/>
          <p:nvPr/>
        </p:nvSpPr>
        <p:spPr bwMode="auto">
          <a:xfrm flipH="0" flipV="0">
            <a:off x="3530946" y="106427"/>
            <a:ext cx="8451887" cy="8046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6335"/>
              </a:lnSpc>
              <a:buNone/>
              <a:defRPr/>
            </a:pPr>
            <a:r>
              <a:rPr lang="de-DE" sz="4800" b="0" spc="-124">
                <a:solidFill>
                  <a:srgbClr val="5DA2EE"/>
                </a:solidFill>
                <a:latin typeface="Yu Gothic UI Semibold"/>
                <a:ea typeface="Yu Gothic UI Semibold"/>
                <a:cs typeface="Yu Gothic UI Semibold"/>
              </a:rPr>
              <a:t>Data</a:t>
            </a:r>
            <a:r>
              <a:rPr lang="de-DE" sz="4800" b="0" spc="-124">
                <a:solidFill>
                  <a:srgbClr val="5DA2EE"/>
                </a:solidFill>
                <a:latin typeface="Yu Gothic UI Semibold"/>
                <a:ea typeface="Yu Gothic UI Semibold"/>
                <a:cs typeface="Yu Gothic UI Semibold"/>
              </a:rPr>
              <a:t> </a:t>
            </a:r>
            <a:r>
              <a:rPr lang="de-DE" sz="4800" b="0" spc="-124">
                <a:solidFill>
                  <a:srgbClr val="5DA2EE"/>
                </a:solidFill>
                <a:latin typeface="Yu Gothic UI Semibold"/>
                <a:ea typeface="Yu Gothic UI Semibold"/>
                <a:cs typeface="Yu Gothic UI Semibold"/>
              </a:rPr>
              <a:t>Pipeline </a:t>
            </a:r>
            <a:r>
              <a:rPr lang="de-DE" sz="4800" b="0" spc="-124">
                <a:solidFill>
                  <a:srgbClr val="5DA2EE"/>
                </a:solidFill>
                <a:latin typeface="Yu Gothic UI Semibold"/>
                <a:ea typeface="Yu Gothic UI Semibold"/>
                <a:cs typeface="Yu Gothic UI Semibold"/>
              </a:rPr>
              <a:t>Architecture</a:t>
            </a:r>
            <a:endParaRPr sz="4800" b="0">
              <a:solidFill>
                <a:srgbClr val="5DA2EE"/>
              </a:solidFill>
              <a:latin typeface="Yu Gothic UI Semibold"/>
              <a:cs typeface="Yu Gothic UI Semibold"/>
            </a:endParaRPr>
          </a:p>
        </p:txBody>
      </p:sp>
      <p:sp>
        <p:nvSpPr>
          <p:cNvPr id="1627583339" name="Text 13"/>
          <p:cNvSpPr/>
          <p:nvPr/>
        </p:nvSpPr>
        <p:spPr bwMode="auto">
          <a:xfrm rot="0" flipH="0" flipV="0">
            <a:off x="566928" y="1501139"/>
            <a:ext cx="2480225" cy="14247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122"/>
              </a:lnSpc>
              <a:buNone/>
              <a:defRPr/>
            </a:pPr>
            <a:r>
              <a:rPr lang="de-DE" sz="1100" b="1" spc="-5">
                <a:solidFill>
                  <a:srgbClr val="F1F5F9"/>
                </a:solidFill>
                <a:latin typeface="Verdana"/>
                <a:ea typeface="Verdana"/>
                <a:cs typeface="Verdana"/>
              </a:rPr>
              <a:t>Python | Selenium | Xvfb</a:t>
            </a:r>
            <a:endParaRPr lang="en-US" sz="1100"/>
          </a:p>
        </p:txBody>
      </p:sp>
      <p:pic>
        <p:nvPicPr>
          <p:cNvPr id="73797205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578368" y="1615135"/>
            <a:ext cx="6357044" cy="48164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7">
    <p:bg>
      <p:bgPr shadeToTitle="0">
        <a:solidFill>
          <a:srgbClr val="0F17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27597897" name="Image 4" descr="preencoded.png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762000" y="1384300"/>
            <a:ext cx="5143500" cy="2517775"/>
          </a:xfrm>
          <a:prstGeom prst="rect">
            <a:avLst/>
          </a:prstGeom>
        </p:spPr>
      </p:pic>
      <p:pic>
        <p:nvPicPr>
          <p:cNvPr id="129618" name="Image 7" descr="preencoded.png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6286500" y="1384300"/>
            <a:ext cx="5143500" cy="1431925"/>
          </a:xfrm>
          <a:prstGeom prst="rect">
            <a:avLst/>
          </a:prstGeom>
        </p:spPr>
      </p:pic>
      <p:pic>
        <p:nvPicPr>
          <p:cNvPr id="1186482251" name="Image 8" descr="preencoded.png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6286500" y="2816225"/>
            <a:ext cx="2571750" cy="1101725"/>
          </a:xfrm>
          <a:prstGeom prst="rect">
            <a:avLst/>
          </a:prstGeom>
        </p:spPr>
      </p:pic>
      <p:pic>
        <p:nvPicPr>
          <p:cNvPr id="1743908655" name="Image 9" descr="preencoded.png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>
            <a:off x="8858250" y="2816225"/>
            <a:ext cx="2571750" cy="1101725"/>
          </a:xfrm>
          <a:prstGeom prst="rect">
            <a:avLst/>
          </a:prstGeom>
        </p:spPr>
      </p:pic>
      <p:pic>
        <p:nvPicPr>
          <p:cNvPr id="1146668046" name="Image 12" descr="preencoded.png"/>
          <p:cNvPicPr>
            <a:picLocks noChangeAspect="1"/>
          </p:cNvPicPr>
          <p:nvPr/>
        </p:nvPicPr>
        <p:blipFill>
          <a:blip r:embed="rId7"/>
          <a:stretch/>
        </p:blipFill>
        <p:spPr bwMode="auto">
          <a:xfrm>
            <a:off x="6578600" y="1739900"/>
            <a:ext cx="304800" cy="190500"/>
          </a:xfrm>
          <a:prstGeom prst="rect">
            <a:avLst/>
          </a:prstGeom>
        </p:spPr>
      </p:pic>
      <p:pic>
        <p:nvPicPr>
          <p:cNvPr id="1063963373" name="Image 13" descr="preencoded.png"/>
          <p:cNvPicPr>
            <a:picLocks noChangeAspect="1"/>
          </p:cNvPicPr>
          <p:nvPr/>
        </p:nvPicPr>
        <p:blipFill>
          <a:blip r:embed="rId8"/>
          <a:stretch/>
        </p:blipFill>
        <p:spPr bwMode="auto">
          <a:xfrm>
            <a:off x="1079499" y="499738"/>
            <a:ext cx="7950200" cy="546100"/>
          </a:xfrm>
          <a:prstGeom prst="rect">
            <a:avLst/>
          </a:prstGeom>
        </p:spPr>
      </p:pic>
      <p:pic>
        <p:nvPicPr>
          <p:cNvPr id="947436482" name="Image 14" descr="preencoded.png"/>
          <p:cNvPicPr>
            <a:picLocks noChangeAspect="1"/>
          </p:cNvPicPr>
          <p:nvPr/>
        </p:nvPicPr>
        <p:blipFill>
          <a:blip r:embed="rId9"/>
          <a:stretch/>
        </p:blipFill>
        <p:spPr bwMode="auto">
          <a:xfrm>
            <a:off x="6578600" y="2921000"/>
            <a:ext cx="2184400" cy="711200"/>
          </a:xfrm>
          <a:prstGeom prst="rect">
            <a:avLst/>
          </a:prstGeom>
        </p:spPr>
      </p:pic>
      <p:pic>
        <p:nvPicPr>
          <p:cNvPr id="921307256" name="Image 15" descr="preencoded.png"/>
          <p:cNvPicPr>
            <a:picLocks noChangeAspect="1"/>
          </p:cNvPicPr>
          <p:nvPr/>
        </p:nvPicPr>
        <p:blipFill>
          <a:blip r:embed="rId10"/>
          <a:stretch/>
        </p:blipFill>
        <p:spPr bwMode="auto">
          <a:xfrm>
            <a:off x="8953500" y="2921000"/>
            <a:ext cx="2184400" cy="711200"/>
          </a:xfrm>
          <a:prstGeom prst="rect">
            <a:avLst/>
          </a:prstGeom>
        </p:spPr>
      </p:pic>
      <p:sp>
        <p:nvSpPr>
          <p:cNvPr id="1958252208" name="Text 0"/>
          <p:cNvSpPr/>
          <p:nvPr/>
        </p:nvSpPr>
        <p:spPr bwMode="auto">
          <a:xfrm>
            <a:off x="1081286" y="1701800"/>
            <a:ext cx="5118100" cy="21391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5"/>
              </a:lnSpc>
              <a:buNone/>
              <a:defRPr/>
            </a:pPr>
            <a:r>
              <a:rPr lang="en-US" sz="1800" b="1" spc="-11">
                <a:solidFill>
                  <a:srgbClr val="60A5FA"/>
                </a:solidFill>
                <a:latin typeface="Verdana"/>
                <a:ea typeface="Verdana"/>
                <a:cs typeface="Verdana"/>
              </a:rPr>
              <a:t>Current</a:t>
            </a:r>
            <a:r>
              <a:rPr lang="de-DE" sz="1800" b="1" spc="-11">
                <a:solidFill>
                  <a:srgbClr val="60A5FA"/>
                </a:solidFill>
                <a:latin typeface="Verdana"/>
                <a:ea typeface="Verdana"/>
                <a:cs typeface="Verdana"/>
              </a:rPr>
              <a:t> </a:t>
            </a:r>
            <a:r>
              <a:rPr lang="en-US" sz="1800" b="1" spc="-11">
                <a:solidFill>
                  <a:srgbClr val="60A5FA"/>
                </a:solidFill>
                <a:latin typeface="Verdana"/>
                <a:ea typeface="Verdana"/>
                <a:cs typeface="Verdana"/>
              </a:rPr>
              <a:t>Infrastruc</a:t>
            </a:r>
            <a:r>
              <a:rPr lang="en-US" sz="1800" b="1" spc="-18">
                <a:solidFill>
                  <a:srgbClr val="60A5FA"/>
                </a:solidFill>
                <a:latin typeface="Verdana"/>
                <a:ea typeface="Verdana"/>
                <a:cs typeface="Verdana"/>
              </a:rPr>
              <a:t>ture</a:t>
            </a:r>
            <a:endParaRPr lang="en-US" sz="1800"/>
          </a:p>
        </p:txBody>
      </p:sp>
      <p:sp>
        <p:nvSpPr>
          <p:cNvPr id="544849825" name="Text 2"/>
          <p:cNvSpPr/>
          <p:nvPr/>
        </p:nvSpPr>
        <p:spPr bwMode="auto">
          <a:xfrm flipH="0" flipV="0">
            <a:off x="1120774" y="2100262"/>
            <a:ext cx="4528524" cy="64968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ct val="114999"/>
              </a:lnSpc>
              <a:buNone/>
              <a:defRPr/>
            </a:pPr>
            <a:r>
              <a:rPr lang="de-DE" sz="1300" b="1">
                <a:solidFill>
                  <a:srgbClr val="CBD5E1"/>
                </a:solidFill>
                <a:latin typeface="Verdana"/>
                <a:ea typeface="Verdana"/>
                <a:cs typeface="Verdana"/>
              </a:rPr>
              <a:t>Execution:</a:t>
            </a:r>
            <a:endParaRPr lang="de-DE" sz="1300" b="1">
              <a:solidFill>
                <a:srgbClr val="CBD5E1"/>
              </a:solidFill>
              <a:latin typeface="Verdana"/>
              <a:ea typeface="Verdana"/>
              <a:cs typeface="Verdana"/>
            </a:endParaRPr>
          </a:p>
          <a:p>
            <a:pPr marL="0" indent="0" algn="l">
              <a:lnSpc>
                <a:spcPts val="1278"/>
              </a:lnSpc>
              <a:buNone/>
              <a:defRPr/>
            </a:pPr>
            <a:r>
              <a:rPr lang="de-DE" sz="1300" b="0">
                <a:solidFill>
                  <a:srgbClr val="CBD5E1"/>
                </a:solidFill>
                <a:latin typeface="Verdana"/>
                <a:ea typeface="Verdana"/>
                <a:cs typeface="Verdana"/>
              </a:rPr>
              <a:t>Local environment (Docker Compose) – €0</a:t>
            </a:r>
            <a:endParaRPr lang="en-US" sz="1300"/>
          </a:p>
        </p:txBody>
      </p:sp>
      <p:sp>
        <p:nvSpPr>
          <p:cNvPr id="1206037403" name="Text 3"/>
          <p:cNvSpPr/>
          <p:nvPr/>
        </p:nvSpPr>
        <p:spPr bwMode="auto">
          <a:xfrm>
            <a:off x="6971904" y="1727199"/>
            <a:ext cx="5118100" cy="22483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771"/>
              </a:lnSpc>
              <a:buNone/>
              <a:defRPr/>
            </a:pPr>
            <a:r>
              <a:rPr lang="en-US" sz="1800" b="1" spc="-5">
                <a:solidFill>
                  <a:srgbClr val="60A5FA"/>
                </a:solidFill>
                <a:latin typeface="Verdana"/>
                <a:ea typeface="Verdana"/>
                <a:cs typeface="Verdana"/>
              </a:rPr>
              <a:t>AWS</a:t>
            </a:r>
            <a:r>
              <a:rPr lang="de-DE" sz="1800" b="1" spc="-5">
                <a:solidFill>
                  <a:srgbClr val="60A5FA"/>
                </a:solidFill>
                <a:latin typeface="Verdana"/>
                <a:ea typeface="Verdana"/>
                <a:cs typeface="Verdana"/>
              </a:rPr>
              <a:t> </a:t>
            </a:r>
            <a:r>
              <a:rPr lang="en-US" sz="1800" b="1" spc="-5">
                <a:solidFill>
                  <a:srgbClr val="60A5FA"/>
                </a:solidFill>
                <a:latin typeface="Verdana"/>
                <a:ea typeface="Verdana"/>
                <a:cs typeface="Verdana"/>
              </a:rPr>
              <a:t>Migration</a:t>
            </a:r>
            <a:r>
              <a:rPr lang="de-DE" sz="1800" b="1" spc="-5">
                <a:solidFill>
                  <a:srgbClr val="60A5FA"/>
                </a:solidFill>
                <a:latin typeface="Verdana"/>
                <a:ea typeface="Verdana"/>
                <a:cs typeface="Verdana"/>
              </a:rPr>
              <a:t> </a:t>
            </a:r>
            <a:r>
              <a:rPr lang="en-US" sz="1800" b="1" spc="-5">
                <a:solidFill>
                  <a:srgbClr val="60A5FA"/>
                </a:solidFill>
                <a:latin typeface="Verdana"/>
                <a:ea typeface="Verdana"/>
                <a:cs typeface="Verdana"/>
              </a:rPr>
              <a:t>Esti</a:t>
            </a:r>
            <a:r>
              <a:rPr lang="en-US" sz="1800" b="1" spc="-11">
                <a:solidFill>
                  <a:srgbClr val="60A5FA"/>
                </a:solidFill>
                <a:latin typeface="Verdana"/>
                <a:ea typeface="Verdana"/>
                <a:cs typeface="Verdana"/>
              </a:rPr>
              <a:t>mate</a:t>
            </a:r>
            <a:endParaRPr lang="en-US" sz="1800"/>
          </a:p>
        </p:txBody>
      </p:sp>
      <p:sp>
        <p:nvSpPr>
          <p:cNvPr id="482448025" name="Text 4"/>
          <p:cNvSpPr/>
          <p:nvPr/>
        </p:nvSpPr>
        <p:spPr bwMode="auto">
          <a:xfrm>
            <a:off x="6051549" y="2231429"/>
            <a:ext cx="5118100" cy="1682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326"/>
              </a:lnSpc>
              <a:buNone/>
              <a:defRPr/>
            </a:pPr>
            <a:r>
              <a:rPr lang="en-US" sz="1300" b="1">
                <a:solidFill>
                  <a:srgbClr val="CBD5E1"/>
                </a:solidFill>
                <a:latin typeface="Verdana"/>
                <a:ea typeface="Verdana"/>
                <a:cs typeface="Verdana"/>
              </a:rPr>
              <a:t>	Fargate</a:t>
            </a:r>
            <a:r>
              <a:rPr lang="en-US" sz="1300" b="1" spc="5">
                <a:solidFill>
                  <a:srgbClr val="CBD5E1"/>
                </a:solidFill>
                <a:latin typeface="Verdana"/>
                <a:ea typeface="Verdana"/>
                <a:cs typeface="Verdana"/>
              </a:rPr>
              <a:t>:</a:t>
            </a:r>
            <a:r>
              <a:rPr lang="de-DE" sz="1300" spc="5">
                <a:solidFill>
                  <a:srgbClr val="CBD5E1"/>
                </a:solidFill>
                <a:latin typeface="Lucida Sans Unicode"/>
                <a:ea typeface="Lucida Sans Unicode"/>
                <a:cs typeface="Lucida Sans Unicode"/>
              </a:rPr>
              <a:t> </a:t>
            </a:r>
            <a:r>
              <a:rPr lang="en-US" sz="1300" spc="5">
                <a:solidFill>
                  <a:srgbClr val="CBD5E1"/>
                </a:solidFill>
                <a:latin typeface="Lucida Sans Unicode"/>
                <a:ea typeface="Lucida Sans Unicode"/>
                <a:cs typeface="Lucida Sans Unicode"/>
              </a:rPr>
              <a:t>~$1.00 -</a:t>
            </a:r>
            <a:r>
              <a:rPr lang="en-US" sz="1300" spc="5">
                <a:solidFill>
                  <a:srgbClr val="CBD5E1"/>
                </a:solidFill>
                <a:latin typeface="Lucida Sans Unicode"/>
                <a:ea typeface="Lucida Sans Unicode"/>
                <a:cs typeface="Lucida Sans Unicode"/>
              </a:rPr>
              <a:t>$1.50</a:t>
            </a:r>
            <a:r>
              <a:rPr lang="en-US" sz="1300">
                <a:solidFill>
                  <a:srgbClr val="CBD5E1"/>
                </a:solidFill>
                <a:latin typeface="Lucida Sans Unicode"/>
                <a:ea typeface="Lucida Sans Unicode"/>
                <a:cs typeface="Lucida Sans Unicode"/>
              </a:rPr>
              <a:t> /</a:t>
            </a:r>
            <a:r>
              <a:rPr lang="en-US" sz="1300">
                <a:solidFill>
                  <a:srgbClr val="CBD5E1"/>
                </a:solidFill>
                <a:latin typeface="Lucida Sans Unicode"/>
                <a:ea typeface="Lucida Sans Unicode"/>
                <a:cs typeface="Lucida Sans Unicode"/>
              </a:rPr>
              <a:t>month</a:t>
            </a:r>
            <a:endParaRPr lang="en-US" sz="1300"/>
          </a:p>
        </p:txBody>
      </p:sp>
      <p:sp>
        <p:nvSpPr>
          <p:cNvPr id="674195744" name="Text 5"/>
          <p:cNvSpPr/>
          <p:nvPr/>
        </p:nvSpPr>
        <p:spPr bwMode="auto">
          <a:xfrm>
            <a:off x="6051549" y="2539404"/>
            <a:ext cx="5118100" cy="17502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279"/>
              </a:lnSpc>
              <a:buNone/>
              <a:defRPr/>
            </a:pPr>
            <a:r>
              <a:rPr lang="en-US" sz="1300" b="1">
                <a:solidFill>
                  <a:srgbClr val="CBD5E1"/>
                </a:solidFill>
                <a:latin typeface="Verdana"/>
                <a:ea typeface="Verdana"/>
                <a:cs typeface="Verdana"/>
              </a:rPr>
              <a:t>	EC2</a:t>
            </a:r>
            <a:r>
              <a:rPr lang="en-US" sz="1300" b="1">
                <a:solidFill>
                  <a:srgbClr val="CBD5E1"/>
                </a:solidFill>
                <a:latin typeface="Verdana"/>
                <a:ea typeface="Verdana"/>
                <a:cs typeface="Verdana"/>
              </a:rPr>
              <a:t>(Scheduled):</a:t>
            </a:r>
            <a:r>
              <a:rPr lang="de-DE" sz="1300">
                <a:solidFill>
                  <a:srgbClr val="CBD5E1"/>
                </a:solidFill>
                <a:latin typeface="Lucida Sans Unicode"/>
                <a:ea typeface="Lucida Sans Unicode"/>
                <a:cs typeface="Lucida Sans Unicode"/>
              </a:rPr>
              <a:t> </a:t>
            </a:r>
            <a:r>
              <a:rPr lang="en-US" sz="1300">
                <a:solidFill>
                  <a:srgbClr val="CBD5E1"/>
                </a:solidFill>
                <a:latin typeface="Lucida Sans Unicode"/>
                <a:ea typeface="Lucida Sans Unicode"/>
                <a:cs typeface="Lucida Sans Unicode"/>
              </a:rPr>
              <a:t>~$0.30 -</a:t>
            </a:r>
            <a:r>
              <a:rPr lang="en-US" sz="1300">
                <a:solidFill>
                  <a:srgbClr val="CBD5E1"/>
                </a:solidFill>
                <a:latin typeface="Lucida Sans Unicode"/>
                <a:ea typeface="Lucida Sans Unicode"/>
                <a:cs typeface="Lucida Sans Unicode"/>
              </a:rPr>
              <a:t>$0.50 /</a:t>
            </a:r>
            <a:r>
              <a:rPr lang="en-US" sz="1300">
                <a:solidFill>
                  <a:srgbClr val="CBD5E1"/>
                </a:solidFill>
                <a:latin typeface="Lucida Sans Unicode"/>
                <a:ea typeface="Lucida Sans Unicode"/>
                <a:cs typeface="Lucida Sans Unicode"/>
              </a:rPr>
              <a:t>month</a:t>
            </a:r>
            <a:endParaRPr lang="en-US" sz="1300"/>
          </a:p>
        </p:txBody>
      </p:sp>
      <p:sp>
        <p:nvSpPr>
          <p:cNvPr id="47114908" name="Text 6"/>
          <p:cNvSpPr/>
          <p:nvPr/>
        </p:nvSpPr>
        <p:spPr bwMode="auto">
          <a:xfrm>
            <a:off x="7140574" y="3086100"/>
            <a:ext cx="1691481" cy="22205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750"/>
              </a:lnSpc>
              <a:buNone/>
              <a:defRPr/>
            </a:pPr>
            <a:r>
              <a:rPr lang="en-US" sz="1800" b="1" spc="-36">
                <a:solidFill>
                  <a:srgbClr val="34D399"/>
                </a:solidFill>
                <a:latin typeface="Verdana"/>
                <a:ea typeface="Verdana"/>
                <a:cs typeface="Verdana"/>
              </a:rPr>
              <a:t>&lt;</a:t>
            </a:r>
            <a:r>
              <a:rPr lang="de-DE" sz="1800" b="1" spc="-36">
                <a:solidFill>
                  <a:srgbClr val="34D399"/>
                </a:solidFill>
                <a:latin typeface="Verdana"/>
                <a:ea typeface="Verdana"/>
                <a:cs typeface="Verdana"/>
              </a:rPr>
              <a:t> </a:t>
            </a:r>
            <a:r>
              <a:rPr lang="de-DE" sz="1800" b="1" spc="-36">
                <a:solidFill>
                  <a:srgbClr val="34D399"/>
                </a:solidFill>
                <a:latin typeface="Verdana"/>
                <a:ea typeface="Verdana"/>
                <a:cs typeface="Verdana"/>
              </a:rPr>
              <a:t>€</a:t>
            </a:r>
            <a:r>
              <a:rPr lang="en-US" sz="1800" b="1" spc="-36">
                <a:solidFill>
                  <a:srgbClr val="34D399"/>
                </a:solidFill>
                <a:latin typeface="Verdana"/>
                <a:ea typeface="Verdana"/>
                <a:cs typeface="Verdana"/>
              </a:rPr>
              <a:t>2.00</a:t>
            </a:r>
            <a:endParaRPr lang="en-US" sz="1800"/>
          </a:p>
        </p:txBody>
      </p:sp>
      <p:sp>
        <p:nvSpPr>
          <p:cNvPr id="1669051761" name="Text 7"/>
          <p:cNvSpPr/>
          <p:nvPr/>
        </p:nvSpPr>
        <p:spPr bwMode="auto">
          <a:xfrm>
            <a:off x="7055446" y="3333552"/>
            <a:ext cx="1826737" cy="13096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032"/>
              </a:lnSpc>
              <a:buNone/>
              <a:defRPr/>
            </a:pPr>
            <a:r>
              <a:rPr lang="en-US" sz="1000" spc="11">
                <a:solidFill>
                  <a:srgbClr val="94A3B8"/>
                </a:solidFill>
                <a:latin typeface="Lucida Sans Unicode"/>
                <a:ea typeface="Lucida Sans Unicode"/>
                <a:cs typeface="Lucida Sans Unicode"/>
              </a:rPr>
              <a:t>Total</a:t>
            </a:r>
            <a:r>
              <a:rPr lang="de-DE" sz="1000" spc="11">
                <a:solidFill>
                  <a:srgbClr val="94A3B8"/>
                </a:solidFill>
                <a:latin typeface="Lucida Sans Unicode"/>
                <a:ea typeface="Lucida Sans Unicode"/>
                <a:cs typeface="Lucida Sans Unicode"/>
              </a:rPr>
              <a:t> </a:t>
            </a:r>
            <a:r>
              <a:rPr lang="en-US" sz="1000" spc="11">
                <a:solidFill>
                  <a:srgbClr val="94A3B8"/>
                </a:solidFill>
                <a:latin typeface="Lucida Sans Unicode"/>
                <a:ea typeface="Lucida Sans Unicode"/>
                <a:cs typeface="Lucida Sans Unicode"/>
              </a:rPr>
              <a:t>Monthly C</a:t>
            </a:r>
            <a:r>
              <a:rPr lang="en-US" sz="1000" spc="5">
                <a:solidFill>
                  <a:srgbClr val="94A3B8"/>
                </a:solidFill>
                <a:latin typeface="Lucida Sans Unicode"/>
                <a:ea typeface="Lucida Sans Unicode"/>
                <a:cs typeface="Lucida Sans Unicode"/>
              </a:rPr>
              <a:t>ost</a:t>
            </a:r>
            <a:endParaRPr lang="en-US" sz="1000"/>
          </a:p>
        </p:txBody>
      </p:sp>
      <p:sp>
        <p:nvSpPr>
          <p:cNvPr id="645625490" name="Text 8"/>
          <p:cNvSpPr/>
          <p:nvPr/>
        </p:nvSpPr>
        <p:spPr bwMode="auto">
          <a:xfrm>
            <a:off x="9739511" y="3086100"/>
            <a:ext cx="1594803" cy="22483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771"/>
              </a:lnSpc>
              <a:buNone/>
              <a:defRPr/>
            </a:pPr>
            <a:r>
              <a:rPr lang="en-US" sz="1800" b="1" spc="-18">
                <a:solidFill>
                  <a:srgbClr val="34D399"/>
                </a:solidFill>
                <a:latin typeface="Verdana"/>
                <a:ea typeface="Verdana"/>
                <a:cs typeface="Verdana"/>
              </a:rPr>
              <a:t>Daily</a:t>
            </a:r>
            <a:endParaRPr lang="en-US" sz="1800"/>
          </a:p>
        </p:txBody>
      </p:sp>
      <p:sp>
        <p:nvSpPr>
          <p:cNvPr id="207708633" name="Text 9"/>
          <p:cNvSpPr/>
          <p:nvPr/>
        </p:nvSpPr>
        <p:spPr bwMode="auto">
          <a:xfrm>
            <a:off x="9363670" y="3336330"/>
            <a:ext cx="1876744" cy="13096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032"/>
              </a:lnSpc>
              <a:buNone/>
              <a:defRPr/>
            </a:pPr>
            <a:r>
              <a:rPr lang="en-US" sz="1000" spc="18">
                <a:solidFill>
                  <a:srgbClr val="94A3B8"/>
                </a:solidFill>
                <a:latin typeface="Lucida Sans Unicode"/>
                <a:ea typeface="Lucida Sans Unicode"/>
                <a:cs typeface="Lucida Sans Unicode"/>
              </a:rPr>
              <a:t>Execution</a:t>
            </a:r>
            <a:r>
              <a:rPr lang="de-DE" sz="1000" spc="18">
                <a:solidFill>
                  <a:srgbClr val="94A3B8"/>
                </a:solidFill>
                <a:latin typeface="Lucida Sans Unicode"/>
                <a:ea typeface="Lucida Sans Unicode"/>
                <a:cs typeface="Lucida Sans Unicode"/>
              </a:rPr>
              <a:t> </a:t>
            </a:r>
            <a:r>
              <a:rPr lang="en-US" sz="1000" spc="18">
                <a:solidFill>
                  <a:srgbClr val="94A3B8"/>
                </a:solidFill>
                <a:latin typeface="Lucida Sans Unicode"/>
                <a:ea typeface="Lucida Sans Unicode"/>
                <a:cs typeface="Lucida Sans Unicode"/>
              </a:rPr>
              <a:t>Frequency</a:t>
            </a:r>
            <a:endParaRPr lang="en-US" sz="1000"/>
          </a:p>
        </p:txBody>
      </p:sp>
      <p:sp>
        <p:nvSpPr>
          <p:cNvPr id="563955219" name=""/>
          <p:cNvSpPr txBox="1"/>
          <p:nvPr/>
        </p:nvSpPr>
        <p:spPr bwMode="auto">
          <a:xfrm flipH="0" flipV="0">
            <a:off x="1763099" y="2457450"/>
            <a:ext cx="183636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1546406671" name="Text 2"/>
          <p:cNvSpPr/>
          <p:nvPr/>
        </p:nvSpPr>
        <p:spPr bwMode="auto">
          <a:xfrm flipH="0" flipV="0">
            <a:off x="1120774" y="2920999"/>
            <a:ext cx="4528524" cy="64968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278"/>
              </a:lnSpc>
              <a:buNone/>
              <a:defRPr/>
            </a:pPr>
            <a:r>
              <a:rPr lang="de-DE" sz="1300" b="1">
                <a:solidFill>
                  <a:srgbClr val="CBD5E1"/>
                </a:solidFill>
                <a:latin typeface="Verdana"/>
                <a:ea typeface="Verdana"/>
                <a:cs typeface="Verdana"/>
              </a:rPr>
              <a:t>Storage:</a:t>
            </a:r>
            <a:endParaRPr lang="de-DE" sz="1300" b="1">
              <a:solidFill>
                <a:srgbClr val="CBD5E1"/>
              </a:solidFill>
              <a:latin typeface="Verdana"/>
              <a:ea typeface="Verdana"/>
              <a:cs typeface="Verdana"/>
            </a:endParaRPr>
          </a:p>
          <a:p>
            <a:pPr marL="0" indent="0" algn="l">
              <a:lnSpc>
                <a:spcPct val="114999"/>
              </a:lnSpc>
              <a:buNone/>
              <a:defRPr/>
            </a:pPr>
            <a:r>
              <a:rPr lang="de-DE" sz="1300" b="0">
                <a:solidFill>
                  <a:srgbClr val="CBD5E1"/>
                </a:solidFill>
                <a:latin typeface="Verdana"/>
                <a:ea typeface="Verdana"/>
                <a:cs typeface="Verdana"/>
              </a:rPr>
              <a:t>NeonDB (Free Tier) – €0</a:t>
            </a:r>
            <a:endParaRPr lang="de-DE" sz="1300" b="0">
              <a:solidFill>
                <a:srgbClr val="CBD5E1"/>
              </a:solidFill>
              <a:latin typeface="Verdana"/>
              <a:ea typeface="Verdana"/>
              <a:cs typeface="Verdana"/>
            </a:endParaRPr>
          </a:p>
          <a:p>
            <a:pPr marL="0" indent="0" algn="l">
              <a:lnSpc>
                <a:spcPts val="1278"/>
              </a:lnSpc>
              <a:buNone/>
              <a:defRPr/>
            </a:pPr>
            <a:r>
              <a:rPr lang="de-DE" sz="1300" b="0">
                <a:solidFill>
                  <a:srgbClr val="CBD5E1"/>
                </a:solidFill>
                <a:latin typeface="Verdana"/>
                <a:ea typeface="Verdana"/>
                <a:cs typeface="Verdana"/>
              </a:rPr>
              <a:t>2000 rows/day, ~500MB limit</a:t>
            </a:r>
            <a:endParaRPr lang="en-US" sz="13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8">
    <p:bg>
      <p:bgPr shadeToTitle="0">
        <a:solidFill>
          <a:srgbClr val="0F17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8090097" name="Text 0"/>
          <p:cNvSpPr/>
          <p:nvPr/>
        </p:nvSpPr>
        <p:spPr bwMode="auto">
          <a:xfrm flipH="0" flipV="0">
            <a:off x="2187921" y="2947158"/>
            <a:ext cx="8451886" cy="8046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6335"/>
              </a:lnSpc>
              <a:buNone/>
              <a:defRPr/>
            </a:pPr>
            <a:r>
              <a:rPr lang="de-DE" sz="4800" b="0" spc="-124">
                <a:solidFill>
                  <a:srgbClr val="5DA2EE"/>
                </a:solidFill>
                <a:latin typeface="Yu Gothic UI Semibold"/>
                <a:ea typeface="Yu Gothic UI Semibold"/>
                <a:cs typeface="Yu Gothic UI Semibold"/>
              </a:rPr>
              <a:t>Thank you for participating!</a:t>
            </a:r>
            <a:endParaRPr sz="4800" b="0">
              <a:solidFill>
                <a:srgbClr val="5DA2EE"/>
              </a:solidFill>
              <a:latin typeface="Yu Gothic UI Semibold"/>
              <a:cs typeface="Yu Gothic UI Semibold"/>
            </a:endParaRPr>
          </a:p>
        </p:txBody>
      </p:sp>
      <p:sp>
        <p:nvSpPr>
          <p:cNvPr id="197161946" name="Text 0"/>
          <p:cNvSpPr/>
          <p:nvPr/>
        </p:nvSpPr>
        <p:spPr bwMode="auto">
          <a:xfrm flipH="0" flipV="0">
            <a:off x="2102195" y="3638549"/>
            <a:ext cx="8451886" cy="19175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6335"/>
              </a:lnSpc>
              <a:buNone/>
              <a:defRPr/>
            </a:pPr>
            <a:r>
              <a:rPr lang="de-DE" sz="1000" b="0" i="1" spc="-124">
                <a:solidFill>
                  <a:schemeClr val="bg1"/>
                </a:solidFill>
                <a:latin typeface="Yu Gothic UI Semibold"/>
                <a:ea typeface="Yu Gothic UI Semibold"/>
                <a:cs typeface="Yu Gothic UI Semibold"/>
              </a:rPr>
              <a:t>Please be nice with the questions, if any</a:t>
            </a:r>
            <a:endParaRPr sz="1000" b="0" i="1">
              <a:solidFill>
                <a:schemeClr val="bg1"/>
              </a:solidFill>
              <a:latin typeface="Yu Gothic UI Semibold"/>
              <a:cs typeface="Yu Gothic UI Semibol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ONLYOFFICE/8.3.3.21</Application>
  <PresentationFormat>On-screen Show (4:3)</PresentationFormat>
  <Paragraphs>0</Paragraphs>
  <Slides>13</Slides>
  <Notes>13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/>
  <cp:revision>2</cp:revision>
  <dcterms:created xsi:type="dcterms:W3CDTF">2026-03-19T22:29:13Z</dcterms:created>
  <dcterms:modified xsi:type="dcterms:W3CDTF">2026-03-20T14:13:39Z</dcterms:modified>
</cp:coreProperties>
</file>